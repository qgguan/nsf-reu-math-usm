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1" r:id="rId23"/>
    <p:sldId id="282" r:id="rId24"/>
    <p:sldId id="287" r:id="rId2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7CB687-F07E-4583-9EDA-ACB29F40FD0C}" v="1" dt="2026-06-01T05:32:38.10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ngguang Guan" userId="bf54ff89-f8ae-40bb-bb3f-abed91ac1023" providerId="ADAL" clId="{38D09F2D-F0B2-417C-83FF-E5AD70623DDA}"/>
    <pc:docChg chg="undo custSel delSld modSld">
      <pc:chgData name="Qingguang Guan" userId="bf54ff89-f8ae-40bb-bb3f-abed91ac1023" providerId="ADAL" clId="{38D09F2D-F0B2-417C-83FF-E5AD70623DDA}" dt="2026-06-01T05:35:01.541" v="121" actId="2696"/>
      <pc:docMkLst>
        <pc:docMk/>
      </pc:docMkLst>
      <pc:sldChg chg="modSp mod">
        <pc:chgData name="Qingguang Guan" userId="bf54ff89-f8ae-40bb-bb3f-abed91ac1023" providerId="ADAL" clId="{38D09F2D-F0B2-417C-83FF-E5AD70623DDA}" dt="2026-06-01T05:16:59.532" v="45" actId="20577"/>
        <pc:sldMkLst>
          <pc:docMk/>
          <pc:sldMk cId="0" sldId="272"/>
        </pc:sldMkLst>
        <pc:spChg chg="mod">
          <ac:chgData name="Qingguang Guan" userId="bf54ff89-f8ae-40bb-bb3f-abed91ac1023" providerId="ADAL" clId="{38D09F2D-F0B2-417C-83FF-E5AD70623DDA}" dt="2026-06-01T05:16:59.532" v="45" actId="20577"/>
          <ac:spMkLst>
            <pc:docMk/>
            <pc:sldMk cId="0" sldId="272"/>
            <ac:spMk id="2" creationId="{00000000-0000-0000-0000-000000000000}"/>
          </ac:spMkLst>
        </pc:spChg>
      </pc:sldChg>
      <pc:sldChg chg="modSp mod">
        <pc:chgData name="Qingguang Guan" userId="bf54ff89-f8ae-40bb-bb3f-abed91ac1023" providerId="ADAL" clId="{38D09F2D-F0B2-417C-83FF-E5AD70623DDA}" dt="2026-06-01T05:08:36.211" v="12" actId="1076"/>
        <pc:sldMkLst>
          <pc:docMk/>
          <pc:sldMk cId="0" sldId="273"/>
        </pc:sldMkLst>
        <pc:spChg chg="mod">
          <ac:chgData name="Qingguang Guan" userId="bf54ff89-f8ae-40bb-bb3f-abed91ac1023" providerId="ADAL" clId="{38D09F2D-F0B2-417C-83FF-E5AD70623DDA}" dt="2026-06-01T05:08:36.211" v="12" actId="1076"/>
          <ac:spMkLst>
            <pc:docMk/>
            <pc:sldMk cId="0" sldId="273"/>
            <ac:spMk id="2" creationId="{00000000-0000-0000-0000-000000000000}"/>
          </ac:spMkLst>
        </pc:spChg>
      </pc:sldChg>
      <pc:sldChg chg="modSp mod">
        <pc:chgData name="Qingguang Guan" userId="bf54ff89-f8ae-40bb-bb3f-abed91ac1023" providerId="ADAL" clId="{38D09F2D-F0B2-417C-83FF-E5AD70623DDA}" dt="2026-06-01T05:09:02.417" v="17" actId="20577"/>
        <pc:sldMkLst>
          <pc:docMk/>
          <pc:sldMk cId="0" sldId="274"/>
        </pc:sldMkLst>
        <pc:spChg chg="mod">
          <ac:chgData name="Qingguang Guan" userId="bf54ff89-f8ae-40bb-bb3f-abed91ac1023" providerId="ADAL" clId="{38D09F2D-F0B2-417C-83FF-E5AD70623DDA}" dt="2026-06-01T05:08:58.793" v="15" actId="14100"/>
          <ac:spMkLst>
            <pc:docMk/>
            <pc:sldMk cId="0" sldId="274"/>
            <ac:spMk id="2" creationId="{00000000-0000-0000-0000-000000000000}"/>
          </ac:spMkLst>
        </pc:spChg>
        <pc:spChg chg="mod">
          <ac:chgData name="Qingguang Guan" userId="bf54ff89-f8ae-40bb-bb3f-abed91ac1023" providerId="ADAL" clId="{38D09F2D-F0B2-417C-83FF-E5AD70623DDA}" dt="2026-06-01T05:09:02.417" v="17" actId="20577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Qingguang Guan" userId="bf54ff89-f8ae-40bb-bb3f-abed91ac1023" providerId="ADAL" clId="{38D09F2D-F0B2-417C-83FF-E5AD70623DDA}" dt="2026-06-01T05:33:14.681" v="117" actId="20577"/>
        <pc:sldMkLst>
          <pc:docMk/>
          <pc:sldMk cId="0" sldId="276"/>
        </pc:sldMkLst>
        <pc:spChg chg="mod">
          <ac:chgData name="Qingguang Guan" userId="bf54ff89-f8ae-40bb-bb3f-abed91ac1023" providerId="ADAL" clId="{38D09F2D-F0B2-417C-83FF-E5AD70623DDA}" dt="2026-06-01T05:33:14.681" v="117" actId="20577"/>
          <ac:spMkLst>
            <pc:docMk/>
            <pc:sldMk cId="0" sldId="276"/>
            <ac:spMk id="3" creationId="{00000000-0000-0000-0000-000000000000}"/>
          </ac:spMkLst>
        </pc:spChg>
      </pc:sldChg>
      <pc:sldChg chg="del">
        <pc:chgData name="Qingguang Guan" userId="bf54ff89-f8ae-40bb-bb3f-abed91ac1023" providerId="ADAL" clId="{38D09F2D-F0B2-417C-83FF-E5AD70623DDA}" dt="2026-06-01T05:31:53.437" v="46" actId="2696"/>
        <pc:sldMkLst>
          <pc:docMk/>
          <pc:sldMk cId="0" sldId="277"/>
        </pc:sldMkLst>
      </pc:sldChg>
      <pc:sldChg chg="del">
        <pc:chgData name="Qingguang Guan" userId="bf54ff89-f8ae-40bb-bb3f-abed91ac1023" providerId="ADAL" clId="{38D09F2D-F0B2-417C-83FF-E5AD70623DDA}" dt="2026-06-01T05:32:01.583" v="47" actId="2696"/>
        <pc:sldMkLst>
          <pc:docMk/>
          <pc:sldMk cId="0" sldId="278"/>
        </pc:sldMkLst>
      </pc:sldChg>
      <pc:sldChg chg="delSp modSp del mod">
        <pc:chgData name="Qingguang Guan" userId="bf54ff89-f8ae-40bb-bb3f-abed91ac1023" providerId="ADAL" clId="{38D09F2D-F0B2-417C-83FF-E5AD70623DDA}" dt="2026-06-01T05:32:05.665" v="48" actId="2696"/>
        <pc:sldMkLst>
          <pc:docMk/>
          <pc:sldMk cId="0" sldId="279"/>
        </pc:sldMkLst>
        <pc:spChg chg="mod">
          <ac:chgData name="Qingguang Guan" userId="bf54ff89-f8ae-40bb-bb3f-abed91ac1023" providerId="ADAL" clId="{38D09F2D-F0B2-417C-83FF-E5AD70623DDA}" dt="2026-06-01T05:10:15.074" v="23" actId="1076"/>
          <ac:spMkLst>
            <pc:docMk/>
            <pc:sldMk cId="0" sldId="279"/>
            <ac:spMk id="2" creationId="{00000000-0000-0000-0000-000000000000}"/>
          </ac:spMkLst>
        </pc:spChg>
        <pc:spChg chg="del mod">
          <ac:chgData name="Qingguang Guan" userId="bf54ff89-f8ae-40bb-bb3f-abed91ac1023" providerId="ADAL" clId="{38D09F2D-F0B2-417C-83FF-E5AD70623DDA}" dt="2026-06-01T05:11:04.542" v="26" actId="478"/>
          <ac:spMkLst>
            <pc:docMk/>
            <pc:sldMk cId="0" sldId="279"/>
            <ac:spMk id="5" creationId="{00000000-0000-0000-0000-000000000000}"/>
          </ac:spMkLst>
        </pc:spChg>
        <pc:spChg chg="mod">
          <ac:chgData name="Qingguang Guan" userId="bf54ff89-f8ae-40bb-bb3f-abed91ac1023" providerId="ADAL" clId="{38D09F2D-F0B2-417C-83FF-E5AD70623DDA}" dt="2026-06-01T05:09:44.055" v="19" actId="1076"/>
          <ac:spMkLst>
            <pc:docMk/>
            <pc:sldMk cId="0" sldId="279"/>
            <ac:spMk id="9" creationId="{00000000-0000-0000-0000-000000000000}"/>
          </ac:spMkLst>
        </pc:spChg>
        <pc:spChg chg="del mod">
          <ac:chgData name="Qingguang Guan" userId="bf54ff89-f8ae-40bb-bb3f-abed91ac1023" providerId="ADAL" clId="{38D09F2D-F0B2-417C-83FF-E5AD70623DDA}" dt="2026-06-01T05:11:21.757" v="28" actId="478"/>
          <ac:spMkLst>
            <pc:docMk/>
            <pc:sldMk cId="0" sldId="279"/>
            <ac:spMk id="13" creationId="{00000000-0000-0000-0000-000000000000}"/>
          </ac:spMkLst>
        </pc:spChg>
        <pc:grpChg chg="del">
          <ac:chgData name="Qingguang Guan" userId="bf54ff89-f8ae-40bb-bb3f-abed91ac1023" providerId="ADAL" clId="{38D09F2D-F0B2-417C-83FF-E5AD70623DDA}" dt="2026-06-01T05:10:52.595" v="24" actId="478"/>
          <ac:grpSpMkLst>
            <pc:docMk/>
            <pc:sldMk cId="0" sldId="279"/>
            <ac:grpSpMk id="6" creationId="{00000000-0000-0000-0000-000000000000}"/>
          </ac:grpSpMkLst>
        </pc:grpChg>
        <pc:grpChg chg="mod">
          <ac:chgData name="Qingguang Guan" userId="bf54ff89-f8ae-40bb-bb3f-abed91ac1023" providerId="ADAL" clId="{38D09F2D-F0B2-417C-83FF-E5AD70623DDA}" dt="2026-06-01T05:09:56.297" v="21" actId="14100"/>
          <ac:grpSpMkLst>
            <pc:docMk/>
            <pc:sldMk cId="0" sldId="279"/>
            <ac:grpSpMk id="10" creationId="{00000000-0000-0000-0000-000000000000}"/>
          </ac:grpSpMkLst>
        </pc:grpChg>
        <pc:grpChg chg="del">
          <ac:chgData name="Qingguang Guan" userId="bf54ff89-f8ae-40bb-bb3f-abed91ac1023" providerId="ADAL" clId="{38D09F2D-F0B2-417C-83FF-E5AD70623DDA}" dt="2026-06-01T05:11:23.555" v="29" actId="478"/>
          <ac:grpSpMkLst>
            <pc:docMk/>
            <pc:sldMk cId="0" sldId="279"/>
            <ac:grpSpMk id="14" creationId="{00000000-0000-0000-0000-000000000000}"/>
          </ac:grpSpMkLst>
        </pc:grpChg>
      </pc:sldChg>
      <pc:sldChg chg="delSp del mod">
        <pc:chgData name="Qingguang Guan" userId="bf54ff89-f8ae-40bb-bb3f-abed91ac1023" providerId="ADAL" clId="{38D09F2D-F0B2-417C-83FF-E5AD70623DDA}" dt="2026-06-01T05:32:09.085" v="49" actId="2696"/>
        <pc:sldMkLst>
          <pc:docMk/>
          <pc:sldMk cId="0" sldId="280"/>
        </pc:sldMkLst>
        <pc:spChg chg="del">
          <ac:chgData name="Qingguang Guan" userId="bf54ff89-f8ae-40bb-bb3f-abed91ac1023" providerId="ADAL" clId="{38D09F2D-F0B2-417C-83FF-E5AD70623DDA}" dt="2026-06-01T05:12:24.556" v="30" actId="478"/>
          <ac:spMkLst>
            <pc:docMk/>
            <pc:sldMk cId="0" sldId="280"/>
            <ac:spMk id="4" creationId="{00000000-0000-0000-0000-000000000000}"/>
          </ac:spMkLst>
        </pc:spChg>
        <pc:spChg chg="del">
          <ac:chgData name="Qingguang Guan" userId="bf54ff89-f8ae-40bb-bb3f-abed91ac1023" providerId="ADAL" clId="{38D09F2D-F0B2-417C-83FF-E5AD70623DDA}" dt="2026-06-01T05:12:33.142" v="31" actId="478"/>
          <ac:spMkLst>
            <pc:docMk/>
            <pc:sldMk cId="0" sldId="280"/>
            <ac:spMk id="11" creationId="{00000000-0000-0000-0000-000000000000}"/>
          </ac:spMkLst>
        </pc:spChg>
        <pc:grpChg chg="del">
          <ac:chgData name="Qingguang Guan" userId="bf54ff89-f8ae-40bb-bb3f-abed91ac1023" providerId="ADAL" clId="{38D09F2D-F0B2-417C-83FF-E5AD70623DDA}" dt="2026-06-01T05:12:34.833" v="32" actId="478"/>
          <ac:grpSpMkLst>
            <pc:docMk/>
            <pc:sldMk cId="0" sldId="280"/>
            <ac:grpSpMk id="12" creationId="{00000000-0000-0000-0000-000000000000}"/>
          </ac:grpSpMkLst>
        </pc:grpChg>
      </pc:sldChg>
      <pc:sldChg chg="modSp del mod">
        <pc:chgData name="Qingguang Guan" userId="bf54ff89-f8ae-40bb-bb3f-abed91ac1023" providerId="ADAL" clId="{38D09F2D-F0B2-417C-83FF-E5AD70623DDA}" dt="2026-06-01T05:34:39.323" v="118" actId="2696"/>
        <pc:sldMkLst>
          <pc:docMk/>
          <pc:sldMk cId="0" sldId="283"/>
        </pc:sldMkLst>
        <pc:spChg chg="mod">
          <ac:chgData name="Qingguang Guan" userId="bf54ff89-f8ae-40bb-bb3f-abed91ac1023" providerId="ADAL" clId="{38D09F2D-F0B2-417C-83FF-E5AD70623DDA}" dt="2026-06-01T05:13:31.658" v="33" actId="14100"/>
          <ac:spMkLst>
            <pc:docMk/>
            <pc:sldMk cId="0" sldId="283"/>
            <ac:spMk id="2" creationId="{00000000-0000-0000-0000-000000000000}"/>
          </ac:spMkLst>
        </pc:spChg>
      </pc:sldChg>
      <pc:sldChg chg="del">
        <pc:chgData name="Qingguang Guan" userId="bf54ff89-f8ae-40bb-bb3f-abed91ac1023" providerId="ADAL" clId="{38D09F2D-F0B2-417C-83FF-E5AD70623DDA}" dt="2026-06-01T05:35:01.541" v="121" actId="2696"/>
        <pc:sldMkLst>
          <pc:docMk/>
          <pc:sldMk cId="0" sldId="284"/>
        </pc:sldMkLst>
      </pc:sldChg>
      <pc:sldChg chg="del">
        <pc:chgData name="Qingguang Guan" userId="bf54ff89-f8ae-40bb-bb3f-abed91ac1023" providerId="ADAL" clId="{38D09F2D-F0B2-417C-83FF-E5AD70623DDA}" dt="2026-06-01T05:34:57.030" v="120" actId="2696"/>
        <pc:sldMkLst>
          <pc:docMk/>
          <pc:sldMk cId="0" sldId="285"/>
        </pc:sldMkLst>
      </pc:sldChg>
      <pc:sldChg chg="del">
        <pc:chgData name="Qingguang Guan" userId="bf54ff89-f8ae-40bb-bb3f-abed91ac1023" providerId="ADAL" clId="{38D09F2D-F0B2-417C-83FF-E5AD70623DDA}" dt="2026-06-01T05:34:47.180" v="119" actId="2696"/>
        <pc:sldMkLst>
          <pc:docMk/>
          <pc:sldMk cId="0" sldId="286"/>
        </pc:sldMkLst>
      </pc:sldChg>
      <pc:sldChg chg="modSp mod">
        <pc:chgData name="Qingguang Guan" userId="bf54ff89-f8ae-40bb-bb3f-abed91ac1023" providerId="ADAL" clId="{38D09F2D-F0B2-417C-83FF-E5AD70623DDA}" dt="2026-06-01T05:14:52.044" v="42" actId="20577"/>
        <pc:sldMkLst>
          <pc:docMk/>
          <pc:sldMk cId="0" sldId="287"/>
        </pc:sldMkLst>
        <pc:spChg chg="mod">
          <ac:chgData name="Qingguang Guan" userId="bf54ff89-f8ae-40bb-bb3f-abed91ac1023" providerId="ADAL" clId="{38D09F2D-F0B2-417C-83FF-E5AD70623DDA}" dt="2026-06-01T05:14:30.463" v="35" actId="14100"/>
          <ac:spMkLst>
            <pc:docMk/>
            <pc:sldMk cId="0" sldId="287"/>
            <ac:spMk id="2" creationId="{00000000-0000-0000-0000-000000000000}"/>
          </ac:spMkLst>
        </pc:spChg>
        <pc:spChg chg="mod">
          <ac:chgData name="Qingguang Guan" userId="bf54ff89-f8ae-40bb-bb3f-abed91ac1023" providerId="ADAL" clId="{38D09F2D-F0B2-417C-83FF-E5AD70623DDA}" dt="2026-06-01T05:14:52.044" v="42" actId="20577"/>
          <ac:spMkLst>
            <pc:docMk/>
            <pc:sldMk cId="0" sldId="287"/>
            <ac:spMk id="3" creationId="{00000000-0000-0000-0000-000000000000}"/>
          </ac:spMkLst>
        </pc:spChg>
      </pc:sldChg>
    </pc:docChg>
  </pc:docChgLst>
  <pc:docChgLst>
    <pc:chgData name="Qingguang Guan" userId="bf54ff89-f8ae-40bb-bb3f-abed91ac1023" providerId="ADAL" clId="{A98B7883-05D1-45EB-8C9C-CF760AB8BDD6}"/>
    <pc:docChg chg="modSld">
      <pc:chgData name="Qingguang Guan" userId="bf54ff89-f8ae-40bb-bb3f-abed91ac1023" providerId="ADAL" clId="{A98B7883-05D1-45EB-8C9C-CF760AB8BDD6}" dt="2026-06-01T16:35:37.937" v="23" actId="20577"/>
      <pc:docMkLst>
        <pc:docMk/>
      </pc:docMkLst>
      <pc:sldChg chg="modSp mod">
        <pc:chgData name="Qingguang Guan" userId="bf54ff89-f8ae-40bb-bb3f-abed91ac1023" providerId="ADAL" clId="{A98B7883-05D1-45EB-8C9C-CF760AB8BDD6}" dt="2026-06-01T16:35:37.937" v="23" actId="20577"/>
        <pc:sldMkLst>
          <pc:docMk/>
          <pc:sldMk cId="0" sldId="258"/>
        </pc:sldMkLst>
        <pc:spChg chg="mod">
          <ac:chgData name="Qingguang Guan" userId="bf54ff89-f8ae-40bb-bb3f-abed91ac1023" providerId="ADAL" clId="{A98B7883-05D1-45EB-8C9C-CF760AB8BDD6}" dt="2026-06-01T16:35:37.937" v="23" actId="20577"/>
          <ac:spMkLst>
            <pc:docMk/>
            <pc:sldMk cId="0" sldId="258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35353" y="1499743"/>
            <a:ext cx="6273292" cy="1001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AF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AF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8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AF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AF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33977" y="383794"/>
            <a:ext cx="187604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AF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5998" y="3115208"/>
            <a:ext cx="7915275" cy="2970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8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03893" y="6563486"/>
            <a:ext cx="274320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1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26" Type="http://schemas.openxmlformats.org/officeDocument/2006/relationships/image" Target="../media/image49.png"/><Relationship Id="rId3" Type="http://schemas.openxmlformats.org/officeDocument/2006/relationships/image" Target="../media/image26.png"/><Relationship Id="rId21" Type="http://schemas.openxmlformats.org/officeDocument/2006/relationships/image" Target="../media/image44.png"/><Relationship Id="rId34" Type="http://schemas.openxmlformats.org/officeDocument/2006/relationships/image" Target="../media/image57.jp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5" Type="http://schemas.openxmlformats.org/officeDocument/2006/relationships/image" Target="../media/image48.png"/><Relationship Id="rId33" Type="http://schemas.openxmlformats.org/officeDocument/2006/relationships/image" Target="../media/image56.jp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24" Type="http://schemas.openxmlformats.org/officeDocument/2006/relationships/image" Target="../media/image47.png"/><Relationship Id="rId32" Type="http://schemas.openxmlformats.org/officeDocument/2006/relationships/image" Target="../media/image55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28" Type="http://schemas.openxmlformats.org/officeDocument/2006/relationships/image" Target="../media/image51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31" Type="http://schemas.openxmlformats.org/officeDocument/2006/relationships/image" Target="../media/image54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5.png"/><Relationship Id="rId27" Type="http://schemas.openxmlformats.org/officeDocument/2006/relationships/image" Target="../media/image50.png"/><Relationship Id="rId30" Type="http://schemas.openxmlformats.org/officeDocument/2006/relationships/image" Target="../media/image53.png"/><Relationship Id="rId35" Type="http://schemas.openxmlformats.org/officeDocument/2006/relationships/image" Target="../media/image58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C000"/>
                </a:solidFill>
              </a:rPr>
              <a:t>Hello World of Deep</a:t>
            </a:r>
            <a:r>
              <a:rPr spc="-270" dirty="0">
                <a:solidFill>
                  <a:srgbClr val="FFC000"/>
                </a:solidFill>
              </a:rPr>
              <a:t> </a:t>
            </a:r>
            <a:r>
              <a:rPr spc="-5" dirty="0">
                <a:solidFill>
                  <a:srgbClr val="FFC000"/>
                </a:solidFill>
              </a:rPr>
              <a:t>Learning:  Recognition </a:t>
            </a:r>
            <a:r>
              <a:rPr dirty="0">
                <a:solidFill>
                  <a:srgbClr val="FFC000"/>
                </a:solidFill>
              </a:rPr>
              <a:t>of</a:t>
            </a:r>
            <a:r>
              <a:rPr spc="-90" dirty="0">
                <a:solidFill>
                  <a:srgbClr val="FFC000"/>
                </a:solidFill>
              </a:rPr>
              <a:t> </a:t>
            </a:r>
            <a:r>
              <a:rPr spc="-10" dirty="0">
                <a:solidFill>
                  <a:srgbClr val="FFC000"/>
                </a:solidFill>
              </a:rPr>
              <a:t>MNIST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35353" y="3258692"/>
            <a:ext cx="6273292" cy="11592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Qingguang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Guan</a:t>
            </a:r>
            <a:endParaRPr lang="en-US" sz="1800" b="1" dirty="0"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Arial"/>
                <a:cs typeface="Arial"/>
              </a:rPr>
              <a:t>Assistant Professor of Mathematics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Arial"/>
                <a:cs typeface="Arial"/>
              </a:rPr>
              <a:t>School of Mathematics and Natural Sciences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Arial"/>
                <a:cs typeface="Arial"/>
              </a:rPr>
              <a:t>University of Southern Mississippi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9010" y="383794"/>
            <a:ext cx="56451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FFC000"/>
                </a:solidFill>
              </a:rPr>
              <a:t>Introducing </a:t>
            </a:r>
            <a:r>
              <a:rPr dirty="0">
                <a:solidFill>
                  <a:srgbClr val="FFC000"/>
                </a:solidFill>
              </a:rPr>
              <a:t>the MNIST</a:t>
            </a:r>
            <a:r>
              <a:rPr spc="-240" dirty="0">
                <a:solidFill>
                  <a:srgbClr val="FFC000"/>
                </a:solidFill>
              </a:rPr>
              <a:t> </a:t>
            </a:r>
            <a:r>
              <a:rPr spc="-5" dirty="0">
                <a:solidFill>
                  <a:srgbClr val="FFC000"/>
                </a:solidFill>
              </a:rPr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998" y="1146175"/>
            <a:ext cx="7782559" cy="1173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MNIST </a:t>
            </a:r>
            <a:r>
              <a:rPr sz="1800" b="1" spc="-5" dirty="0">
                <a:latin typeface="Arial"/>
                <a:cs typeface="Arial"/>
              </a:rPr>
              <a:t>(Mixed National </a:t>
            </a:r>
            <a:r>
              <a:rPr sz="1800" b="1" dirty="0">
                <a:latin typeface="Arial"/>
                <a:cs typeface="Arial"/>
              </a:rPr>
              <a:t>Institute of </a:t>
            </a:r>
            <a:r>
              <a:rPr sz="1800" b="1" spc="-5" dirty="0">
                <a:latin typeface="Arial"/>
                <a:cs typeface="Arial"/>
              </a:rPr>
              <a:t>Standards </a:t>
            </a:r>
            <a:r>
              <a:rPr sz="1800" b="1" dirty="0">
                <a:latin typeface="Arial"/>
                <a:cs typeface="Arial"/>
              </a:rPr>
              <a:t>and </a:t>
            </a:r>
            <a:r>
              <a:rPr sz="1800" b="1" spc="-15" dirty="0">
                <a:latin typeface="Arial"/>
                <a:cs typeface="Arial"/>
              </a:rPr>
              <a:t>Technology  </a:t>
            </a:r>
            <a:r>
              <a:rPr sz="1800" b="1" spc="-5" dirty="0">
                <a:latin typeface="Arial"/>
                <a:cs typeface="Arial"/>
              </a:rPr>
              <a:t>database) is a large database </a:t>
            </a:r>
            <a:r>
              <a:rPr sz="1800" b="1" dirty="0">
                <a:latin typeface="Arial"/>
                <a:cs typeface="Arial"/>
              </a:rPr>
              <a:t>of handwritten digits that is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commonly  used </a:t>
            </a:r>
            <a:r>
              <a:rPr sz="1800" b="1" dirty="0">
                <a:latin typeface="Arial"/>
                <a:cs typeface="Arial"/>
              </a:rPr>
              <a:t>for </a:t>
            </a:r>
            <a:r>
              <a:rPr sz="1800" b="1" spc="-5" dirty="0">
                <a:latin typeface="Arial"/>
                <a:cs typeface="Arial"/>
              </a:rPr>
              <a:t>training </a:t>
            </a:r>
            <a:r>
              <a:rPr sz="1800" b="1" spc="-20" dirty="0">
                <a:latin typeface="Arial"/>
                <a:cs typeface="Arial"/>
              </a:rPr>
              <a:t>various </a:t>
            </a:r>
            <a:r>
              <a:rPr sz="1800" b="1" spc="-5" dirty="0">
                <a:latin typeface="Arial"/>
                <a:cs typeface="Arial"/>
              </a:rPr>
              <a:t>image processing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systems.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It </a:t>
            </a:r>
            <a:r>
              <a:rPr sz="1800" b="1" spc="-5" dirty="0">
                <a:latin typeface="Arial"/>
                <a:cs typeface="Arial"/>
              </a:rPr>
              <a:t>consists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-5" dirty="0">
                <a:latin typeface="Arial"/>
                <a:cs typeface="Arial"/>
              </a:rPr>
              <a:t>images </a:t>
            </a:r>
            <a:r>
              <a:rPr sz="1800" b="1" dirty="0">
                <a:latin typeface="Arial"/>
                <a:cs typeface="Arial"/>
              </a:rPr>
              <a:t>of handwritten digits like</a:t>
            </a:r>
            <a:r>
              <a:rPr sz="1800" b="1" spc="-20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these: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5998" y="5647435"/>
            <a:ext cx="7327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The MNIST </a:t>
            </a:r>
            <a:r>
              <a:rPr sz="1800" b="1" spc="-5" dirty="0">
                <a:latin typeface="Arial"/>
                <a:cs typeface="Arial"/>
              </a:rPr>
              <a:t>database contains </a:t>
            </a:r>
            <a:r>
              <a:rPr sz="1800" b="1" spc="-5" dirty="0">
                <a:solidFill>
                  <a:srgbClr val="0000FF"/>
                </a:solidFill>
                <a:latin typeface="Arial"/>
                <a:cs typeface="Arial"/>
              </a:rPr>
              <a:t>60,000 </a:t>
            </a:r>
            <a:r>
              <a:rPr sz="1800" b="1" spc="-5" dirty="0">
                <a:latin typeface="Arial"/>
                <a:cs typeface="Arial"/>
              </a:rPr>
              <a:t>training images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140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Arial"/>
                <a:cs typeface="Arial"/>
              </a:rPr>
              <a:t>10,000 </a:t>
            </a:r>
            <a:r>
              <a:rPr sz="1800" b="1" spc="-5" dirty="0">
                <a:latin typeface="Arial"/>
                <a:cs typeface="Arial"/>
              </a:rPr>
              <a:t> testing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images.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67839" y="2580132"/>
            <a:ext cx="5128260" cy="28300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4395" y="383794"/>
            <a:ext cx="48418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C000"/>
                </a:solidFill>
              </a:rPr>
              <a:t>Example Problem -</a:t>
            </a:r>
            <a:r>
              <a:rPr spc="-240" dirty="0">
                <a:solidFill>
                  <a:srgbClr val="FFC000"/>
                </a:solidFill>
              </a:rPr>
              <a:t> </a:t>
            </a:r>
            <a:r>
              <a:rPr dirty="0">
                <a:solidFill>
                  <a:srgbClr val="FFC000"/>
                </a:solidFill>
              </a:rPr>
              <a:t>MNIST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998" y="1146175"/>
            <a:ext cx="7738745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Recognizes </a:t>
            </a:r>
            <a:r>
              <a:rPr sz="1800" b="1" dirty="0">
                <a:latin typeface="Arial"/>
                <a:cs typeface="Arial"/>
              </a:rPr>
              <a:t>handwritten</a:t>
            </a:r>
            <a:r>
              <a:rPr sz="1800" b="1" spc="-1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digits.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"/>
            </a:pPr>
            <a:endParaRPr sz="27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20" dirty="0">
                <a:latin typeface="Arial"/>
                <a:cs typeface="Arial"/>
              </a:rPr>
              <a:t>We </a:t>
            </a:r>
            <a:r>
              <a:rPr sz="1800" b="1" spc="-5" dirty="0">
                <a:latin typeface="Arial"/>
                <a:cs typeface="Arial"/>
              </a:rPr>
              <a:t>uses the </a:t>
            </a:r>
            <a:r>
              <a:rPr sz="1800" b="1" dirty="0">
                <a:latin typeface="Arial"/>
                <a:cs typeface="Arial"/>
              </a:rPr>
              <a:t>MNIST </a:t>
            </a:r>
            <a:r>
              <a:rPr sz="1800" b="1" spc="-5" dirty="0">
                <a:latin typeface="Arial"/>
                <a:cs typeface="Arial"/>
              </a:rPr>
              <a:t>dataset, a collection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-5" dirty="0">
                <a:latin typeface="Arial"/>
                <a:cs typeface="Arial"/>
              </a:rPr>
              <a:t>60,000 </a:t>
            </a:r>
            <a:r>
              <a:rPr sz="1800" b="1" dirty="0">
                <a:latin typeface="Arial"/>
                <a:cs typeface="Arial"/>
              </a:rPr>
              <a:t>labeled digits</a:t>
            </a:r>
            <a:r>
              <a:rPr sz="1800" b="1" spc="-1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that  </a:t>
            </a:r>
            <a:r>
              <a:rPr sz="1800" b="1" spc="-5" dirty="0">
                <a:latin typeface="Arial"/>
                <a:cs typeface="Arial"/>
              </a:rPr>
              <a:t>has kept generations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-5" dirty="0">
                <a:latin typeface="Arial"/>
                <a:cs typeface="Arial"/>
              </a:rPr>
              <a:t>PhDs </a:t>
            </a:r>
            <a:r>
              <a:rPr sz="1800" b="1" dirty="0">
                <a:latin typeface="Arial"/>
                <a:cs typeface="Arial"/>
              </a:rPr>
              <a:t>busy </a:t>
            </a:r>
            <a:r>
              <a:rPr sz="1800" b="1" spc="-5" dirty="0">
                <a:latin typeface="Arial"/>
                <a:cs typeface="Arial"/>
              </a:rPr>
              <a:t>for almost </a:t>
            </a:r>
            <a:r>
              <a:rPr sz="1800" b="1" spc="15" dirty="0">
                <a:latin typeface="Arial"/>
                <a:cs typeface="Arial"/>
              </a:rPr>
              <a:t>two </a:t>
            </a:r>
            <a:r>
              <a:rPr sz="1800" b="1" spc="-5" dirty="0">
                <a:latin typeface="Arial"/>
                <a:cs typeface="Arial"/>
              </a:rPr>
              <a:t>decades. </a:t>
            </a:r>
            <a:r>
              <a:rPr sz="1800" b="1" spc="-20" dirty="0">
                <a:latin typeface="Arial"/>
                <a:cs typeface="Arial"/>
              </a:rPr>
              <a:t>We </a:t>
            </a:r>
            <a:r>
              <a:rPr sz="1800" b="1" spc="10" dirty="0">
                <a:latin typeface="Arial"/>
                <a:cs typeface="Arial"/>
              </a:rPr>
              <a:t>will  </a:t>
            </a:r>
            <a:r>
              <a:rPr sz="1800" b="1" spc="-20" dirty="0">
                <a:latin typeface="Arial"/>
                <a:cs typeface="Arial"/>
              </a:rPr>
              <a:t>solve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dirty="0">
                <a:latin typeface="Arial"/>
                <a:cs typeface="Arial"/>
              </a:rPr>
              <a:t>problem </a:t>
            </a:r>
            <a:r>
              <a:rPr sz="1800" b="1" spc="5" dirty="0">
                <a:latin typeface="Arial"/>
                <a:cs typeface="Arial"/>
              </a:rPr>
              <a:t>with </a:t>
            </a:r>
            <a:r>
              <a:rPr sz="1800" b="1" spc="-15" dirty="0">
                <a:latin typeface="Arial"/>
                <a:cs typeface="Arial"/>
              </a:rPr>
              <a:t>Python/</a:t>
            </a:r>
            <a:r>
              <a:rPr lang="en-US" b="1" spc="-15" dirty="0" err="1">
                <a:latin typeface="Arial"/>
                <a:cs typeface="Arial"/>
              </a:rPr>
              <a:t>PyTorch</a:t>
            </a:r>
            <a:r>
              <a:rPr sz="1800" b="1" dirty="0">
                <a:latin typeface="Arial"/>
                <a:cs typeface="Arial"/>
              </a:rPr>
              <a:t> code.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"/>
            </a:pPr>
            <a:endParaRPr sz="27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20" dirty="0">
                <a:latin typeface="Arial"/>
                <a:cs typeface="Arial"/>
              </a:rPr>
              <a:t>We </a:t>
            </a:r>
            <a:r>
              <a:rPr sz="1800" b="1" spc="15" dirty="0">
                <a:latin typeface="Arial"/>
                <a:cs typeface="Arial"/>
              </a:rPr>
              <a:t>will </a:t>
            </a:r>
            <a:r>
              <a:rPr sz="1800" b="1" spc="-5" dirty="0">
                <a:latin typeface="Arial"/>
                <a:cs typeface="Arial"/>
              </a:rPr>
              <a:t>show different neural </a:t>
            </a:r>
            <a:r>
              <a:rPr sz="1800" b="1" dirty="0">
                <a:latin typeface="Arial"/>
                <a:cs typeface="Arial"/>
              </a:rPr>
              <a:t>networks </a:t>
            </a:r>
            <a:r>
              <a:rPr sz="1800" b="1" spc="-20" dirty="0">
                <a:latin typeface="Arial"/>
                <a:cs typeface="Arial"/>
              </a:rPr>
              <a:t>achieve </a:t>
            </a:r>
            <a:r>
              <a:rPr sz="1800" b="1" spc="-15" dirty="0">
                <a:latin typeface="Arial"/>
                <a:cs typeface="Arial"/>
              </a:rPr>
              <a:t>different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accuracy.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7905" y="383794"/>
            <a:ext cx="30168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FFC000"/>
                </a:solidFill>
              </a:rPr>
              <a:t>Steps </a:t>
            </a:r>
            <a:r>
              <a:rPr dirty="0">
                <a:solidFill>
                  <a:srgbClr val="FFC000"/>
                </a:solidFill>
              </a:rPr>
              <a:t>for</a:t>
            </a:r>
            <a:r>
              <a:rPr spc="-175" dirty="0">
                <a:solidFill>
                  <a:srgbClr val="FFC000"/>
                </a:solidFill>
              </a:rPr>
              <a:t> </a:t>
            </a:r>
            <a:r>
              <a:rPr dirty="0">
                <a:solidFill>
                  <a:srgbClr val="FFC000"/>
                </a:solidFill>
              </a:rPr>
              <a:t>MNIST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998" y="1095318"/>
            <a:ext cx="3342004" cy="100203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Understand </a:t>
            </a: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MNIST</a:t>
            </a:r>
            <a:r>
              <a:rPr sz="1800" b="1" spc="-1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Softmax regression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layer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09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cost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function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6570" y="383794"/>
            <a:ext cx="30568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C000"/>
                </a:solidFill>
              </a:rPr>
              <a:t>The MNIST</a:t>
            </a:r>
            <a:r>
              <a:rPr spc="-240" dirty="0">
                <a:solidFill>
                  <a:srgbClr val="FFC000"/>
                </a:solidFill>
              </a:rPr>
              <a:t> </a:t>
            </a:r>
            <a:r>
              <a:rPr dirty="0">
                <a:solidFill>
                  <a:srgbClr val="FFC000"/>
                </a:solidFill>
              </a:rPr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998" y="1146175"/>
            <a:ext cx="7993380" cy="172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25" dirty="0">
                <a:latin typeface="Arial"/>
                <a:cs typeface="Arial"/>
              </a:rPr>
              <a:t>Every </a:t>
            </a:r>
            <a:r>
              <a:rPr sz="1800" b="1" dirty="0">
                <a:latin typeface="Arial"/>
                <a:cs typeface="Arial"/>
              </a:rPr>
              <a:t>MNIST </a:t>
            </a:r>
            <a:r>
              <a:rPr sz="1800" b="1" spc="-5" dirty="0">
                <a:latin typeface="Arial"/>
                <a:cs typeface="Arial"/>
              </a:rPr>
              <a:t>data </a:t>
            </a:r>
            <a:r>
              <a:rPr sz="1800" b="1" dirty="0">
                <a:latin typeface="Arial"/>
                <a:cs typeface="Arial"/>
              </a:rPr>
              <a:t>point </a:t>
            </a:r>
            <a:r>
              <a:rPr sz="1800" b="1" spc="-5" dirty="0">
                <a:latin typeface="Arial"/>
                <a:cs typeface="Arial"/>
              </a:rPr>
              <a:t>has </a:t>
            </a:r>
            <a:r>
              <a:rPr sz="1800" b="1" spc="15" dirty="0">
                <a:latin typeface="Arial"/>
                <a:cs typeface="Arial"/>
              </a:rPr>
              <a:t>two </a:t>
            </a:r>
            <a:r>
              <a:rPr sz="1800" b="1" spc="-5" dirty="0">
                <a:latin typeface="Arial"/>
                <a:cs typeface="Arial"/>
              </a:rPr>
              <a:t>parts: an image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-5" dirty="0">
                <a:latin typeface="Arial"/>
                <a:cs typeface="Arial"/>
              </a:rPr>
              <a:t>a </a:t>
            </a:r>
            <a:r>
              <a:rPr sz="1800" b="1" dirty="0">
                <a:latin typeface="Arial"/>
                <a:cs typeface="Arial"/>
              </a:rPr>
              <a:t>handwritten digit  and </a:t>
            </a:r>
            <a:r>
              <a:rPr sz="1800" b="1" spc="-5" dirty="0">
                <a:latin typeface="Arial"/>
                <a:cs typeface="Arial"/>
              </a:rPr>
              <a:t>a corresponding label. </a:t>
            </a:r>
            <a:r>
              <a:rPr sz="1800" b="1" spc="-10" dirty="0">
                <a:latin typeface="Arial"/>
                <a:cs typeface="Arial"/>
              </a:rPr>
              <a:t>We'll </a:t>
            </a:r>
            <a:r>
              <a:rPr sz="1800" b="1" spc="-5" dirty="0">
                <a:latin typeface="Arial"/>
                <a:cs typeface="Arial"/>
              </a:rPr>
              <a:t>call the images "x" </a:t>
            </a:r>
            <a:r>
              <a:rPr sz="1800" b="1" dirty="0">
                <a:latin typeface="Arial"/>
                <a:cs typeface="Arial"/>
              </a:rPr>
              <a:t>and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dirty="0">
                <a:latin typeface="Arial"/>
                <a:cs typeface="Arial"/>
              </a:rPr>
              <a:t>labels</a:t>
            </a:r>
            <a:r>
              <a:rPr sz="1800" b="1" spc="-1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"y".  </a:t>
            </a:r>
            <a:r>
              <a:rPr sz="1800" b="1" dirty="0">
                <a:latin typeface="Arial"/>
                <a:cs typeface="Arial"/>
              </a:rPr>
              <a:t>Both the </a:t>
            </a:r>
            <a:r>
              <a:rPr sz="1800" b="1" spc="-5" dirty="0">
                <a:latin typeface="Arial"/>
                <a:cs typeface="Arial"/>
              </a:rPr>
              <a:t>training </a:t>
            </a:r>
            <a:r>
              <a:rPr sz="1800" b="1" spc="-10" dirty="0">
                <a:latin typeface="Arial"/>
                <a:cs typeface="Arial"/>
              </a:rPr>
              <a:t>set </a:t>
            </a:r>
            <a:r>
              <a:rPr sz="1800" b="1" spc="-5" dirty="0">
                <a:latin typeface="Arial"/>
                <a:cs typeface="Arial"/>
              </a:rPr>
              <a:t>and test </a:t>
            </a:r>
            <a:r>
              <a:rPr sz="1800" b="1" spc="-10" dirty="0">
                <a:latin typeface="Arial"/>
                <a:cs typeface="Arial"/>
              </a:rPr>
              <a:t>set </a:t>
            </a:r>
            <a:r>
              <a:rPr sz="1800" b="1" spc="-5" dirty="0">
                <a:latin typeface="Arial"/>
                <a:cs typeface="Arial"/>
              </a:rPr>
              <a:t>contain images and their  corresponding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labels;</a:t>
            </a:r>
            <a:endParaRPr sz="1800" dirty="0">
              <a:latin typeface="Arial"/>
              <a:cs typeface="Arial"/>
            </a:endParaRPr>
          </a:p>
          <a:p>
            <a:pPr marL="355600" marR="452755" indent="-342900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Each image is </a:t>
            </a:r>
            <a:r>
              <a:rPr sz="1800" b="1" spc="-15" dirty="0">
                <a:latin typeface="Arial"/>
                <a:cs typeface="Arial"/>
              </a:rPr>
              <a:t>28 </a:t>
            </a:r>
            <a:r>
              <a:rPr sz="1800" b="1" spc="-5" dirty="0">
                <a:latin typeface="Arial"/>
                <a:cs typeface="Arial"/>
              </a:rPr>
              <a:t>pixels by 28 </a:t>
            </a:r>
            <a:r>
              <a:rPr sz="1800" b="1" dirty="0">
                <a:latin typeface="Arial"/>
                <a:cs typeface="Arial"/>
              </a:rPr>
              <a:t>pixels. </a:t>
            </a:r>
            <a:r>
              <a:rPr sz="1800" b="1" spc="-20" dirty="0">
                <a:latin typeface="Arial"/>
                <a:cs typeface="Arial"/>
              </a:rPr>
              <a:t>We </a:t>
            </a:r>
            <a:r>
              <a:rPr sz="1800" b="1" spc="-5" dirty="0">
                <a:latin typeface="Arial"/>
                <a:cs typeface="Arial"/>
              </a:rPr>
              <a:t>can interpret </a:t>
            </a:r>
            <a:r>
              <a:rPr sz="1800" b="1" dirty="0">
                <a:latin typeface="Arial"/>
                <a:cs typeface="Arial"/>
              </a:rPr>
              <a:t>this </a:t>
            </a:r>
            <a:r>
              <a:rPr sz="1800" b="1" spc="-5" dirty="0">
                <a:latin typeface="Arial"/>
                <a:cs typeface="Arial"/>
              </a:rPr>
              <a:t>as a</a:t>
            </a:r>
            <a:r>
              <a:rPr sz="1800" b="1" spc="-1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big  </a:t>
            </a:r>
            <a:r>
              <a:rPr sz="1800" b="1" spc="-5" dirty="0">
                <a:latin typeface="Arial"/>
                <a:cs typeface="Arial"/>
              </a:rPr>
              <a:t>array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numbers: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6883" y="3096767"/>
            <a:ext cx="7405116" cy="29657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2245" y="383794"/>
            <a:ext cx="68243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C000"/>
                </a:solidFill>
              </a:rPr>
              <a:t>One Layer NN for MNIST</a:t>
            </a:r>
            <a:r>
              <a:rPr spc="-245" dirty="0">
                <a:solidFill>
                  <a:srgbClr val="FFC000"/>
                </a:solidFill>
              </a:rPr>
              <a:t> </a:t>
            </a:r>
            <a:r>
              <a:rPr spc="-5" dirty="0">
                <a:solidFill>
                  <a:srgbClr val="FFC000"/>
                </a:solidFill>
              </a:rPr>
              <a:t>Recognition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998" y="1095318"/>
            <a:ext cx="7920355" cy="1824989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20" dirty="0">
                <a:latin typeface="Arial"/>
                <a:cs typeface="Arial"/>
              </a:rPr>
              <a:t>We </a:t>
            </a:r>
            <a:r>
              <a:rPr sz="1800" b="1" spc="10" dirty="0">
                <a:latin typeface="Arial"/>
                <a:cs typeface="Arial"/>
              </a:rPr>
              <a:t>will </a:t>
            </a:r>
            <a:r>
              <a:rPr sz="1800" b="1" spc="-5" dirty="0">
                <a:latin typeface="Arial"/>
                <a:cs typeface="Arial"/>
              </a:rPr>
              <a:t>start </a:t>
            </a:r>
            <a:r>
              <a:rPr sz="1800" b="1" spc="5" dirty="0">
                <a:latin typeface="Arial"/>
                <a:cs typeface="Arial"/>
              </a:rPr>
              <a:t>with </a:t>
            </a:r>
            <a:r>
              <a:rPr sz="1800" b="1" dirty="0">
                <a:latin typeface="Arial"/>
                <a:cs typeface="Arial"/>
              </a:rPr>
              <a:t>a </a:t>
            </a:r>
            <a:r>
              <a:rPr sz="1800" b="1" spc="-25" dirty="0">
                <a:latin typeface="Arial"/>
                <a:cs typeface="Arial"/>
              </a:rPr>
              <a:t>very </a:t>
            </a:r>
            <a:r>
              <a:rPr sz="1800" b="1" spc="-5" dirty="0">
                <a:latin typeface="Arial"/>
                <a:cs typeface="Arial"/>
              </a:rPr>
              <a:t>simple model, called </a:t>
            </a:r>
            <a:r>
              <a:rPr sz="1800" b="1" spc="-5" dirty="0">
                <a:solidFill>
                  <a:srgbClr val="0000FF"/>
                </a:solidFill>
                <a:latin typeface="Arial"/>
                <a:cs typeface="Arial"/>
              </a:rPr>
              <a:t>Softmax</a:t>
            </a: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Arial"/>
                <a:cs typeface="Arial"/>
              </a:rPr>
              <a:t>Regression</a:t>
            </a:r>
            <a:r>
              <a:rPr sz="1800" b="1" spc="-5" dirty="0">
                <a:latin typeface="Arial"/>
                <a:cs typeface="Arial"/>
              </a:rPr>
              <a:t>.</a:t>
            </a:r>
            <a:endParaRPr sz="1800" dirty="0">
              <a:latin typeface="Arial"/>
              <a:cs typeface="Arial"/>
            </a:endParaRPr>
          </a:p>
          <a:p>
            <a:pPr marL="355600" marR="270510" indent="-342900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20" dirty="0">
                <a:latin typeface="Arial"/>
                <a:cs typeface="Arial"/>
              </a:rPr>
              <a:t>We </a:t>
            </a:r>
            <a:r>
              <a:rPr sz="1800" b="1" spc="-5" dirty="0">
                <a:latin typeface="Arial"/>
                <a:cs typeface="Arial"/>
              </a:rPr>
              <a:t>can flatten </a:t>
            </a:r>
            <a:r>
              <a:rPr sz="1800" b="1" dirty="0">
                <a:latin typeface="Arial"/>
                <a:cs typeface="Arial"/>
              </a:rPr>
              <a:t>this </a:t>
            </a:r>
            <a:r>
              <a:rPr sz="1800" b="1" spc="-5" dirty="0">
                <a:latin typeface="Arial"/>
                <a:cs typeface="Arial"/>
              </a:rPr>
              <a:t>array </a:t>
            </a:r>
            <a:r>
              <a:rPr sz="1800" b="1" dirty="0">
                <a:latin typeface="Arial"/>
                <a:cs typeface="Arial"/>
              </a:rPr>
              <a:t>into </a:t>
            </a:r>
            <a:r>
              <a:rPr sz="1800" b="1" spc="-5" dirty="0">
                <a:latin typeface="Arial"/>
                <a:cs typeface="Arial"/>
              </a:rPr>
              <a:t>a </a:t>
            </a:r>
            <a:r>
              <a:rPr sz="1800" b="1" spc="-25" dirty="0">
                <a:latin typeface="Arial"/>
                <a:cs typeface="Arial"/>
              </a:rPr>
              <a:t>vector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-20" dirty="0">
                <a:latin typeface="Arial"/>
                <a:cs typeface="Arial"/>
              </a:rPr>
              <a:t>28x28 </a:t>
            </a:r>
            <a:r>
              <a:rPr sz="1800" b="1" dirty="0">
                <a:latin typeface="Arial"/>
                <a:cs typeface="Arial"/>
              </a:rPr>
              <a:t>= </a:t>
            </a:r>
            <a:r>
              <a:rPr sz="1800" b="1" spc="-15" dirty="0">
                <a:latin typeface="Arial"/>
                <a:cs typeface="Arial"/>
              </a:rPr>
              <a:t>784 </a:t>
            </a:r>
            <a:r>
              <a:rPr sz="1800" b="1" spc="-5" dirty="0">
                <a:latin typeface="Arial"/>
                <a:cs typeface="Arial"/>
              </a:rPr>
              <a:t>numbers. </a:t>
            </a:r>
            <a:r>
              <a:rPr sz="1800" b="1" dirty="0">
                <a:latin typeface="Arial"/>
                <a:cs typeface="Arial"/>
              </a:rPr>
              <a:t>It  </a:t>
            </a:r>
            <a:r>
              <a:rPr sz="1800" b="1" spc="-5" dirty="0">
                <a:latin typeface="Arial"/>
                <a:cs typeface="Arial"/>
              </a:rPr>
              <a:t>doesn't matter </a:t>
            </a:r>
            <a:r>
              <a:rPr sz="1800" b="1" dirty="0">
                <a:latin typeface="Arial"/>
                <a:cs typeface="Arial"/>
              </a:rPr>
              <a:t>how </a:t>
            </a:r>
            <a:r>
              <a:rPr sz="1800" b="1" spc="20" dirty="0">
                <a:latin typeface="Arial"/>
                <a:cs typeface="Arial"/>
              </a:rPr>
              <a:t>we </a:t>
            </a:r>
            <a:r>
              <a:rPr sz="1800" b="1" spc="-5" dirty="0">
                <a:latin typeface="Arial"/>
                <a:cs typeface="Arial"/>
              </a:rPr>
              <a:t>flatten the </a:t>
            </a:r>
            <a:r>
              <a:rPr sz="1800" b="1" spc="-45" dirty="0">
                <a:latin typeface="Arial"/>
                <a:cs typeface="Arial"/>
              </a:rPr>
              <a:t>array, </a:t>
            </a:r>
            <a:r>
              <a:rPr sz="1800" b="1" spc="-5" dirty="0">
                <a:latin typeface="Arial"/>
                <a:cs typeface="Arial"/>
              </a:rPr>
              <a:t>as </a:t>
            </a:r>
            <a:r>
              <a:rPr sz="1800" b="1" dirty="0">
                <a:latin typeface="Arial"/>
                <a:cs typeface="Arial"/>
              </a:rPr>
              <a:t>long </a:t>
            </a:r>
            <a:r>
              <a:rPr sz="1800" b="1" spc="-5" dirty="0">
                <a:latin typeface="Arial"/>
                <a:cs typeface="Arial"/>
              </a:rPr>
              <a:t>as </a:t>
            </a:r>
            <a:r>
              <a:rPr sz="1800" b="1" dirty="0">
                <a:latin typeface="Arial"/>
                <a:cs typeface="Arial"/>
              </a:rPr>
              <a:t>we're </a:t>
            </a:r>
            <a:r>
              <a:rPr sz="1800" b="1" spc="-5" dirty="0">
                <a:latin typeface="Arial"/>
                <a:cs typeface="Arial"/>
              </a:rPr>
              <a:t>consistent  </a:t>
            </a:r>
            <a:r>
              <a:rPr sz="1800" b="1" dirty="0">
                <a:latin typeface="Arial"/>
                <a:cs typeface="Arial"/>
              </a:rPr>
              <a:t>between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images.</a:t>
            </a:r>
            <a:endParaRPr sz="18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409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From </a:t>
            </a:r>
            <a:r>
              <a:rPr sz="1800" b="1" dirty="0">
                <a:latin typeface="Arial"/>
                <a:cs typeface="Arial"/>
              </a:rPr>
              <a:t>this </a:t>
            </a:r>
            <a:r>
              <a:rPr sz="1800" b="1" spc="-20" dirty="0">
                <a:latin typeface="Arial"/>
                <a:cs typeface="Arial"/>
              </a:rPr>
              <a:t>perspective,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dirty="0">
                <a:latin typeface="Arial"/>
                <a:cs typeface="Arial"/>
              </a:rPr>
              <a:t>MNIST </a:t>
            </a:r>
            <a:r>
              <a:rPr sz="1800" b="1" spc="-5" dirty="0">
                <a:latin typeface="Arial"/>
                <a:cs typeface="Arial"/>
              </a:rPr>
              <a:t>images are </a:t>
            </a:r>
            <a:r>
              <a:rPr sz="1800" b="1" dirty="0">
                <a:latin typeface="Arial"/>
                <a:cs typeface="Arial"/>
              </a:rPr>
              <a:t>just </a:t>
            </a:r>
            <a:r>
              <a:rPr sz="1800" b="1" spc="-5" dirty="0">
                <a:latin typeface="Arial"/>
                <a:cs typeface="Arial"/>
              </a:rPr>
              <a:t>a </a:t>
            </a:r>
            <a:r>
              <a:rPr sz="1800" b="1" dirty="0">
                <a:latin typeface="Arial"/>
                <a:cs typeface="Arial"/>
              </a:rPr>
              <a:t>bunch of points in  </a:t>
            </a:r>
            <a:r>
              <a:rPr sz="1800" b="1" spc="-5" dirty="0">
                <a:latin typeface="Arial"/>
                <a:cs typeface="Arial"/>
              </a:rPr>
              <a:t>a 784-dimensional </a:t>
            </a:r>
            <a:r>
              <a:rPr sz="1800" b="1" spc="-25" dirty="0">
                <a:latin typeface="Arial"/>
                <a:cs typeface="Arial"/>
              </a:rPr>
              <a:t>vector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space.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78395" y="4005071"/>
            <a:ext cx="315595" cy="315595"/>
          </a:xfrm>
          <a:custGeom>
            <a:avLst/>
            <a:gdLst/>
            <a:ahLst/>
            <a:cxnLst/>
            <a:rect l="l" t="t" r="r" b="b"/>
            <a:pathLst>
              <a:path w="315595" h="315595">
                <a:moveTo>
                  <a:pt x="315341" y="0"/>
                </a:moveTo>
                <a:lnTo>
                  <a:pt x="0" y="0"/>
                </a:lnTo>
                <a:lnTo>
                  <a:pt x="0" y="315340"/>
                </a:lnTo>
                <a:lnTo>
                  <a:pt x="315341" y="315340"/>
                </a:lnTo>
                <a:lnTo>
                  <a:pt x="31534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43884" y="4005071"/>
            <a:ext cx="324485" cy="314960"/>
          </a:xfrm>
          <a:custGeom>
            <a:avLst/>
            <a:gdLst/>
            <a:ahLst/>
            <a:cxnLst/>
            <a:rect l="l" t="t" r="r" b="b"/>
            <a:pathLst>
              <a:path w="324485" h="314960">
                <a:moveTo>
                  <a:pt x="324485" y="0"/>
                </a:moveTo>
                <a:lnTo>
                  <a:pt x="0" y="0"/>
                </a:lnTo>
                <a:lnTo>
                  <a:pt x="0" y="314959"/>
                </a:lnTo>
                <a:lnTo>
                  <a:pt x="324485" y="314959"/>
                </a:lnTo>
                <a:lnTo>
                  <a:pt x="324485" y="0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958844" y="4005071"/>
          <a:ext cx="2331719" cy="314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2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4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6300089" y="4005071"/>
            <a:ext cx="323215" cy="314960"/>
          </a:xfrm>
          <a:custGeom>
            <a:avLst/>
            <a:gdLst/>
            <a:ahLst/>
            <a:cxnLst/>
            <a:rect l="l" t="t" r="r" b="b"/>
            <a:pathLst>
              <a:path w="323215" h="314960">
                <a:moveTo>
                  <a:pt x="323214" y="0"/>
                </a:moveTo>
                <a:lnTo>
                  <a:pt x="0" y="0"/>
                </a:lnTo>
                <a:lnTo>
                  <a:pt x="0" y="314959"/>
                </a:lnTo>
                <a:lnTo>
                  <a:pt x="323214" y="314959"/>
                </a:lnTo>
                <a:lnTo>
                  <a:pt x="323214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732523" y="4069842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...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16709" y="3399997"/>
            <a:ext cx="2132965" cy="1781810"/>
            <a:chOff x="1316709" y="3399997"/>
            <a:chExt cx="2132965" cy="1781810"/>
          </a:xfrm>
        </p:grpSpPr>
        <p:sp>
          <p:nvSpPr>
            <p:cNvPr id="10" name="object 10"/>
            <p:cNvSpPr/>
            <p:nvPr/>
          </p:nvSpPr>
          <p:spPr>
            <a:xfrm>
              <a:off x="1316709" y="3399997"/>
              <a:ext cx="1546913" cy="17816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27653" y="4114800"/>
              <a:ext cx="114300" cy="1280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55976" y="4171949"/>
              <a:ext cx="593725" cy="13335"/>
            </a:xfrm>
            <a:custGeom>
              <a:avLst/>
              <a:gdLst/>
              <a:ahLst/>
              <a:cxnLst/>
              <a:rect l="l" t="t" r="r" b="b"/>
              <a:pathLst>
                <a:path w="593725" h="13335">
                  <a:moveTo>
                    <a:pt x="471639" y="406"/>
                  </a:moveTo>
                  <a:lnTo>
                    <a:pt x="0" y="406"/>
                  </a:lnTo>
                  <a:lnTo>
                    <a:pt x="0" y="13208"/>
                  </a:lnTo>
                  <a:lnTo>
                    <a:pt x="471639" y="13208"/>
                  </a:lnTo>
                  <a:lnTo>
                    <a:pt x="471639" y="406"/>
                  </a:lnTo>
                  <a:close/>
                </a:path>
                <a:path w="593725" h="13335">
                  <a:moveTo>
                    <a:pt x="593331" y="6350"/>
                  </a:moveTo>
                  <a:lnTo>
                    <a:pt x="591312" y="6350"/>
                  </a:lnTo>
                  <a:lnTo>
                    <a:pt x="591312" y="0"/>
                  </a:lnTo>
                  <a:lnTo>
                    <a:pt x="484378" y="0"/>
                  </a:lnTo>
                  <a:lnTo>
                    <a:pt x="484378" y="6350"/>
                  </a:lnTo>
                  <a:lnTo>
                    <a:pt x="484378" y="12700"/>
                  </a:lnTo>
                  <a:lnTo>
                    <a:pt x="593331" y="12700"/>
                  </a:lnTo>
                  <a:lnTo>
                    <a:pt x="593331" y="6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935604" y="3746119"/>
            <a:ext cx="4400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28x28</a:t>
            </a:r>
            <a:endParaRPr sz="120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pixels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5398" y="383794"/>
            <a:ext cx="5535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C000"/>
                </a:solidFill>
              </a:rPr>
              <a:t>Result of the </a:t>
            </a:r>
            <a:r>
              <a:rPr spc="-5" dirty="0">
                <a:solidFill>
                  <a:srgbClr val="FFC000"/>
                </a:solidFill>
              </a:rPr>
              <a:t>Flatten</a:t>
            </a:r>
            <a:r>
              <a:rPr spc="-235" dirty="0">
                <a:solidFill>
                  <a:srgbClr val="FFC000"/>
                </a:solidFill>
              </a:rPr>
              <a:t> </a:t>
            </a:r>
            <a:r>
              <a:rPr spc="-5" dirty="0">
                <a:solidFill>
                  <a:srgbClr val="FFC000"/>
                </a:solidFill>
              </a:rPr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998" y="1138554"/>
            <a:ext cx="7393305" cy="144018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55600" marR="12065" indent="-342900">
              <a:lnSpc>
                <a:spcPts val="2100"/>
              </a:lnSpc>
              <a:spcBef>
                <a:spcPts val="219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result is that the training </a:t>
            </a:r>
            <a:r>
              <a:rPr sz="1800" b="1" dirty="0">
                <a:latin typeface="Arial"/>
                <a:cs typeface="Arial"/>
              </a:rPr>
              <a:t>inputs </a:t>
            </a:r>
            <a:r>
              <a:rPr sz="1800" b="1" spc="-5" dirty="0">
                <a:latin typeface="Arial"/>
                <a:cs typeface="Arial"/>
              </a:rPr>
              <a:t>become a matrix </a:t>
            </a:r>
            <a:r>
              <a:rPr sz="1800" b="1" spc="10" dirty="0">
                <a:latin typeface="Arial"/>
                <a:cs typeface="Arial"/>
              </a:rPr>
              <a:t>with</a:t>
            </a:r>
            <a:r>
              <a:rPr sz="1800" b="1" spc="-120" dirty="0">
                <a:latin typeface="Arial"/>
                <a:cs typeface="Arial"/>
              </a:rPr>
              <a:t> </a:t>
            </a:r>
            <a:r>
              <a:rPr sz="1800" b="1" spc="95" dirty="0">
                <a:solidFill>
                  <a:srgbClr val="0000FF"/>
                </a:solidFill>
                <a:latin typeface="Arial"/>
                <a:cs typeface="Arial"/>
              </a:rPr>
              <a:t>60000  </a:t>
            </a:r>
            <a:r>
              <a:rPr sz="1800" b="1" spc="85" dirty="0">
                <a:solidFill>
                  <a:srgbClr val="0000FF"/>
                </a:solidFill>
                <a:latin typeface="Arial"/>
                <a:cs typeface="Arial"/>
              </a:rPr>
              <a:t>rows </a:t>
            </a:r>
            <a:r>
              <a:rPr sz="1800" b="1" spc="65" dirty="0">
                <a:solidFill>
                  <a:srgbClr val="0000FF"/>
                </a:solidFill>
                <a:latin typeface="Arial"/>
                <a:cs typeface="Arial"/>
              </a:rPr>
              <a:t>and </a:t>
            </a:r>
            <a:r>
              <a:rPr sz="1800" b="1" spc="35" dirty="0">
                <a:solidFill>
                  <a:srgbClr val="0000FF"/>
                </a:solidFill>
                <a:latin typeface="Arial"/>
                <a:cs typeface="Arial"/>
              </a:rPr>
              <a:t>784</a:t>
            </a:r>
            <a:r>
              <a:rPr sz="1800" b="1" spc="3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45" dirty="0">
                <a:solidFill>
                  <a:srgbClr val="0000FF"/>
                </a:solidFill>
                <a:latin typeface="Arial"/>
                <a:cs typeface="Arial"/>
              </a:rPr>
              <a:t>columns.</a:t>
            </a:r>
            <a:endParaRPr sz="18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33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Each entry </a:t>
            </a:r>
            <a:r>
              <a:rPr sz="1800" b="1" dirty="0">
                <a:latin typeface="Arial"/>
                <a:cs typeface="Arial"/>
              </a:rPr>
              <a:t>in the </a:t>
            </a:r>
            <a:r>
              <a:rPr sz="1800" b="1" spc="-5" dirty="0">
                <a:latin typeface="Arial"/>
                <a:cs typeface="Arial"/>
              </a:rPr>
              <a:t>matrix </a:t>
            </a:r>
            <a:r>
              <a:rPr sz="1800" b="1" dirty="0">
                <a:latin typeface="Arial"/>
                <a:cs typeface="Arial"/>
              </a:rPr>
              <a:t>is a pixel </a:t>
            </a:r>
            <a:r>
              <a:rPr sz="1800" b="1" spc="-5" dirty="0">
                <a:latin typeface="Arial"/>
                <a:cs typeface="Arial"/>
              </a:rPr>
              <a:t>intensity </a:t>
            </a:r>
            <a:r>
              <a:rPr sz="1800" b="1" dirty="0">
                <a:latin typeface="Arial"/>
                <a:cs typeface="Arial"/>
              </a:rPr>
              <a:t>between 0 </a:t>
            </a:r>
            <a:r>
              <a:rPr sz="1800" b="1" spc="-5" dirty="0">
                <a:latin typeface="Arial"/>
                <a:cs typeface="Arial"/>
              </a:rPr>
              <a:t>and 1,  (after </a:t>
            </a:r>
            <a:r>
              <a:rPr sz="1800" b="1" dirty="0">
                <a:latin typeface="Arial"/>
                <a:cs typeface="Arial"/>
              </a:rPr>
              <a:t>being </a:t>
            </a:r>
            <a:r>
              <a:rPr sz="1800" b="1" spc="-5" dirty="0">
                <a:latin typeface="Arial"/>
                <a:cs typeface="Arial"/>
              </a:rPr>
              <a:t>normalized, </a:t>
            </a:r>
            <a:r>
              <a:rPr sz="1800" b="1" spc="-10" dirty="0">
                <a:latin typeface="Arial"/>
                <a:cs typeface="Arial"/>
              </a:rPr>
              <a:t>divided </a:t>
            </a:r>
            <a:r>
              <a:rPr sz="1800" b="1" spc="-5" dirty="0">
                <a:latin typeface="Arial"/>
                <a:cs typeface="Arial"/>
              </a:rPr>
              <a:t>by 255) for a particular </a:t>
            </a:r>
            <a:r>
              <a:rPr sz="1800" b="1" dirty="0">
                <a:latin typeface="Arial"/>
                <a:cs typeface="Arial"/>
              </a:rPr>
              <a:t>pixel in</a:t>
            </a:r>
            <a:r>
              <a:rPr sz="1800" b="1" spc="-16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  particular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image.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0" y="3851075"/>
            <a:ext cx="3214116" cy="12440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016251" y="4995671"/>
            <a:ext cx="520065" cy="22732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6985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55"/>
              </a:spcBef>
            </a:pPr>
            <a:r>
              <a:rPr sz="1400" spc="-5" dirty="0">
                <a:latin typeface="Arial"/>
                <a:cs typeface="Arial"/>
              </a:rPr>
              <a:t>60000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21200" y="4268470"/>
            <a:ext cx="636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rgbClr val="C00000"/>
                </a:solidFill>
                <a:latin typeface="Arial"/>
                <a:cs typeface="Arial"/>
              </a:rPr>
              <a:t>60,000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15098" y="5937910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C00000"/>
                </a:solidFill>
                <a:latin typeface="Arial"/>
                <a:cs typeface="Arial"/>
              </a:rPr>
              <a:t>784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505443" y="3351276"/>
            <a:ext cx="182880" cy="2035810"/>
          </a:xfrm>
          <a:custGeom>
            <a:avLst/>
            <a:gdLst/>
            <a:ahLst/>
            <a:cxnLst/>
            <a:rect l="l" t="t" r="r" b="b"/>
            <a:pathLst>
              <a:path w="182879" h="2035810">
                <a:moveTo>
                  <a:pt x="0" y="0"/>
                </a:moveTo>
                <a:lnTo>
                  <a:pt x="182879" y="0"/>
                </a:lnTo>
                <a:lnTo>
                  <a:pt x="182879" y="2035683"/>
                </a:lnTo>
                <a:lnTo>
                  <a:pt x="0" y="2035683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165592" y="3627120"/>
            <a:ext cx="201295" cy="217804"/>
          </a:xfrm>
          <a:custGeom>
            <a:avLst/>
            <a:gdLst/>
            <a:ahLst/>
            <a:cxnLst/>
            <a:rect l="l" t="t" r="r" b="b"/>
            <a:pathLst>
              <a:path w="201295" h="217804">
                <a:moveTo>
                  <a:pt x="201041" y="0"/>
                </a:moveTo>
                <a:lnTo>
                  <a:pt x="0" y="0"/>
                </a:lnTo>
                <a:lnTo>
                  <a:pt x="0" y="217423"/>
                </a:lnTo>
                <a:lnTo>
                  <a:pt x="201041" y="217423"/>
                </a:lnTo>
                <a:lnTo>
                  <a:pt x="20104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76616" y="3723131"/>
            <a:ext cx="135255" cy="27305"/>
          </a:xfrm>
          <a:custGeom>
            <a:avLst/>
            <a:gdLst/>
            <a:ahLst/>
            <a:cxnLst/>
            <a:rect l="l" t="t" r="r" b="b"/>
            <a:pathLst>
              <a:path w="135254" h="27304">
                <a:moveTo>
                  <a:pt x="24003" y="5969"/>
                </a:moveTo>
                <a:lnTo>
                  <a:pt x="18669" y="0"/>
                </a:lnTo>
                <a:lnTo>
                  <a:pt x="5334" y="0"/>
                </a:lnTo>
                <a:lnTo>
                  <a:pt x="0" y="5969"/>
                </a:lnTo>
                <a:lnTo>
                  <a:pt x="0" y="20955"/>
                </a:lnTo>
                <a:lnTo>
                  <a:pt x="5334" y="26924"/>
                </a:lnTo>
                <a:lnTo>
                  <a:pt x="18669" y="26924"/>
                </a:lnTo>
                <a:lnTo>
                  <a:pt x="24003" y="20955"/>
                </a:lnTo>
                <a:lnTo>
                  <a:pt x="24003" y="5969"/>
                </a:lnTo>
                <a:close/>
              </a:path>
              <a:path w="135254" h="27304">
                <a:moveTo>
                  <a:pt x="80391" y="5969"/>
                </a:moveTo>
                <a:lnTo>
                  <a:pt x="75057" y="0"/>
                </a:lnTo>
                <a:lnTo>
                  <a:pt x="61722" y="0"/>
                </a:lnTo>
                <a:lnTo>
                  <a:pt x="56388" y="5969"/>
                </a:lnTo>
                <a:lnTo>
                  <a:pt x="56388" y="20955"/>
                </a:lnTo>
                <a:lnTo>
                  <a:pt x="61722" y="26924"/>
                </a:lnTo>
                <a:lnTo>
                  <a:pt x="75057" y="26924"/>
                </a:lnTo>
                <a:lnTo>
                  <a:pt x="80391" y="20955"/>
                </a:lnTo>
                <a:lnTo>
                  <a:pt x="80391" y="5969"/>
                </a:lnTo>
                <a:close/>
              </a:path>
              <a:path w="135254" h="27304">
                <a:moveTo>
                  <a:pt x="135255" y="5969"/>
                </a:moveTo>
                <a:lnTo>
                  <a:pt x="129921" y="0"/>
                </a:lnTo>
                <a:lnTo>
                  <a:pt x="116586" y="0"/>
                </a:lnTo>
                <a:lnTo>
                  <a:pt x="111252" y="5969"/>
                </a:lnTo>
                <a:lnTo>
                  <a:pt x="111252" y="20955"/>
                </a:lnTo>
                <a:lnTo>
                  <a:pt x="116586" y="26924"/>
                </a:lnTo>
                <a:lnTo>
                  <a:pt x="129921" y="26924"/>
                </a:lnTo>
                <a:lnTo>
                  <a:pt x="135255" y="20955"/>
                </a:lnTo>
                <a:lnTo>
                  <a:pt x="135255" y="5969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165592" y="3357371"/>
            <a:ext cx="201295" cy="217804"/>
          </a:xfrm>
          <a:custGeom>
            <a:avLst/>
            <a:gdLst/>
            <a:ahLst/>
            <a:cxnLst/>
            <a:rect l="l" t="t" r="r" b="b"/>
            <a:pathLst>
              <a:path w="201295" h="217804">
                <a:moveTo>
                  <a:pt x="201041" y="0"/>
                </a:moveTo>
                <a:lnTo>
                  <a:pt x="0" y="0"/>
                </a:lnTo>
                <a:lnTo>
                  <a:pt x="0" y="217424"/>
                </a:lnTo>
                <a:lnTo>
                  <a:pt x="201041" y="217424"/>
                </a:lnTo>
                <a:lnTo>
                  <a:pt x="20104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976616" y="3453383"/>
            <a:ext cx="135255" cy="26034"/>
          </a:xfrm>
          <a:custGeom>
            <a:avLst/>
            <a:gdLst/>
            <a:ahLst/>
            <a:cxnLst/>
            <a:rect l="l" t="t" r="r" b="b"/>
            <a:pathLst>
              <a:path w="135254" h="26035">
                <a:moveTo>
                  <a:pt x="24003" y="5842"/>
                </a:moveTo>
                <a:lnTo>
                  <a:pt x="18669" y="0"/>
                </a:lnTo>
                <a:lnTo>
                  <a:pt x="5334" y="0"/>
                </a:lnTo>
                <a:lnTo>
                  <a:pt x="0" y="5842"/>
                </a:lnTo>
                <a:lnTo>
                  <a:pt x="0" y="19939"/>
                </a:lnTo>
                <a:lnTo>
                  <a:pt x="5334" y="25781"/>
                </a:lnTo>
                <a:lnTo>
                  <a:pt x="18669" y="25781"/>
                </a:lnTo>
                <a:lnTo>
                  <a:pt x="24003" y="19939"/>
                </a:lnTo>
                <a:lnTo>
                  <a:pt x="24003" y="5842"/>
                </a:lnTo>
                <a:close/>
              </a:path>
              <a:path w="135254" h="26035">
                <a:moveTo>
                  <a:pt x="80391" y="5842"/>
                </a:moveTo>
                <a:lnTo>
                  <a:pt x="75057" y="0"/>
                </a:lnTo>
                <a:lnTo>
                  <a:pt x="61722" y="0"/>
                </a:lnTo>
                <a:lnTo>
                  <a:pt x="56388" y="5842"/>
                </a:lnTo>
                <a:lnTo>
                  <a:pt x="56388" y="19939"/>
                </a:lnTo>
                <a:lnTo>
                  <a:pt x="61722" y="25781"/>
                </a:lnTo>
                <a:lnTo>
                  <a:pt x="75057" y="25781"/>
                </a:lnTo>
                <a:lnTo>
                  <a:pt x="80391" y="19939"/>
                </a:lnTo>
                <a:lnTo>
                  <a:pt x="80391" y="5842"/>
                </a:lnTo>
                <a:close/>
              </a:path>
              <a:path w="135254" h="26035">
                <a:moveTo>
                  <a:pt x="135255" y="5842"/>
                </a:moveTo>
                <a:lnTo>
                  <a:pt x="129921" y="0"/>
                </a:lnTo>
                <a:lnTo>
                  <a:pt x="116586" y="0"/>
                </a:lnTo>
                <a:lnTo>
                  <a:pt x="111252" y="5842"/>
                </a:lnTo>
                <a:lnTo>
                  <a:pt x="111252" y="19939"/>
                </a:lnTo>
                <a:lnTo>
                  <a:pt x="116586" y="25781"/>
                </a:lnTo>
                <a:lnTo>
                  <a:pt x="129921" y="25781"/>
                </a:lnTo>
                <a:lnTo>
                  <a:pt x="135255" y="19939"/>
                </a:lnTo>
                <a:lnTo>
                  <a:pt x="135255" y="5842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165592" y="3898391"/>
            <a:ext cx="201295" cy="217804"/>
          </a:xfrm>
          <a:custGeom>
            <a:avLst/>
            <a:gdLst/>
            <a:ahLst/>
            <a:cxnLst/>
            <a:rect l="l" t="t" r="r" b="b"/>
            <a:pathLst>
              <a:path w="201295" h="217804">
                <a:moveTo>
                  <a:pt x="201041" y="0"/>
                </a:moveTo>
                <a:lnTo>
                  <a:pt x="0" y="0"/>
                </a:lnTo>
                <a:lnTo>
                  <a:pt x="0" y="217423"/>
                </a:lnTo>
                <a:lnTo>
                  <a:pt x="201041" y="217423"/>
                </a:lnTo>
                <a:lnTo>
                  <a:pt x="201041" y="0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76616" y="3994403"/>
            <a:ext cx="135255" cy="26034"/>
          </a:xfrm>
          <a:custGeom>
            <a:avLst/>
            <a:gdLst/>
            <a:ahLst/>
            <a:cxnLst/>
            <a:rect l="l" t="t" r="r" b="b"/>
            <a:pathLst>
              <a:path w="135254" h="26035">
                <a:moveTo>
                  <a:pt x="24003" y="5842"/>
                </a:moveTo>
                <a:lnTo>
                  <a:pt x="18669" y="0"/>
                </a:lnTo>
                <a:lnTo>
                  <a:pt x="5334" y="0"/>
                </a:lnTo>
                <a:lnTo>
                  <a:pt x="0" y="5842"/>
                </a:lnTo>
                <a:lnTo>
                  <a:pt x="0" y="19939"/>
                </a:lnTo>
                <a:lnTo>
                  <a:pt x="5334" y="25781"/>
                </a:lnTo>
                <a:lnTo>
                  <a:pt x="18669" y="25781"/>
                </a:lnTo>
                <a:lnTo>
                  <a:pt x="24003" y="19939"/>
                </a:lnTo>
                <a:lnTo>
                  <a:pt x="24003" y="5842"/>
                </a:lnTo>
                <a:close/>
              </a:path>
              <a:path w="135254" h="26035">
                <a:moveTo>
                  <a:pt x="80391" y="5842"/>
                </a:moveTo>
                <a:lnTo>
                  <a:pt x="75057" y="0"/>
                </a:lnTo>
                <a:lnTo>
                  <a:pt x="61722" y="0"/>
                </a:lnTo>
                <a:lnTo>
                  <a:pt x="56388" y="5842"/>
                </a:lnTo>
                <a:lnTo>
                  <a:pt x="56388" y="19939"/>
                </a:lnTo>
                <a:lnTo>
                  <a:pt x="61722" y="25781"/>
                </a:lnTo>
                <a:lnTo>
                  <a:pt x="75057" y="25781"/>
                </a:lnTo>
                <a:lnTo>
                  <a:pt x="80391" y="19939"/>
                </a:lnTo>
                <a:lnTo>
                  <a:pt x="80391" y="5842"/>
                </a:lnTo>
                <a:close/>
              </a:path>
              <a:path w="135254" h="26035">
                <a:moveTo>
                  <a:pt x="135255" y="5842"/>
                </a:moveTo>
                <a:lnTo>
                  <a:pt x="129921" y="0"/>
                </a:lnTo>
                <a:lnTo>
                  <a:pt x="116586" y="0"/>
                </a:lnTo>
                <a:lnTo>
                  <a:pt x="111252" y="5842"/>
                </a:lnTo>
                <a:lnTo>
                  <a:pt x="111252" y="19939"/>
                </a:lnTo>
                <a:lnTo>
                  <a:pt x="116586" y="25781"/>
                </a:lnTo>
                <a:lnTo>
                  <a:pt x="129921" y="25781"/>
                </a:lnTo>
                <a:lnTo>
                  <a:pt x="135255" y="19939"/>
                </a:lnTo>
                <a:lnTo>
                  <a:pt x="135255" y="5842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165592" y="4168140"/>
            <a:ext cx="201295" cy="217804"/>
          </a:xfrm>
          <a:custGeom>
            <a:avLst/>
            <a:gdLst/>
            <a:ahLst/>
            <a:cxnLst/>
            <a:rect l="l" t="t" r="r" b="b"/>
            <a:pathLst>
              <a:path w="201295" h="217804">
                <a:moveTo>
                  <a:pt x="201041" y="0"/>
                </a:moveTo>
                <a:lnTo>
                  <a:pt x="0" y="0"/>
                </a:lnTo>
                <a:lnTo>
                  <a:pt x="0" y="217424"/>
                </a:lnTo>
                <a:lnTo>
                  <a:pt x="201041" y="217424"/>
                </a:lnTo>
                <a:lnTo>
                  <a:pt x="201041" y="0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976616" y="4264151"/>
            <a:ext cx="135255" cy="27305"/>
          </a:xfrm>
          <a:custGeom>
            <a:avLst/>
            <a:gdLst/>
            <a:ahLst/>
            <a:cxnLst/>
            <a:rect l="l" t="t" r="r" b="b"/>
            <a:pathLst>
              <a:path w="135254" h="27304">
                <a:moveTo>
                  <a:pt x="24003" y="5969"/>
                </a:moveTo>
                <a:lnTo>
                  <a:pt x="18669" y="0"/>
                </a:lnTo>
                <a:lnTo>
                  <a:pt x="5334" y="0"/>
                </a:lnTo>
                <a:lnTo>
                  <a:pt x="0" y="5969"/>
                </a:lnTo>
                <a:lnTo>
                  <a:pt x="0" y="20955"/>
                </a:lnTo>
                <a:lnTo>
                  <a:pt x="5334" y="26924"/>
                </a:lnTo>
                <a:lnTo>
                  <a:pt x="18669" y="26924"/>
                </a:lnTo>
                <a:lnTo>
                  <a:pt x="24003" y="20955"/>
                </a:lnTo>
                <a:lnTo>
                  <a:pt x="24003" y="5969"/>
                </a:lnTo>
                <a:close/>
              </a:path>
              <a:path w="135254" h="27304">
                <a:moveTo>
                  <a:pt x="80391" y="5969"/>
                </a:moveTo>
                <a:lnTo>
                  <a:pt x="75057" y="0"/>
                </a:lnTo>
                <a:lnTo>
                  <a:pt x="61722" y="0"/>
                </a:lnTo>
                <a:lnTo>
                  <a:pt x="56388" y="5969"/>
                </a:lnTo>
                <a:lnTo>
                  <a:pt x="56388" y="20955"/>
                </a:lnTo>
                <a:lnTo>
                  <a:pt x="61722" y="26924"/>
                </a:lnTo>
                <a:lnTo>
                  <a:pt x="75057" y="26924"/>
                </a:lnTo>
                <a:lnTo>
                  <a:pt x="80391" y="20955"/>
                </a:lnTo>
                <a:lnTo>
                  <a:pt x="80391" y="5969"/>
                </a:lnTo>
                <a:close/>
              </a:path>
              <a:path w="135254" h="27304">
                <a:moveTo>
                  <a:pt x="135255" y="5969"/>
                </a:moveTo>
                <a:lnTo>
                  <a:pt x="129921" y="0"/>
                </a:lnTo>
                <a:lnTo>
                  <a:pt x="116586" y="0"/>
                </a:lnTo>
                <a:lnTo>
                  <a:pt x="111252" y="5969"/>
                </a:lnTo>
                <a:lnTo>
                  <a:pt x="111252" y="20955"/>
                </a:lnTo>
                <a:lnTo>
                  <a:pt x="116586" y="26924"/>
                </a:lnTo>
                <a:lnTo>
                  <a:pt x="129921" y="26924"/>
                </a:lnTo>
                <a:lnTo>
                  <a:pt x="135255" y="20955"/>
                </a:lnTo>
                <a:lnTo>
                  <a:pt x="135255" y="5969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65592" y="4439411"/>
            <a:ext cx="201295" cy="217804"/>
          </a:xfrm>
          <a:custGeom>
            <a:avLst/>
            <a:gdLst/>
            <a:ahLst/>
            <a:cxnLst/>
            <a:rect l="l" t="t" r="r" b="b"/>
            <a:pathLst>
              <a:path w="201295" h="217804">
                <a:moveTo>
                  <a:pt x="201041" y="0"/>
                </a:moveTo>
                <a:lnTo>
                  <a:pt x="0" y="0"/>
                </a:lnTo>
                <a:lnTo>
                  <a:pt x="0" y="217424"/>
                </a:lnTo>
                <a:lnTo>
                  <a:pt x="201041" y="217424"/>
                </a:lnTo>
                <a:lnTo>
                  <a:pt x="20104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5946647" y="4439411"/>
            <a:ext cx="1976755" cy="217804"/>
            <a:chOff x="5946647" y="4439411"/>
            <a:chExt cx="1976755" cy="217804"/>
          </a:xfrm>
        </p:grpSpPr>
        <p:sp>
          <p:nvSpPr>
            <p:cNvPr id="19" name="object 19"/>
            <p:cNvSpPr/>
            <p:nvPr/>
          </p:nvSpPr>
          <p:spPr>
            <a:xfrm>
              <a:off x="5946648" y="4439411"/>
              <a:ext cx="422275" cy="217804"/>
            </a:xfrm>
            <a:custGeom>
              <a:avLst/>
              <a:gdLst/>
              <a:ahLst/>
              <a:cxnLst/>
              <a:rect l="l" t="t" r="r" b="b"/>
              <a:pathLst>
                <a:path w="42227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  <a:path w="422275" h="217804">
                  <a:moveTo>
                    <a:pt x="422008" y="0"/>
                  </a:moveTo>
                  <a:lnTo>
                    <a:pt x="220980" y="0"/>
                  </a:lnTo>
                  <a:lnTo>
                    <a:pt x="220980" y="217424"/>
                  </a:lnTo>
                  <a:lnTo>
                    <a:pt x="422008" y="217424"/>
                  </a:lnTo>
                  <a:lnTo>
                    <a:pt x="422008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12623" y="4439411"/>
              <a:ext cx="422275" cy="217804"/>
            </a:xfrm>
            <a:custGeom>
              <a:avLst/>
              <a:gdLst/>
              <a:ahLst/>
              <a:cxnLst/>
              <a:rect l="l" t="t" r="r" b="b"/>
              <a:pathLst>
                <a:path w="422275" h="217804">
                  <a:moveTo>
                    <a:pt x="201053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53" y="217424"/>
                  </a:lnTo>
                  <a:lnTo>
                    <a:pt x="201053" y="0"/>
                  </a:lnTo>
                  <a:close/>
                </a:path>
                <a:path w="422275" h="217804">
                  <a:moveTo>
                    <a:pt x="422033" y="0"/>
                  </a:moveTo>
                  <a:lnTo>
                    <a:pt x="220992" y="0"/>
                  </a:lnTo>
                  <a:lnTo>
                    <a:pt x="220992" y="217424"/>
                  </a:lnTo>
                  <a:lnTo>
                    <a:pt x="422033" y="217424"/>
                  </a:lnTo>
                  <a:lnTo>
                    <a:pt x="42203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90131" y="4439411"/>
              <a:ext cx="201295" cy="217804"/>
            </a:xfrm>
            <a:custGeom>
              <a:avLst/>
              <a:gdLst/>
              <a:ahLst/>
              <a:cxnLst/>
              <a:rect l="l" t="t" r="r" b="b"/>
              <a:pathLst>
                <a:path w="201295" h="217804">
                  <a:moveTo>
                    <a:pt x="201040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0" y="217424"/>
                  </a:lnTo>
                  <a:lnTo>
                    <a:pt x="201040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722107" y="4439411"/>
              <a:ext cx="201295" cy="217804"/>
            </a:xfrm>
            <a:custGeom>
              <a:avLst/>
              <a:gdLst/>
              <a:ahLst/>
              <a:cxnLst/>
              <a:rect l="l" t="t" r="r" b="b"/>
              <a:pathLst>
                <a:path w="20129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56120" y="4439411"/>
              <a:ext cx="644525" cy="217804"/>
            </a:xfrm>
            <a:custGeom>
              <a:avLst/>
              <a:gdLst/>
              <a:ahLst/>
              <a:cxnLst/>
              <a:rect l="l" t="t" r="r" b="b"/>
              <a:pathLst>
                <a:path w="64452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  <a:path w="644525" h="217804">
                  <a:moveTo>
                    <a:pt x="423545" y="0"/>
                  </a:moveTo>
                  <a:lnTo>
                    <a:pt x="222504" y="0"/>
                  </a:lnTo>
                  <a:lnTo>
                    <a:pt x="222504" y="217424"/>
                  </a:lnTo>
                  <a:lnTo>
                    <a:pt x="423545" y="217424"/>
                  </a:lnTo>
                  <a:lnTo>
                    <a:pt x="423545" y="0"/>
                  </a:lnTo>
                  <a:close/>
                </a:path>
                <a:path w="644525" h="217804">
                  <a:moveTo>
                    <a:pt x="644525" y="0"/>
                  </a:moveTo>
                  <a:lnTo>
                    <a:pt x="443484" y="0"/>
                  </a:lnTo>
                  <a:lnTo>
                    <a:pt x="443484" y="217424"/>
                  </a:lnTo>
                  <a:lnTo>
                    <a:pt x="644525" y="217424"/>
                  </a:lnTo>
                  <a:lnTo>
                    <a:pt x="644525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7976616" y="4535423"/>
            <a:ext cx="135255" cy="26034"/>
          </a:xfrm>
          <a:custGeom>
            <a:avLst/>
            <a:gdLst/>
            <a:ahLst/>
            <a:cxnLst/>
            <a:rect l="l" t="t" r="r" b="b"/>
            <a:pathLst>
              <a:path w="135254" h="26035">
                <a:moveTo>
                  <a:pt x="24003" y="5842"/>
                </a:moveTo>
                <a:lnTo>
                  <a:pt x="18669" y="0"/>
                </a:lnTo>
                <a:lnTo>
                  <a:pt x="5334" y="0"/>
                </a:lnTo>
                <a:lnTo>
                  <a:pt x="0" y="5842"/>
                </a:lnTo>
                <a:lnTo>
                  <a:pt x="0" y="19939"/>
                </a:lnTo>
                <a:lnTo>
                  <a:pt x="5334" y="25781"/>
                </a:lnTo>
                <a:lnTo>
                  <a:pt x="18669" y="25781"/>
                </a:lnTo>
                <a:lnTo>
                  <a:pt x="24003" y="19939"/>
                </a:lnTo>
                <a:lnTo>
                  <a:pt x="24003" y="5842"/>
                </a:lnTo>
                <a:close/>
              </a:path>
              <a:path w="135254" h="26035">
                <a:moveTo>
                  <a:pt x="80391" y="5842"/>
                </a:moveTo>
                <a:lnTo>
                  <a:pt x="75057" y="0"/>
                </a:lnTo>
                <a:lnTo>
                  <a:pt x="61722" y="0"/>
                </a:lnTo>
                <a:lnTo>
                  <a:pt x="56388" y="5842"/>
                </a:lnTo>
                <a:lnTo>
                  <a:pt x="56388" y="19939"/>
                </a:lnTo>
                <a:lnTo>
                  <a:pt x="61722" y="25781"/>
                </a:lnTo>
                <a:lnTo>
                  <a:pt x="75057" y="25781"/>
                </a:lnTo>
                <a:lnTo>
                  <a:pt x="80391" y="19939"/>
                </a:lnTo>
                <a:lnTo>
                  <a:pt x="80391" y="5842"/>
                </a:lnTo>
                <a:close/>
              </a:path>
              <a:path w="135254" h="26035">
                <a:moveTo>
                  <a:pt x="135255" y="5842"/>
                </a:moveTo>
                <a:lnTo>
                  <a:pt x="129921" y="0"/>
                </a:lnTo>
                <a:lnTo>
                  <a:pt x="116586" y="0"/>
                </a:lnTo>
                <a:lnTo>
                  <a:pt x="111252" y="5842"/>
                </a:lnTo>
                <a:lnTo>
                  <a:pt x="111252" y="19939"/>
                </a:lnTo>
                <a:lnTo>
                  <a:pt x="116586" y="25781"/>
                </a:lnTo>
                <a:lnTo>
                  <a:pt x="129921" y="25781"/>
                </a:lnTo>
                <a:lnTo>
                  <a:pt x="135255" y="19939"/>
                </a:lnTo>
                <a:lnTo>
                  <a:pt x="135255" y="5842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5946647" y="4709159"/>
            <a:ext cx="1976755" cy="217804"/>
            <a:chOff x="5946647" y="4709159"/>
            <a:chExt cx="1976755" cy="217804"/>
          </a:xfrm>
        </p:grpSpPr>
        <p:sp>
          <p:nvSpPr>
            <p:cNvPr id="26" name="object 26"/>
            <p:cNvSpPr/>
            <p:nvPr/>
          </p:nvSpPr>
          <p:spPr>
            <a:xfrm>
              <a:off x="7278624" y="4709159"/>
              <a:ext cx="644525" cy="217804"/>
            </a:xfrm>
            <a:custGeom>
              <a:avLst/>
              <a:gdLst/>
              <a:ahLst/>
              <a:cxnLst/>
              <a:rect l="l" t="t" r="r" b="b"/>
              <a:pathLst>
                <a:path w="64452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  <a:path w="644525" h="217804">
                  <a:moveTo>
                    <a:pt x="644525" y="0"/>
                  </a:moveTo>
                  <a:lnTo>
                    <a:pt x="443484" y="0"/>
                  </a:lnTo>
                  <a:lnTo>
                    <a:pt x="443484" y="217424"/>
                  </a:lnTo>
                  <a:lnTo>
                    <a:pt x="644525" y="217424"/>
                  </a:lnTo>
                  <a:lnTo>
                    <a:pt x="6445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56120" y="4709159"/>
              <a:ext cx="644525" cy="217804"/>
            </a:xfrm>
            <a:custGeom>
              <a:avLst/>
              <a:gdLst/>
              <a:ahLst/>
              <a:cxnLst/>
              <a:rect l="l" t="t" r="r" b="b"/>
              <a:pathLst>
                <a:path w="64452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  <a:path w="644525" h="217804">
                  <a:moveTo>
                    <a:pt x="644525" y="0"/>
                  </a:moveTo>
                  <a:lnTo>
                    <a:pt x="443484" y="0"/>
                  </a:lnTo>
                  <a:lnTo>
                    <a:pt x="443484" y="217424"/>
                  </a:lnTo>
                  <a:lnTo>
                    <a:pt x="644525" y="217424"/>
                  </a:lnTo>
                  <a:lnTo>
                    <a:pt x="644525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33615" y="4709159"/>
              <a:ext cx="201295" cy="217804"/>
            </a:xfrm>
            <a:custGeom>
              <a:avLst/>
              <a:gdLst/>
              <a:ahLst/>
              <a:cxnLst/>
              <a:rect l="l" t="t" r="r" b="b"/>
              <a:pathLst>
                <a:path w="20129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46648" y="4709159"/>
              <a:ext cx="644525" cy="217804"/>
            </a:xfrm>
            <a:custGeom>
              <a:avLst/>
              <a:gdLst/>
              <a:ahLst/>
              <a:cxnLst/>
              <a:rect l="l" t="t" r="r" b="b"/>
              <a:pathLst>
                <a:path w="64452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  <a:path w="644525" h="217804">
                  <a:moveTo>
                    <a:pt x="644525" y="0"/>
                  </a:moveTo>
                  <a:lnTo>
                    <a:pt x="443484" y="0"/>
                  </a:lnTo>
                  <a:lnTo>
                    <a:pt x="443484" y="217424"/>
                  </a:lnTo>
                  <a:lnTo>
                    <a:pt x="644525" y="217424"/>
                  </a:lnTo>
                  <a:lnTo>
                    <a:pt x="644525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67627" y="4709159"/>
              <a:ext cx="201295" cy="217804"/>
            </a:xfrm>
            <a:custGeom>
              <a:avLst/>
              <a:gdLst/>
              <a:ahLst/>
              <a:cxnLst/>
              <a:rect l="l" t="t" r="r" b="b"/>
              <a:pathLst>
                <a:path w="201295" h="217804">
                  <a:moveTo>
                    <a:pt x="201040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0" y="217424"/>
                  </a:lnTo>
                  <a:lnTo>
                    <a:pt x="20104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12635" y="4709159"/>
              <a:ext cx="201295" cy="217804"/>
            </a:xfrm>
            <a:custGeom>
              <a:avLst/>
              <a:gdLst/>
              <a:ahLst/>
              <a:cxnLst/>
              <a:rect l="l" t="t" r="r" b="b"/>
              <a:pathLst>
                <a:path w="20129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8165592" y="4709159"/>
            <a:ext cx="201295" cy="217804"/>
          </a:xfrm>
          <a:custGeom>
            <a:avLst/>
            <a:gdLst/>
            <a:ahLst/>
            <a:cxnLst/>
            <a:rect l="l" t="t" r="r" b="b"/>
            <a:pathLst>
              <a:path w="201295" h="217804">
                <a:moveTo>
                  <a:pt x="201041" y="0"/>
                </a:moveTo>
                <a:lnTo>
                  <a:pt x="0" y="0"/>
                </a:lnTo>
                <a:lnTo>
                  <a:pt x="0" y="217424"/>
                </a:lnTo>
                <a:lnTo>
                  <a:pt x="201041" y="217424"/>
                </a:lnTo>
                <a:lnTo>
                  <a:pt x="201041" y="0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976616" y="4805171"/>
            <a:ext cx="135255" cy="27305"/>
          </a:xfrm>
          <a:custGeom>
            <a:avLst/>
            <a:gdLst/>
            <a:ahLst/>
            <a:cxnLst/>
            <a:rect l="l" t="t" r="r" b="b"/>
            <a:pathLst>
              <a:path w="135254" h="27304">
                <a:moveTo>
                  <a:pt x="24003" y="5969"/>
                </a:moveTo>
                <a:lnTo>
                  <a:pt x="18669" y="0"/>
                </a:lnTo>
                <a:lnTo>
                  <a:pt x="5334" y="0"/>
                </a:lnTo>
                <a:lnTo>
                  <a:pt x="0" y="5969"/>
                </a:lnTo>
                <a:lnTo>
                  <a:pt x="0" y="20955"/>
                </a:lnTo>
                <a:lnTo>
                  <a:pt x="5334" y="26924"/>
                </a:lnTo>
                <a:lnTo>
                  <a:pt x="18669" y="26924"/>
                </a:lnTo>
                <a:lnTo>
                  <a:pt x="24003" y="20955"/>
                </a:lnTo>
                <a:lnTo>
                  <a:pt x="24003" y="5969"/>
                </a:lnTo>
                <a:close/>
              </a:path>
              <a:path w="135254" h="27304">
                <a:moveTo>
                  <a:pt x="80391" y="5969"/>
                </a:moveTo>
                <a:lnTo>
                  <a:pt x="75057" y="0"/>
                </a:lnTo>
                <a:lnTo>
                  <a:pt x="61722" y="0"/>
                </a:lnTo>
                <a:lnTo>
                  <a:pt x="56388" y="5969"/>
                </a:lnTo>
                <a:lnTo>
                  <a:pt x="56388" y="20955"/>
                </a:lnTo>
                <a:lnTo>
                  <a:pt x="61722" y="26924"/>
                </a:lnTo>
                <a:lnTo>
                  <a:pt x="75057" y="26924"/>
                </a:lnTo>
                <a:lnTo>
                  <a:pt x="80391" y="20955"/>
                </a:lnTo>
                <a:lnTo>
                  <a:pt x="80391" y="5969"/>
                </a:lnTo>
                <a:close/>
              </a:path>
              <a:path w="135254" h="27304">
                <a:moveTo>
                  <a:pt x="135255" y="5969"/>
                </a:moveTo>
                <a:lnTo>
                  <a:pt x="129921" y="0"/>
                </a:lnTo>
                <a:lnTo>
                  <a:pt x="116586" y="0"/>
                </a:lnTo>
                <a:lnTo>
                  <a:pt x="111252" y="5969"/>
                </a:lnTo>
                <a:lnTo>
                  <a:pt x="111252" y="20955"/>
                </a:lnTo>
                <a:lnTo>
                  <a:pt x="116586" y="26924"/>
                </a:lnTo>
                <a:lnTo>
                  <a:pt x="129921" y="26924"/>
                </a:lnTo>
                <a:lnTo>
                  <a:pt x="135255" y="20955"/>
                </a:lnTo>
                <a:lnTo>
                  <a:pt x="135255" y="5969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088124" y="5035295"/>
            <a:ext cx="137160" cy="27305"/>
          </a:xfrm>
          <a:custGeom>
            <a:avLst/>
            <a:gdLst/>
            <a:ahLst/>
            <a:cxnLst/>
            <a:rect l="l" t="t" r="r" b="b"/>
            <a:pathLst>
              <a:path w="137159" h="27304">
                <a:moveTo>
                  <a:pt x="24003" y="5969"/>
                </a:moveTo>
                <a:lnTo>
                  <a:pt x="18669" y="0"/>
                </a:lnTo>
                <a:lnTo>
                  <a:pt x="5334" y="0"/>
                </a:lnTo>
                <a:lnTo>
                  <a:pt x="0" y="5969"/>
                </a:lnTo>
                <a:lnTo>
                  <a:pt x="0" y="20955"/>
                </a:lnTo>
                <a:lnTo>
                  <a:pt x="5334" y="26924"/>
                </a:lnTo>
                <a:lnTo>
                  <a:pt x="18669" y="26924"/>
                </a:lnTo>
                <a:lnTo>
                  <a:pt x="24003" y="20955"/>
                </a:lnTo>
                <a:lnTo>
                  <a:pt x="24003" y="5969"/>
                </a:lnTo>
                <a:close/>
              </a:path>
              <a:path w="137159" h="27304">
                <a:moveTo>
                  <a:pt x="80391" y="5969"/>
                </a:moveTo>
                <a:lnTo>
                  <a:pt x="75057" y="0"/>
                </a:lnTo>
                <a:lnTo>
                  <a:pt x="61722" y="0"/>
                </a:lnTo>
                <a:lnTo>
                  <a:pt x="56388" y="5969"/>
                </a:lnTo>
                <a:lnTo>
                  <a:pt x="56388" y="20955"/>
                </a:lnTo>
                <a:lnTo>
                  <a:pt x="61722" y="26924"/>
                </a:lnTo>
                <a:lnTo>
                  <a:pt x="75057" y="26924"/>
                </a:lnTo>
                <a:lnTo>
                  <a:pt x="80391" y="20955"/>
                </a:lnTo>
                <a:lnTo>
                  <a:pt x="80391" y="5969"/>
                </a:lnTo>
                <a:close/>
              </a:path>
              <a:path w="137159" h="27304">
                <a:moveTo>
                  <a:pt x="137033" y="5969"/>
                </a:moveTo>
                <a:lnTo>
                  <a:pt x="131191" y="0"/>
                </a:lnTo>
                <a:lnTo>
                  <a:pt x="117094" y="0"/>
                </a:lnTo>
                <a:lnTo>
                  <a:pt x="111252" y="5969"/>
                </a:lnTo>
                <a:lnTo>
                  <a:pt x="111252" y="20955"/>
                </a:lnTo>
                <a:lnTo>
                  <a:pt x="117094" y="26924"/>
                </a:lnTo>
                <a:lnTo>
                  <a:pt x="131191" y="26924"/>
                </a:lnTo>
                <a:lnTo>
                  <a:pt x="137033" y="20955"/>
                </a:lnTo>
                <a:lnTo>
                  <a:pt x="137033" y="5969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5946647" y="5169408"/>
            <a:ext cx="1976755" cy="217804"/>
            <a:chOff x="5946647" y="5169408"/>
            <a:chExt cx="1976755" cy="217804"/>
          </a:xfrm>
        </p:grpSpPr>
        <p:sp>
          <p:nvSpPr>
            <p:cNvPr id="36" name="object 36"/>
            <p:cNvSpPr/>
            <p:nvPr/>
          </p:nvSpPr>
          <p:spPr>
            <a:xfrm>
              <a:off x="7499604" y="5169408"/>
              <a:ext cx="423545" cy="217804"/>
            </a:xfrm>
            <a:custGeom>
              <a:avLst/>
              <a:gdLst/>
              <a:ahLst/>
              <a:cxnLst/>
              <a:rect l="l" t="t" r="r" b="b"/>
              <a:pathLst>
                <a:path w="42354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  <a:path w="423545" h="217804">
                  <a:moveTo>
                    <a:pt x="423545" y="0"/>
                  </a:moveTo>
                  <a:lnTo>
                    <a:pt x="222504" y="0"/>
                  </a:lnTo>
                  <a:lnTo>
                    <a:pt x="222504" y="217424"/>
                  </a:lnTo>
                  <a:lnTo>
                    <a:pt x="423545" y="217424"/>
                  </a:lnTo>
                  <a:lnTo>
                    <a:pt x="42354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67628" y="5169408"/>
              <a:ext cx="1312545" cy="217804"/>
            </a:xfrm>
            <a:custGeom>
              <a:avLst/>
              <a:gdLst/>
              <a:ahLst/>
              <a:cxnLst/>
              <a:rect l="l" t="t" r="r" b="b"/>
              <a:pathLst>
                <a:path w="1312545" h="217804">
                  <a:moveTo>
                    <a:pt x="201028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28" y="217424"/>
                  </a:lnTo>
                  <a:lnTo>
                    <a:pt x="201028" y="0"/>
                  </a:lnTo>
                  <a:close/>
                </a:path>
                <a:path w="1312545" h="217804">
                  <a:moveTo>
                    <a:pt x="423545" y="0"/>
                  </a:moveTo>
                  <a:lnTo>
                    <a:pt x="222504" y="0"/>
                  </a:lnTo>
                  <a:lnTo>
                    <a:pt x="222504" y="217424"/>
                  </a:lnTo>
                  <a:lnTo>
                    <a:pt x="423545" y="217424"/>
                  </a:lnTo>
                  <a:lnTo>
                    <a:pt x="423545" y="0"/>
                  </a:lnTo>
                  <a:close/>
                </a:path>
                <a:path w="1312545" h="217804">
                  <a:moveTo>
                    <a:pt x="1089533" y="0"/>
                  </a:moveTo>
                  <a:lnTo>
                    <a:pt x="888492" y="0"/>
                  </a:lnTo>
                  <a:lnTo>
                    <a:pt x="888492" y="217424"/>
                  </a:lnTo>
                  <a:lnTo>
                    <a:pt x="1089533" y="217424"/>
                  </a:lnTo>
                  <a:lnTo>
                    <a:pt x="1089533" y="0"/>
                  </a:lnTo>
                  <a:close/>
                </a:path>
                <a:path w="1312545" h="217804">
                  <a:moveTo>
                    <a:pt x="1312037" y="0"/>
                  </a:moveTo>
                  <a:lnTo>
                    <a:pt x="1110996" y="0"/>
                  </a:lnTo>
                  <a:lnTo>
                    <a:pt x="1110996" y="217424"/>
                  </a:lnTo>
                  <a:lnTo>
                    <a:pt x="1312037" y="217424"/>
                  </a:lnTo>
                  <a:lnTo>
                    <a:pt x="1312037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46648" y="5169408"/>
              <a:ext cx="867410" cy="217804"/>
            </a:xfrm>
            <a:custGeom>
              <a:avLst/>
              <a:gdLst/>
              <a:ahLst/>
              <a:cxnLst/>
              <a:rect l="l" t="t" r="r" b="b"/>
              <a:pathLst>
                <a:path w="867409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  <a:path w="867409" h="217804">
                  <a:moveTo>
                    <a:pt x="867029" y="0"/>
                  </a:moveTo>
                  <a:lnTo>
                    <a:pt x="665975" y="0"/>
                  </a:lnTo>
                  <a:lnTo>
                    <a:pt x="665975" y="217424"/>
                  </a:lnTo>
                  <a:lnTo>
                    <a:pt x="867029" y="217424"/>
                  </a:lnTo>
                  <a:lnTo>
                    <a:pt x="867029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833615" y="5169408"/>
              <a:ext cx="201295" cy="217804"/>
            </a:xfrm>
            <a:custGeom>
              <a:avLst/>
              <a:gdLst/>
              <a:ahLst/>
              <a:cxnLst/>
              <a:rect l="l" t="t" r="r" b="b"/>
              <a:pathLst>
                <a:path w="20129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1086611" y="3279647"/>
            <a:ext cx="6837045" cy="2113915"/>
            <a:chOff x="1086611" y="3279647"/>
            <a:chExt cx="6837045" cy="2113915"/>
          </a:xfrm>
        </p:grpSpPr>
        <p:sp>
          <p:nvSpPr>
            <p:cNvPr id="41" name="object 41"/>
            <p:cNvSpPr/>
            <p:nvPr/>
          </p:nvSpPr>
          <p:spPr>
            <a:xfrm>
              <a:off x="3818177" y="4108314"/>
              <a:ext cx="497232" cy="4912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52672" y="4116323"/>
              <a:ext cx="431291" cy="44500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852672" y="4116323"/>
              <a:ext cx="431165" cy="445134"/>
            </a:xfrm>
            <a:custGeom>
              <a:avLst/>
              <a:gdLst/>
              <a:ahLst/>
              <a:cxnLst/>
              <a:rect l="l" t="t" r="r" b="b"/>
              <a:pathLst>
                <a:path w="431164" h="445135">
                  <a:moveTo>
                    <a:pt x="0" y="111251"/>
                  </a:moveTo>
                  <a:lnTo>
                    <a:pt x="215391" y="111251"/>
                  </a:lnTo>
                  <a:lnTo>
                    <a:pt x="215391" y="0"/>
                  </a:lnTo>
                  <a:lnTo>
                    <a:pt x="430783" y="222376"/>
                  </a:lnTo>
                  <a:lnTo>
                    <a:pt x="215391" y="444881"/>
                  </a:lnTo>
                  <a:lnTo>
                    <a:pt x="215391" y="333628"/>
                  </a:lnTo>
                  <a:lnTo>
                    <a:pt x="0" y="333628"/>
                  </a:lnTo>
                  <a:lnTo>
                    <a:pt x="0" y="11125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086611" y="3279647"/>
              <a:ext cx="3053080" cy="795655"/>
            </a:xfrm>
            <a:custGeom>
              <a:avLst/>
              <a:gdLst/>
              <a:ahLst/>
              <a:cxnLst/>
              <a:rect l="l" t="t" r="r" b="b"/>
              <a:pathLst>
                <a:path w="3053079" h="795654">
                  <a:moveTo>
                    <a:pt x="2595879" y="0"/>
                  </a:moveTo>
                  <a:lnTo>
                    <a:pt x="2497709" y="1015"/>
                  </a:lnTo>
                  <a:lnTo>
                    <a:pt x="2403729" y="3555"/>
                  </a:lnTo>
                  <a:lnTo>
                    <a:pt x="2314448" y="7874"/>
                  </a:lnTo>
                  <a:lnTo>
                    <a:pt x="2230120" y="14097"/>
                  </a:lnTo>
                  <a:lnTo>
                    <a:pt x="2190115" y="18034"/>
                  </a:lnTo>
                  <a:lnTo>
                    <a:pt x="2151507" y="22478"/>
                  </a:lnTo>
                  <a:lnTo>
                    <a:pt x="2002027" y="43814"/>
                  </a:lnTo>
                  <a:lnTo>
                    <a:pt x="1855470" y="70230"/>
                  </a:lnTo>
                  <a:lnTo>
                    <a:pt x="1711706" y="101346"/>
                  </a:lnTo>
                  <a:lnTo>
                    <a:pt x="1570355" y="136905"/>
                  </a:lnTo>
                  <a:lnTo>
                    <a:pt x="1431289" y="176656"/>
                  </a:lnTo>
                  <a:lnTo>
                    <a:pt x="1294257" y="219963"/>
                  </a:lnTo>
                  <a:lnTo>
                    <a:pt x="1159256" y="266826"/>
                  </a:lnTo>
                  <a:lnTo>
                    <a:pt x="1026032" y="316611"/>
                  </a:lnTo>
                  <a:lnTo>
                    <a:pt x="894461" y="369062"/>
                  </a:lnTo>
                  <a:lnTo>
                    <a:pt x="764158" y="423925"/>
                  </a:lnTo>
                  <a:lnTo>
                    <a:pt x="634873" y="480821"/>
                  </a:lnTo>
                  <a:lnTo>
                    <a:pt x="506856" y="539369"/>
                  </a:lnTo>
                  <a:lnTo>
                    <a:pt x="252603" y="660272"/>
                  </a:lnTo>
                  <a:lnTo>
                    <a:pt x="0" y="783844"/>
                  </a:lnTo>
                  <a:lnTo>
                    <a:pt x="5587" y="795274"/>
                  </a:lnTo>
                  <a:lnTo>
                    <a:pt x="258190" y="671702"/>
                  </a:lnTo>
                  <a:lnTo>
                    <a:pt x="512191" y="550926"/>
                  </a:lnTo>
                  <a:lnTo>
                    <a:pt x="640207" y="492378"/>
                  </a:lnTo>
                  <a:lnTo>
                    <a:pt x="769238" y="435482"/>
                  </a:lnTo>
                  <a:lnTo>
                    <a:pt x="899413" y="380872"/>
                  </a:lnTo>
                  <a:lnTo>
                    <a:pt x="1030858" y="328421"/>
                  </a:lnTo>
                  <a:lnTo>
                    <a:pt x="1163701" y="278764"/>
                  </a:lnTo>
                  <a:lnTo>
                    <a:pt x="1298448" y="232028"/>
                  </a:lnTo>
                  <a:lnTo>
                    <a:pt x="1435100" y="188722"/>
                  </a:lnTo>
                  <a:lnTo>
                    <a:pt x="1573783" y="149098"/>
                  </a:lnTo>
                  <a:lnTo>
                    <a:pt x="1714754" y="113664"/>
                  </a:lnTo>
                  <a:lnTo>
                    <a:pt x="1858137" y="82676"/>
                  </a:lnTo>
                  <a:lnTo>
                    <a:pt x="2004314" y="56261"/>
                  </a:lnTo>
                  <a:lnTo>
                    <a:pt x="2153285" y="35051"/>
                  </a:lnTo>
                  <a:lnTo>
                    <a:pt x="2191639" y="30606"/>
                  </a:lnTo>
                  <a:lnTo>
                    <a:pt x="2231390" y="26797"/>
                  </a:lnTo>
                  <a:lnTo>
                    <a:pt x="2315337" y="20574"/>
                  </a:lnTo>
                  <a:lnTo>
                    <a:pt x="2404491" y="16255"/>
                  </a:lnTo>
                  <a:lnTo>
                    <a:pt x="2498090" y="13588"/>
                  </a:lnTo>
                  <a:lnTo>
                    <a:pt x="3052826" y="12700"/>
                  </a:lnTo>
                  <a:lnTo>
                    <a:pt x="2909442" y="6223"/>
                  </a:lnTo>
                  <a:lnTo>
                    <a:pt x="2802254" y="2793"/>
                  </a:lnTo>
                  <a:lnTo>
                    <a:pt x="2697607" y="635"/>
                  </a:lnTo>
                  <a:lnTo>
                    <a:pt x="259587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670803" y="3363467"/>
              <a:ext cx="149225" cy="2023745"/>
            </a:xfrm>
            <a:custGeom>
              <a:avLst/>
              <a:gdLst/>
              <a:ahLst/>
              <a:cxnLst/>
              <a:rect l="l" t="t" r="r" b="b"/>
              <a:pathLst>
                <a:path w="149225" h="2023745">
                  <a:moveTo>
                    <a:pt x="148844" y="0"/>
                  </a:moveTo>
                  <a:lnTo>
                    <a:pt x="0" y="0"/>
                  </a:lnTo>
                  <a:lnTo>
                    <a:pt x="0" y="2023364"/>
                  </a:lnTo>
                  <a:lnTo>
                    <a:pt x="148844" y="2023364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056120" y="3357371"/>
              <a:ext cx="201295" cy="217804"/>
            </a:xfrm>
            <a:custGeom>
              <a:avLst/>
              <a:gdLst/>
              <a:ahLst/>
              <a:cxnLst/>
              <a:rect l="l" t="t" r="r" b="b"/>
              <a:pathLst>
                <a:path w="20129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278624" y="3357371"/>
              <a:ext cx="422275" cy="217804"/>
            </a:xfrm>
            <a:custGeom>
              <a:avLst/>
              <a:gdLst/>
              <a:ahLst/>
              <a:cxnLst/>
              <a:rect l="l" t="t" r="r" b="b"/>
              <a:pathLst>
                <a:path w="42227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36"/>
                  </a:lnTo>
                  <a:lnTo>
                    <a:pt x="201041" y="217436"/>
                  </a:lnTo>
                  <a:lnTo>
                    <a:pt x="201041" y="0"/>
                  </a:lnTo>
                  <a:close/>
                </a:path>
                <a:path w="422275" h="217804">
                  <a:moveTo>
                    <a:pt x="422021" y="0"/>
                  </a:moveTo>
                  <a:lnTo>
                    <a:pt x="220980" y="0"/>
                  </a:lnTo>
                  <a:lnTo>
                    <a:pt x="220980" y="217436"/>
                  </a:lnTo>
                  <a:lnTo>
                    <a:pt x="422021" y="217436"/>
                  </a:lnTo>
                  <a:lnTo>
                    <a:pt x="422021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722107" y="3357371"/>
              <a:ext cx="201295" cy="217804"/>
            </a:xfrm>
            <a:custGeom>
              <a:avLst/>
              <a:gdLst/>
              <a:ahLst/>
              <a:cxnLst/>
              <a:rect l="l" t="t" r="r" b="b"/>
              <a:pathLst>
                <a:path w="20129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946647" y="3357371"/>
              <a:ext cx="201295" cy="217804"/>
            </a:xfrm>
            <a:custGeom>
              <a:avLst/>
              <a:gdLst/>
              <a:ahLst/>
              <a:cxnLst/>
              <a:rect l="l" t="t" r="r" b="b"/>
              <a:pathLst>
                <a:path w="201295" h="217804">
                  <a:moveTo>
                    <a:pt x="201040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0" y="217424"/>
                  </a:lnTo>
                  <a:lnTo>
                    <a:pt x="201040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167628" y="3357371"/>
              <a:ext cx="646430" cy="217804"/>
            </a:xfrm>
            <a:custGeom>
              <a:avLst/>
              <a:gdLst/>
              <a:ahLst/>
              <a:cxnLst/>
              <a:rect l="l" t="t" r="r" b="b"/>
              <a:pathLst>
                <a:path w="646429" h="217804">
                  <a:moveTo>
                    <a:pt x="201028" y="0"/>
                  </a:moveTo>
                  <a:lnTo>
                    <a:pt x="0" y="0"/>
                  </a:lnTo>
                  <a:lnTo>
                    <a:pt x="0" y="217436"/>
                  </a:lnTo>
                  <a:lnTo>
                    <a:pt x="201028" y="217436"/>
                  </a:lnTo>
                  <a:lnTo>
                    <a:pt x="201028" y="0"/>
                  </a:lnTo>
                  <a:close/>
                </a:path>
                <a:path w="646429" h="217804">
                  <a:moveTo>
                    <a:pt x="423545" y="0"/>
                  </a:moveTo>
                  <a:lnTo>
                    <a:pt x="222504" y="0"/>
                  </a:lnTo>
                  <a:lnTo>
                    <a:pt x="222504" y="217436"/>
                  </a:lnTo>
                  <a:lnTo>
                    <a:pt x="423545" y="217436"/>
                  </a:lnTo>
                  <a:lnTo>
                    <a:pt x="423545" y="0"/>
                  </a:lnTo>
                  <a:close/>
                </a:path>
                <a:path w="646429" h="217804">
                  <a:moveTo>
                    <a:pt x="646049" y="0"/>
                  </a:moveTo>
                  <a:lnTo>
                    <a:pt x="444995" y="0"/>
                  </a:lnTo>
                  <a:lnTo>
                    <a:pt x="444995" y="217436"/>
                  </a:lnTo>
                  <a:lnTo>
                    <a:pt x="646049" y="217436"/>
                  </a:lnTo>
                  <a:lnTo>
                    <a:pt x="646049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833615" y="3357371"/>
              <a:ext cx="201295" cy="217804"/>
            </a:xfrm>
            <a:custGeom>
              <a:avLst/>
              <a:gdLst/>
              <a:ahLst/>
              <a:cxnLst/>
              <a:rect l="l" t="t" r="r" b="b"/>
              <a:pathLst>
                <a:path w="20129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778372" y="3392931"/>
              <a:ext cx="134365" cy="12585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221223" y="3381755"/>
              <a:ext cx="286385" cy="2005330"/>
            </a:xfrm>
            <a:custGeom>
              <a:avLst/>
              <a:gdLst/>
              <a:ahLst/>
              <a:cxnLst/>
              <a:rect l="l" t="t" r="r" b="b"/>
              <a:pathLst>
                <a:path w="286385" h="2005329">
                  <a:moveTo>
                    <a:pt x="286003" y="2005203"/>
                  </a:moveTo>
                  <a:lnTo>
                    <a:pt x="230377" y="1997329"/>
                  </a:lnTo>
                  <a:lnTo>
                    <a:pt x="184912" y="1975739"/>
                  </a:lnTo>
                  <a:lnTo>
                    <a:pt x="154177" y="1943862"/>
                  </a:lnTo>
                  <a:lnTo>
                    <a:pt x="143001" y="1904746"/>
                  </a:lnTo>
                  <a:lnTo>
                    <a:pt x="143001" y="1102995"/>
                  </a:lnTo>
                  <a:lnTo>
                    <a:pt x="131825" y="1063879"/>
                  </a:lnTo>
                  <a:lnTo>
                    <a:pt x="101091" y="1032002"/>
                  </a:lnTo>
                  <a:lnTo>
                    <a:pt x="55625" y="1010539"/>
                  </a:lnTo>
                  <a:lnTo>
                    <a:pt x="0" y="1002665"/>
                  </a:lnTo>
                  <a:lnTo>
                    <a:pt x="55625" y="994664"/>
                  </a:lnTo>
                  <a:lnTo>
                    <a:pt x="101091" y="973201"/>
                  </a:lnTo>
                  <a:lnTo>
                    <a:pt x="131825" y="941324"/>
                  </a:lnTo>
                  <a:lnTo>
                    <a:pt x="143001" y="902208"/>
                  </a:lnTo>
                  <a:lnTo>
                    <a:pt x="143001" y="100457"/>
                  </a:lnTo>
                  <a:lnTo>
                    <a:pt x="154177" y="61341"/>
                  </a:lnTo>
                  <a:lnTo>
                    <a:pt x="184912" y="29464"/>
                  </a:lnTo>
                  <a:lnTo>
                    <a:pt x="230377" y="7874"/>
                  </a:lnTo>
                  <a:lnTo>
                    <a:pt x="286003" y="0"/>
                  </a:lnTo>
                </a:path>
              </a:pathLst>
            </a:custGeom>
            <a:ln w="1219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402080" y="3292347"/>
              <a:ext cx="4435475" cy="748030"/>
            </a:xfrm>
            <a:custGeom>
              <a:avLst/>
              <a:gdLst/>
              <a:ahLst/>
              <a:cxnLst/>
              <a:rect l="l" t="t" r="r" b="b"/>
              <a:pathLst>
                <a:path w="4435475" h="748029">
                  <a:moveTo>
                    <a:pt x="3077210" y="358140"/>
                  </a:moveTo>
                  <a:lnTo>
                    <a:pt x="2739263" y="348615"/>
                  </a:lnTo>
                  <a:lnTo>
                    <a:pt x="2539746" y="345821"/>
                  </a:lnTo>
                  <a:lnTo>
                    <a:pt x="2444115" y="345440"/>
                  </a:lnTo>
                  <a:lnTo>
                    <a:pt x="2263267" y="347218"/>
                  </a:lnTo>
                  <a:lnTo>
                    <a:pt x="2179066" y="349377"/>
                  </a:lnTo>
                  <a:lnTo>
                    <a:pt x="2099691" y="352552"/>
                  </a:lnTo>
                  <a:lnTo>
                    <a:pt x="2025777" y="356616"/>
                  </a:lnTo>
                  <a:lnTo>
                    <a:pt x="1885048" y="367157"/>
                  </a:lnTo>
                  <a:lnTo>
                    <a:pt x="1747139" y="380365"/>
                  </a:lnTo>
                  <a:lnTo>
                    <a:pt x="1611757" y="395859"/>
                  </a:lnTo>
                  <a:lnTo>
                    <a:pt x="1478661" y="413639"/>
                  </a:lnTo>
                  <a:lnTo>
                    <a:pt x="1347851" y="433324"/>
                  </a:lnTo>
                  <a:lnTo>
                    <a:pt x="1218946" y="454914"/>
                  </a:lnTo>
                  <a:lnTo>
                    <a:pt x="1091946" y="478155"/>
                  </a:lnTo>
                  <a:lnTo>
                    <a:pt x="966343" y="502920"/>
                  </a:lnTo>
                  <a:lnTo>
                    <a:pt x="719709" y="556387"/>
                  </a:lnTo>
                  <a:lnTo>
                    <a:pt x="477393" y="613918"/>
                  </a:lnTo>
                  <a:lnTo>
                    <a:pt x="0" y="735584"/>
                  </a:lnTo>
                  <a:lnTo>
                    <a:pt x="3302" y="747776"/>
                  </a:lnTo>
                  <a:lnTo>
                    <a:pt x="480441" y="626237"/>
                  </a:lnTo>
                  <a:lnTo>
                    <a:pt x="722630" y="568706"/>
                  </a:lnTo>
                  <a:lnTo>
                    <a:pt x="969010" y="515366"/>
                  </a:lnTo>
                  <a:lnTo>
                    <a:pt x="1094359" y="490601"/>
                  </a:lnTo>
                  <a:lnTo>
                    <a:pt x="1221232" y="467360"/>
                  </a:lnTo>
                  <a:lnTo>
                    <a:pt x="1349883" y="445770"/>
                  </a:lnTo>
                  <a:lnTo>
                    <a:pt x="1480566" y="426212"/>
                  </a:lnTo>
                  <a:lnTo>
                    <a:pt x="1613408" y="408432"/>
                  </a:lnTo>
                  <a:lnTo>
                    <a:pt x="1748536" y="392938"/>
                  </a:lnTo>
                  <a:lnTo>
                    <a:pt x="1886331" y="379857"/>
                  </a:lnTo>
                  <a:lnTo>
                    <a:pt x="2026793" y="369316"/>
                  </a:lnTo>
                  <a:lnTo>
                    <a:pt x="2100453" y="365125"/>
                  </a:lnTo>
                  <a:lnTo>
                    <a:pt x="2179574" y="362077"/>
                  </a:lnTo>
                  <a:lnTo>
                    <a:pt x="2263648" y="359791"/>
                  </a:lnTo>
                  <a:lnTo>
                    <a:pt x="3077210" y="358140"/>
                  </a:lnTo>
                  <a:close/>
                </a:path>
                <a:path w="4435475" h="748029">
                  <a:moveTo>
                    <a:pt x="4435094" y="170307"/>
                  </a:moveTo>
                  <a:lnTo>
                    <a:pt x="3967734" y="106172"/>
                  </a:lnTo>
                  <a:lnTo>
                    <a:pt x="3581019" y="64897"/>
                  </a:lnTo>
                  <a:lnTo>
                    <a:pt x="3258693" y="35433"/>
                  </a:lnTo>
                  <a:lnTo>
                    <a:pt x="3036443" y="18034"/>
                  </a:lnTo>
                  <a:lnTo>
                    <a:pt x="2813558" y="3937"/>
                  </a:lnTo>
                  <a:lnTo>
                    <a:pt x="2737358" y="0"/>
                  </a:lnTo>
                  <a:lnTo>
                    <a:pt x="2280539" y="0"/>
                  </a:lnTo>
                  <a:lnTo>
                    <a:pt x="2382012" y="635"/>
                  </a:lnTo>
                  <a:lnTo>
                    <a:pt x="2486533" y="2794"/>
                  </a:lnTo>
                  <a:lnTo>
                    <a:pt x="2593594" y="6223"/>
                  </a:lnTo>
                  <a:lnTo>
                    <a:pt x="2812923" y="16510"/>
                  </a:lnTo>
                  <a:lnTo>
                    <a:pt x="3035681" y="30734"/>
                  </a:lnTo>
                  <a:lnTo>
                    <a:pt x="3257677" y="48133"/>
                  </a:lnTo>
                  <a:lnTo>
                    <a:pt x="3474593" y="67437"/>
                  </a:lnTo>
                  <a:lnTo>
                    <a:pt x="3875913" y="108585"/>
                  </a:lnTo>
                  <a:lnTo>
                    <a:pt x="4429125" y="175895"/>
                  </a:lnTo>
                  <a:lnTo>
                    <a:pt x="4435094" y="170307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278623" y="3627119"/>
              <a:ext cx="201295" cy="217804"/>
            </a:xfrm>
            <a:custGeom>
              <a:avLst/>
              <a:gdLst/>
              <a:ahLst/>
              <a:cxnLst/>
              <a:rect l="l" t="t" r="r" b="b"/>
              <a:pathLst>
                <a:path w="20129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3"/>
                  </a:lnTo>
                  <a:lnTo>
                    <a:pt x="201041" y="217423"/>
                  </a:lnTo>
                  <a:lnTo>
                    <a:pt x="20104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056120" y="3627119"/>
              <a:ext cx="644525" cy="217804"/>
            </a:xfrm>
            <a:custGeom>
              <a:avLst/>
              <a:gdLst/>
              <a:ahLst/>
              <a:cxnLst/>
              <a:rect l="l" t="t" r="r" b="b"/>
              <a:pathLst>
                <a:path w="64452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  <a:path w="644525" h="217804">
                  <a:moveTo>
                    <a:pt x="644525" y="0"/>
                  </a:moveTo>
                  <a:lnTo>
                    <a:pt x="443484" y="0"/>
                  </a:lnTo>
                  <a:lnTo>
                    <a:pt x="443484" y="217424"/>
                  </a:lnTo>
                  <a:lnTo>
                    <a:pt x="644525" y="217424"/>
                  </a:lnTo>
                  <a:lnTo>
                    <a:pt x="644525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833615" y="3627119"/>
              <a:ext cx="201295" cy="217804"/>
            </a:xfrm>
            <a:custGeom>
              <a:avLst/>
              <a:gdLst/>
              <a:ahLst/>
              <a:cxnLst/>
              <a:rect l="l" t="t" r="r" b="b"/>
              <a:pathLst>
                <a:path w="20129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3"/>
                  </a:lnTo>
                  <a:lnTo>
                    <a:pt x="201041" y="217423"/>
                  </a:lnTo>
                  <a:lnTo>
                    <a:pt x="20104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167627" y="3627119"/>
              <a:ext cx="201295" cy="217804"/>
            </a:xfrm>
            <a:custGeom>
              <a:avLst/>
              <a:gdLst/>
              <a:ahLst/>
              <a:cxnLst/>
              <a:rect l="l" t="t" r="r" b="b"/>
              <a:pathLst>
                <a:path w="201295" h="217804">
                  <a:moveTo>
                    <a:pt x="201040" y="0"/>
                  </a:moveTo>
                  <a:lnTo>
                    <a:pt x="0" y="0"/>
                  </a:lnTo>
                  <a:lnTo>
                    <a:pt x="0" y="217423"/>
                  </a:lnTo>
                  <a:lnTo>
                    <a:pt x="201040" y="217423"/>
                  </a:lnTo>
                  <a:lnTo>
                    <a:pt x="201040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946648" y="3627119"/>
              <a:ext cx="644525" cy="217804"/>
            </a:xfrm>
            <a:custGeom>
              <a:avLst/>
              <a:gdLst/>
              <a:ahLst/>
              <a:cxnLst/>
              <a:rect l="l" t="t" r="r" b="b"/>
              <a:pathLst>
                <a:path w="64452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  <a:path w="644525" h="217804">
                  <a:moveTo>
                    <a:pt x="644525" y="0"/>
                  </a:moveTo>
                  <a:lnTo>
                    <a:pt x="443484" y="0"/>
                  </a:lnTo>
                  <a:lnTo>
                    <a:pt x="443484" y="217424"/>
                  </a:lnTo>
                  <a:lnTo>
                    <a:pt x="644525" y="217424"/>
                  </a:lnTo>
                  <a:lnTo>
                    <a:pt x="6445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612623" y="3627119"/>
              <a:ext cx="1310640" cy="217804"/>
            </a:xfrm>
            <a:custGeom>
              <a:avLst/>
              <a:gdLst/>
              <a:ahLst/>
              <a:cxnLst/>
              <a:rect l="l" t="t" r="r" b="b"/>
              <a:pathLst>
                <a:path w="1310640" h="217804">
                  <a:moveTo>
                    <a:pt x="201053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53" y="217424"/>
                  </a:lnTo>
                  <a:lnTo>
                    <a:pt x="201053" y="0"/>
                  </a:lnTo>
                  <a:close/>
                </a:path>
                <a:path w="1310640" h="217804">
                  <a:moveTo>
                    <a:pt x="1310525" y="0"/>
                  </a:moveTo>
                  <a:lnTo>
                    <a:pt x="1109484" y="0"/>
                  </a:lnTo>
                  <a:lnTo>
                    <a:pt x="1109484" y="217424"/>
                  </a:lnTo>
                  <a:lnTo>
                    <a:pt x="1310525" y="217424"/>
                  </a:lnTo>
                  <a:lnTo>
                    <a:pt x="1310525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815457" y="3664838"/>
              <a:ext cx="131190" cy="12661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463040" y="3650487"/>
              <a:ext cx="4408170" cy="615315"/>
            </a:xfrm>
            <a:custGeom>
              <a:avLst/>
              <a:gdLst/>
              <a:ahLst/>
              <a:cxnLst/>
              <a:rect l="l" t="t" r="r" b="b"/>
              <a:pathLst>
                <a:path w="4408170" h="615314">
                  <a:moveTo>
                    <a:pt x="3028315" y="225552"/>
                  </a:moveTo>
                  <a:lnTo>
                    <a:pt x="2695829" y="216027"/>
                  </a:lnTo>
                  <a:lnTo>
                    <a:pt x="2499487" y="213233"/>
                  </a:lnTo>
                  <a:lnTo>
                    <a:pt x="2405253" y="212852"/>
                  </a:lnTo>
                  <a:lnTo>
                    <a:pt x="2227453" y="214630"/>
                  </a:lnTo>
                  <a:lnTo>
                    <a:pt x="2144522" y="216789"/>
                  </a:lnTo>
                  <a:lnTo>
                    <a:pt x="2066417" y="219964"/>
                  </a:lnTo>
                  <a:lnTo>
                    <a:pt x="1993646" y="224028"/>
                  </a:lnTo>
                  <a:lnTo>
                    <a:pt x="1855203" y="234569"/>
                  </a:lnTo>
                  <a:lnTo>
                    <a:pt x="1719326" y="247777"/>
                  </a:lnTo>
                  <a:lnTo>
                    <a:pt x="1586103" y="263271"/>
                  </a:lnTo>
                  <a:lnTo>
                    <a:pt x="1455039" y="281051"/>
                  </a:lnTo>
                  <a:lnTo>
                    <a:pt x="1326388" y="300736"/>
                  </a:lnTo>
                  <a:lnTo>
                    <a:pt x="1199515" y="322326"/>
                  </a:lnTo>
                  <a:lnTo>
                    <a:pt x="1074547" y="345567"/>
                  </a:lnTo>
                  <a:lnTo>
                    <a:pt x="950976" y="370332"/>
                  </a:lnTo>
                  <a:lnTo>
                    <a:pt x="708279" y="423799"/>
                  </a:lnTo>
                  <a:lnTo>
                    <a:pt x="469773" y="481330"/>
                  </a:lnTo>
                  <a:lnTo>
                    <a:pt x="0" y="602996"/>
                  </a:lnTo>
                  <a:lnTo>
                    <a:pt x="3302" y="615188"/>
                  </a:lnTo>
                  <a:lnTo>
                    <a:pt x="472821" y="493649"/>
                  </a:lnTo>
                  <a:lnTo>
                    <a:pt x="711200" y="436118"/>
                  </a:lnTo>
                  <a:lnTo>
                    <a:pt x="953643" y="382778"/>
                  </a:lnTo>
                  <a:lnTo>
                    <a:pt x="1076960" y="358013"/>
                  </a:lnTo>
                  <a:lnTo>
                    <a:pt x="1201928" y="334772"/>
                  </a:lnTo>
                  <a:lnTo>
                    <a:pt x="1328547" y="313182"/>
                  </a:lnTo>
                  <a:lnTo>
                    <a:pt x="1457071" y="293624"/>
                  </a:lnTo>
                  <a:lnTo>
                    <a:pt x="1587754" y="275844"/>
                  </a:lnTo>
                  <a:lnTo>
                    <a:pt x="1720850" y="260350"/>
                  </a:lnTo>
                  <a:lnTo>
                    <a:pt x="1856486" y="247269"/>
                  </a:lnTo>
                  <a:lnTo>
                    <a:pt x="1994662" y="236728"/>
                  </a:lnTo>
                  <a:lnTo>
                    <a:pt x="2067179" y="232537"/>
                  </a:lnTo>
                  <a:lnTo>
                    <a:pt x="2145030" y="229489"/>
                  </a:lnTo>
                  <a:lnTo>
                    <a:pt x="2227707" y="227203"/>
                  </a:lnTo>
                  <a:lnTo>
                    <a:pt x="3028315" y="225552"/>
                  </a:lnTo>
                  <a:close/>
                </a:path>
                <a:path w="4408170" h="615314">
                  <a:moveTo>
                    <a:pt x="4407535" y="81280"/>
                  </a:moveTo>
                  <a:lnTo>
                    <a:pt x="4402963" y="74549"/>
                  </a:lnTo>
                  <a:lnTo>
                    <a:pt x="3508629" y="20955"/>
                  </a:lnTo>
                  <a:lnTo>
                    <a:pt x="3094990" y="2667"/>
                  </a:lnTo>
                  <a:lnTo>
                    <a:pt x="3016250" y="0"/>
                  </a:lnTo>
                  <a:lnTo>
                    <a:pt x="2383155" y="0"/>
                  </a:lnTo>
                  <a:lnTo>
                    <a:pt x="2478786" y="381"/>
                  </a:lnTo>
                  <a:lnTo>
                    <a:pt x="2678049" y="3175"/>
                  </a:lnTo>
                  <a:lnTo>
                    <a:pt x="3094609" y="15367"/>
                  </a:lnTo>
                  <a:lnTo>
                    <a:pt x="3607181" y="38608"/>
                  </a:lnTo>
                  <a:lnTo>
                    <a:pt x="4402201" y="87249"/>
                  </a:lnTo>
                  <a:lnTo>
                    <a:pt x="4407535" y="81280"/>
                  </a:lnTo>
                  <a:close/>
                </a:path>
                <a:path w="4408170" h="615314">
                  <a:moveTo>
                    <a:pt x="4408043" y="75057"/>
                  </a:moveTo>
                  <a:lnTo>
                    <a:pt x="4402963" y="74549"/>
                  </a:lnTo>
                  <a:lnTo>
                    <a:pt x="4407662" y="81280"/>
                  </a:lnTo>
                  <a:lnTo>
                    <a:pt x="4408043" y="75057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056120" y="3898391"/>
              <a:ext cx="201295" cy="217804"/>
            </a:xfrm>
            <a:custGeom>
              <a:avLst/>
              <a:gdLst/>
              <a:ahLst/>
              <a:cxnLst/>
              <a:rect l="l" t="t" r="r" b="b"/>
              <a:pathLst>
                <a:path w="20129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3"/>
                  </a:lnTo>
                  <a:lnTo>
                    <a:pt x="201041" y="217423"/>
                  </a:lnTo>
                  <a:lnTo>
                    <a:pt x="20104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278624" y="3898391"/>
              <a:ext cx="422275" cy="217804"/>
            </a:xfrm>
            <a:custGeom>
              <a:avLst/>
              <a:gdLst/>
              <a:ahLst/>
              <a:cxnLst/>
              <a:rect l="l" t="t" r="r" b="b"/>
              <a:pathLst>
                <a:path w="42227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  <a:path w="422275" h="217804">
                  <a:moveTo>
                    <a:pt x="422021" y="0"/>
                  </a:moveTo>
                  <a:lnTo>
                    <a:pt x="220980" y="0"/>
                  </a:lnTo>
                  <a:lnTo>
                    <a:pt x="220980" y="217424"/>
                  </a:lnTo>
                  <a:lnTo>
                    <a:pt x="422021" y="217424"/>
                  </a:lnTo>
                  <a:lnTo>
                    <a:pt x="422021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612623" y="3898391"/>
              <a:ext cx="422275" cy="217804"/>
            </a:xfrm>
            <a:custGeom>
              <a:avLst/>
              <a:gdLst/>
              <a:ahLst/>
              <a:cxnLst/>
              <a:rect l="l" t="t" r="r" b="b"/>
              <a:pathLst>
                <a:path w="422275" h="217804">
                  <a:moveTo>
                    <a:pt x="201053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53" y="217424"/>
                  </a:lnTo>
                  <a:lnTo>
                    <a:pt x="201053" y="0"/>
                  </a:lnTo>
                  <a:close/>
                </a:path>
                <a:path w="422275" h="217804">
                  <a:moveTo>
                    <a:pt x="422033" y="0"/>
                  </a:moveTo>
                  <a:lnTo>
                    <a:pt x="220992" y="0"/>
                  </a:lnTo>
                  <a:lnTo>
                    <a:pt x="220992" y="217424"/>
                  </a:lnTo>
                  <a:lnTo>
                    <a:pt x="422033" y="217424"/>
                  </a:lnTo>
                  <a:lnTo>
                    <a:pt x="42203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167627" y="3898391"/>
              <a:ext cx="201295" cy="217804"/>
            </a:xfrm>
            <a:custGeom>
              <a:avLst/>
              <a:gdLst/>
              <a:ahLst/>
              <a:cxnLst/>
              <a:rect l="l" t="t" r="r" b="b"/>
              <a:pathLst>
                <a:path w="201295" h="217804">
                  <a:moveTo>
                    <a:pt x="201040" y="0"/>
                  </a:moveTo>
                  <a:lnTo>
                    <a:pt x="0" y="0"/>
                  </a:lnTo>
                  <a:lnTo>
                    <a:pt x="0" y="217423"/>
                  </a:lnTo>
                  <a:lnTo>
                    <a:pt x="201040" y="217423"/>
                  </a:lnTo>
                  <a:lnTo>
                    <a:pt x="201040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46647" y="3898391"/>
              <a:ext cx="201295" cy="217804"/>
            </a:xfrm>
            <a:custGeom>
              <a:avLst/>
              <a:gdLst/>
              <a:ahLst/>
              <a:cxnLst/>
              <a:rect l="l" t="t" r="r" b="b"/>
              <a:pathLst>
                <a:path w="201295" h="217804">
                  <a:moveTo>
                    <a:pt x="201040" y="0"/>
                  </a:moveTo>
                  <a:lnTo>
                    <a:pt x="0" y="0"/>
                  </a:lnTo>
                  <a:lnTo>
                    <a:pt x="0" y="217423"/>
                  </a:lnTo>
                  <a:lnTo>
                    <a:pt x="201040" y="217423"/>
                  </a:lnTo>
                  <a:lnTo>
                    <a:pt x="20104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390132" y="3898391"/>
              <a:ext cx="1533525" cy="217804"/>
            </a:xfrm>
            <a:custGeom>
              <a:avLst/>
              <a:gdLst/>
              <a:ahLst/>
              <a:cxnLst/>
              <a:rect l="l" t="t" r="r" b="b"/>
              <a:pathLst>
                <a:path w="153352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  <a:path w="1533525" h="217804">
                  <a:moveTo>
                    <a:pt x="1533017" y="0"/>
                  </a:moveTo>
                  <a:lnTo>
                    <a:pt x="1331976" y="0"/>
                  </a:lnTo>
                  <a:lnTo>
                    <a:pt x="1331976" y="217424"/>
                  </a:lnTo>
                  <a:lnTo>
                    <a:pt x="1533017" y="217424"/>
                  </a:lnTo>
                  <a:lnTo>
                    <a:pt x="1533017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743456" y="3876039"/>
              <a:ext cx="4192270" cy="584200"/>
            </a:xfrm>
            <a:custGeom>
              <a:avLst/>
              <a:gdLst/>
              <a:ahLst/>
              <a:cxnLst/>
              <a:rect l="l" t="t" r="r" b="b"/>
              <a:pathLst>
                <a:path w="4192270" h="584200">
                  <a:moveTo>
                    <a:pt x="3070479" y="359410"/>
                  </a:moveTo>
                  <a:lnTo>
                    <a:pt x="2538730" y="348615"/>
                  </a:lnTo>
                  <a:lnTo>
                    <a:pt x="2265299" y="346837"/>
                  </a:lnTo>
                  <a:lnTo>
                    <a:pt x="2097532" y="347853"/>
                  </a:lnTo>
                  <a:lnTo>
                    <a:pt x="1946021" y="350901"/>
                  </a:lnTo>
                  <a:lnTo>
                    <a:pt x="1877441" y="353314"/>
                  </a:lnTo>
                  <a:lnTo>
                    <a:pt x="1747139" y="359283"/>
                  </a:lnTo>
                  <a:lnTo>
                    <a:pt x="1619250" y="366903"/>
                  </a:lnTo>
                  <a:lnTo>
                    <a:pt x="1493774" y="375920"/>
                  </a:lnTo>
                  <a:lnTo>
                    <a:pt x="1370457" y="386207"/>
                  </a:lnTo>
                  <a:lnTo>
                    <a:pt x="1129665" y="409956"/>
                  </a:lnTo>
                  <a:lnTo>
                    <a:pt x="895731" y="437642"/>
                  </a:lnTo>
                  <a:lnTo>
                    <a:pt x="666877" y="468503"/>
                  </a:lnTo>
                  <a:lnTo>
                    <a:pt x="442341" y="501650"/>
                  </a:lnTo>
                  <a:lnTo>
                    <a:pt x="0" y="571754"/>
                  </a:lnTo>
                  <a:lnTo>
                    <a:pt x="2032" y="584200"/>
                  </a:lnTo>
                  <a:lnTo>
                    <a:pt x="444373" y="514223"/>
                  </a:lnTo>
                  <a:lnTo>
                    <a:pt x="668782" y="481076"/>
                  </a:lnTo>
                  <a:lnTo>
                    <a:pt x="897382" y="450215"/>
                  </a:lnTo>
                  <a:lnTo>
                    <a:pt x="1131189" y="422529"/>
                  </a:lnTo>
                  <a:lnTo>
                    <a:pt x="1371600" y="398780"/>
                  </a:lnTo>
                  <a:lnTo>
                    <a:pt x="1494790" y="388493"/>
                  </a:lnTo>
                  <a:lnTo>
                    <a:pt x="1620139" y="379603"/>
                  </a:lnTo>
                  <a:lnTo>
                    <a:pt x="1747774" y="371983"/>
                  </a:lnTo>
                  <a:lnTo>
                    <a:pt x="1878076" y="365887"/>
                  </a:lnTo>
                  <a:lnTo>
                    <a:pt x="1946402" y="363474"/>
                  </a:lnTo>
                  <a:lnTo>
                    <a:pt x="2097659" y="360426"/>
                  </a:lnTo>
                  <a:lnTo>
                    <a:pt x="3070479" y="359410"/>
                  </a:lnTo>
                  <a:close/>
                </a:path>
                <a:path w="4192270" h="584200">
                  <a:moveTo>
                    <a:pt x="4189857" y="87630"/>
                  </a:moveTo>
                  <a:lnTo>
                    <a:pt x="4115562" y="87630"/>
                  </a:lnTo>
                  <a:lnTo>
                    <a:pt x="4110228" y="87630"/>
                  </a:lnTo>
                  <a:lnTo>
                    <a:pt x="4060698" y="140843"/>
                  </a:lnTo>
                  <a:lnTo>
                    <a:pt x="4189857" y="87630"/>
                  </a:lnTo>
                  <a:close/>
                </a:path>
                <a:path w="4192270" h="584200">
                  <a:moveTo>
                    <a:pt x="4192016" y="86614"/>
                  </a:moveTo>
                  <a:lnTo>
                    <a:pt x="4069969" y="14224"/>
                  </a:lnTo>
                  <a:lnTo>
                    <a:pt x="4111498" y="74549"/>
                  </a:lnTo>
                  <a:lnTo>
                    <a:pt x="4116006" y="81064"/>
                  </a:lnTo>
                  <a:lnTo>
                    <a:pt x="4111498" y="74549"/>
                  </a:lnTo>
                  <a:lnTo>
                    <a:pt x="3330194" y="26035"/>
                  </a:lnTo>
                  <a:lnTo>
                    <a:pt x="2825496" y="2667"/>
                  </a:lnTo>
                  <a:lnTo>
                    <a:pt x="2747899" y="0"/>
                  </a:lnTo>
                  <a:lnTo>
                    <a:pt x="2124964" y="0"/>
                  </a:lnTo>
                  <a:lnTo>
                    <a:pt x="2219071" y="381"/>
                  </a:lnTo>
                  <a:lnTo>
                    <a:pt x="2415159" y="3175"/>
                  </a:lnTo>
                  <a:lnTo>
                    <a:pt x="2825115" y="15367"/>
                  </a:lnTo>
                  <a:lnTo>
                    <a:pt x="3329559" y="38608"/>
                  </a:lnTo>
                  <a:lnTo>
                    <a:pt x="4110482" y="87249"/>
                  </a:lnTo>
                  <a:lnTo>
                    <a:pt x="4115993" y="81229"/>
                  </a:lnTo>
                  <a:lnTo>
                    <a:pt x="4115993" y="81356"/>
                  </a:lnTo>
                  <a:lnTo>
                    <a:pt x="4110482" y="87249"/>
                  </a:lnTo>
                  <a:lnTo>
                    <a:pt x="4115562" y="87630"/>
                  </a:lnTo>
                  <a:lnTo>
                    <a:pt x="4115587" y="87249"/>
                  </a:lnTo>
                  <a:lnTo>
                    <a:pt x="4190746" y="87249"/>
                  </a:lnTo>
                  <a:lnTo>
                    <a:pt x="4192016" y="86614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499603" y="4168139"/>
              <a:ext cx="201295" cy="217804"/>
            </a:xfrm>
            <a:custGeom>
              <a:avLst/>
              <a:gdLst/>
              <a:ahLst/>
              <a:cxnLst/>
              <a:rect l="l" t="t" r="r" b="b"/>
              <a:pathLst>
                <a:path w="20129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056120" y="4168139"/>
              <a:ext cx="423545" cy="217804"/>
            </a:xfrm>
            <a:custGeom>
              <a:avLst/>
              <a:gdLst/>
              <a:ahLst/>
              <a:cxnLst/>
              <a:rect l="l" t="t" r="r" b="b"/>
              <a:pathLst>
                <a:path w="42354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  <a:path w="423545" h="217804">
                  <a:moveTo>
                    <a:pt x="423545" y="0"/>
                  </a:moveTo>
                  <a:lnTo>
                    <a:pt x="222504" y="0"/>
                  </a:lnTo>
                  <a:lnTo>
                    <a:pt x="222504" y="217424"/>
                  </a:lnTo>
                  <a:lnTo>
                    <a:pt x="423545" y="217424"/>
                  </a:lnTo>
                  <a:lnTo>
                    <a:pt x="423545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833615" y="4168139"/>
              <a:ext cx="201295" cy="217804"/>
            </a:xfrm>
            <a:custGeom>
              <a:avLst/>
              <a:gdLst/>
              <a:ahLst/>
              <a:cxnLst/>
              <a:rect l="l" t="t" r="r" b="b"/>
              <a:pathLst>
                <a:path w="20129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167627" y="4168139"/>
              <a:ext cx="201295" cy="217804"/>
            </a:xfrm>
            <a:custGeom>
              <a:avLst/>
              <a:gdLst/>
              <a:ahLst/>
              <a:cxnLst/>
              <a:rect l="l" t="t" r="r" b="b"/>
              <a:pathLst>
                <a:path w="201295" h="217804">
                  <a:moveTo>
                    <a:pt x="201040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0" y="217424"/>
                  </a:lnTo>
                  <a:lnTo>
                    <a:pt x="201040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946648" y="4168139"/>
              <a:ext cx="644525" cy="217804"/>
            </a:xfrm>
            <a:custGeom>
              <a:avLst/>
              <a:gdLst/>
              <a:ahLst/>
              <a:cxnLst/>
              <a:rect l="l" t="t" r="r" b="b"/>
              <a:pathLst>
                <a:path w="644525" h="217804">
                  <a:moveTo>
                    <a:pt x="201041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41" y="217424"/>
                  </a:lnTo>
                  <a:lnTo>
                    <a:pt x="201041" y="0"/>
                  </a:lnTo>
                  <a:close/>
                </a:path>
                <a:path w="644525" h="217804">
                  <a:moveTo>
                    <a:pt x="644525" y="0"/>
                  </a:moveTo>
                  <a:lnTo>
                    <a:pt x="443484" y="0"/>
                  </a:lnTo>
                  <a:lnTo>
                    <a:pt x="443484" y="217424"/>
                  </a:lnTo>
                  <a:lnTo>
                    <a:pt x="644525" y="217424"/>
                  </a:lnTo>
                  <a:lnTo>
                    <a:pt x="6445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612623" y="4168139"/>
              <a:ext cx="1310640" cy="217804"/>
            </a:xfrm>
            <a:custGeom>
              <a:avLst/>
              <a:gdLst/>
              <a:ahLst/>
              <a:cxnLst/>
              <a:rect l="l" t="t" r="r" b="b"/>
              <a:pathLst>
                <a:path w="1310640" h="217804">
                  <a:moveTo>
                    <a:pt x="201053" y="0"/>
                  </a:moveTo>
                  <a:lnTo>
                    <a:pt x="0" y="0"/>
                  </a:lnTo>
                  <a:lnTo>
                    <a:pt x="0" y="217424"/>
                  </a:lnTo>
                  <a:lnTo>
                    <a:pt x="201053" y="217424"/>
                  </a:lnTo>
                  <a:lnTo>
                    <a:pt x="201053" y="0"/>
                  </a:lnTo>
                  <a:close/>
                </a:path>
                <a:path w="1310640" h="217804">
                  <a:moveTo>
                    <a:pt x="1310525" y="0"/>
                  </a:moveTo>
                  <a:lnTo>
                    <a:pt x="1109484" y="0"/>
                  </a:lnTo>
                  <a:lnTo>
                    <a:pt x="1109484" y="217424"/>
                  </a:lnTo>
                  <a:lnTo>
                    <a:pt x="1310525" y="217424"/>
                  </a:lnTo>
                  <a:lnTo>
                    <a:pt x="1310525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825871" y="4213859"/>
              <a:ext cx="129793" cy="1264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008755" y="4235449"/>
              <a:ext cx="1871345" cy="50165"/>
            </a:xfrm>
            <a:custGeom>
              <a:avLst/>
              <a:gdLst/>
              <a:ahLst/>
              <a:cxnLst/>
              <a:rect l="l" t="t" r="r" b="b"/>
              <a:pathLst>
                <a:path w="1871345" h="50164">
                  <a:moveTo>
                    <a:pt x="1871091" y="37719"/>
                  </a:moveTo>
                  <a:lnTo>
                    <a:pt x="1866011" y="37465"/>
                  </a:lnTo>
                  <a:lnTo>
                    <a:pt x="805180" y="0"/>
                  </a:lnTo>
                  <a:lnTo>
                    <a:pt x="0" y="0"/>
                  </a:lnTo>
                  <a:lnTo>
                    <a:pt x="273304" y="1778"/>
                  </a:lnTo>
                  <a:lnTo>
                    <a:pt x="853186" y="13843"/>
                  </a:lnTo>
                  <a:lnTo>
                    <a:pt x="1865503" y="50038"/>
                  </a:lnTo>
                  <a:lnTo>
                    <a:pt x="1870837" y="43942"/>
                  </a:lnTo>
                  <a:lnTo>
                    <a:pt x="1871091" y="3771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/>
          <p:nvPr/>
        </p:nvSpPr>
        <p:spPr>
          <a:xfrm>
            <a:off x="8165592" y="5169408"/>
            <a:ext cx="201295" cy="217804"/>
          </a:xfrm>
          <a:custGeom>
            <a:avLst/>
            <a:gdLst/>
            <a:ahLst/>
            <a:cxnLst/>
            <a:rect l="l" t="t" r="r" b="b"/>
            <a:pathLst>
              <a:path w="201295" h="217804">
                <a:moveTo>
                  <a:pt x="201041" y="0"/>
                </a:moveTo>
                <a:lnTo>
                  <a:pt x="0" y="0"/>
                </a:lnTo>
                <a:lnTo>
                  <a:pt x="0" y="217424"/>
                </a:lnTo>
                <a:lnTo>
                  <a:pt x="201041" y="217424"/>
                </a:lnTo>
                <a:lnTo>
                  <a:pt x="201041" y="0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976616" y="5265420"/>
            <a:ext cx="135255" cy="27305"/>
          </a:xfrm>
          <a:custGeom>
            <a:avLst/>
            <a:gdLst/>
            <a:ahLst/>
            <a:cxnLst/>
            <a:rect l="l" t="t" r="r" b="b"/>
            <a:pathLst>
              <a:path w="135254" h="27304">
                <a:moveTo>
                  <a:pt x="24003" y="5969"/>
                </a:moveTo>
                <a:lnTo>
                  <a:pt x="18669" y="0"/>
                </a:lnTo>
                <a:lnTo>
                  <a:pt x="5334" y="0"/>
                </a:lnTo>
                <a:lnTo>
                  <a:pt x="0" y="5969"/>
                </a:lnTo>
                <a:lnTo>
                  <a:pt x="0" y="20955"/>
                </a:lnTo>
                <a:lnTo>
                  <a:pt x="5334" y="26924"/>
                </a:lnTo>
                <a:lnTo>
                  <a:pt x="18669" y="26924"/>
                </a:lnTo>
                <a:lnTo>
                  <a:pt x="24003" y="20955"/>
                </a:lnTo>
                <a:lnTo>
                  <a:pt x="24003" y="5969"/>
                </a:lnTo>
                <a:close/>
              </a:path>
              <a:path w="135254" h="27304">
                <a:moveTo>
                  <a:pt x="80391" y="5969"/>
                </a:moveTo>
                <a:lnTo>
                  <a:pt x="75057" y="0"/>
                </a:lnTo>
                <a:lnTo>
                  <a:pt x="61722" y="0"/>
                </a:lnTo>
                <a:lnTo>
                  <a:pt x="56388" y="5969"/>
                </a:lnTo>
                <a:lnTo>
                  <a:pt x="56388" y="20955"/>
                </a:lnTo>
                <a:lnTo>
                  <a:pt x="61722" y="26924"/>
                </a:lnTo>
                <a:lnTo>
                  <a:pt x="75057" y="26924"/>
                </a:lnTo>
                <a:lnTo>
                  <a:pt x="80391" y="20955"/>
                </a:lnTo>
                <a:lnTo>
                  <a:pt x="80391" y="5969"/>
                </a:lnTo>
                <a:close/>
              </a:path>
              <a:path w="135254" h="27304">
                <a:moveTo>
                  <a:pt x="135255" y="5969"/>
                </a:moveTo>
                <a:lnTo>
                  <a:pt x="129921" y="0"/>
                </a:lnTo>
                <a:lnTo>
                  <a:pt x="116586" y="0"/>
                </a:lnTo>
                <a:lnTo>
                  <a:pt x="111252" y="5969"/>
                </a:lnTo>
                <a:lnTo>
                  <a:pt x="111252" y="20955"/>
                </a:lnTo>
                <a:lnTo>
                  <a:pt x="116586" y="26924"/>
                </a:lnTo>
                <a:lnTo>
                  <a:pt x="129921" y="26924"/>
                </a:lnTo>
                <a:lnTo>
                  <a:pt x="135255" y="20955"/>
                </a:lnTo>
                <a:lnTo>
                  <a:pt x="135255" y="5969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957315" y="5597652"/>
            <a:ext cx="2409190" cy="307975"/>
          </a:xfrm>
          <a:custGeom>
            <a:avLst/>
            <a:gdLst/>
            <a:ahLst/>
            <a:cxnLst/>
            <a:rect l="l" t="t" r="r" b="b"/>
            <a:pathLst>
              <a:path w="2409190" h="307975">
                <a:moveTo>
                  <a:pt x="2409063" y="0"/>
                </a:moveTo>
                <a:lnTo>
                  <a:pt x="2403602" y="48628"/>
                </a:lnTo>
                <a:lnTo>
                  <a:pt x="2388235" y="90868"/>
                </a:lnTo>
                <a:lnTo>
                  <a:pt x="2364866" y="124180"/>
                </a:lnTo>
                <a:lnTo>
                  <a:pt x="2301113" y="153860"/>
                </a:lnTo>
                <a:lnTo>
                  <a:pt x="1312417" y="153860"/>
                </a:lnTo>
                <a:lnTo>
                  <a:pt x="1278382" y="161709"/>
                </a:lnTo>
                <a:lnTo>
                  <a:pt x="1248790" y="183540"/>
                </a:lnTo>
                <a:lnTo>
                  <a:pt x="1225423" y="216852"/>
                </a:lnTo>
                <a:lnTo>
                  <a:pt x="1210056" y="259092"/>
                </a:lnTo>
                <a:lnTo>
                  <a:pt x="1204467" y="307721"/>
                </a:lnTo>
                <a:lnTo>
                  <a:pt x="1199007" y="259092"/>
                </a:lnTo>
                <a:lnTo>
                  <a:pt x="1183639" y="216852"/>
                </a:lnTo>
                <a:lnTo>
                  <a:pt x="1160272" y="183540"/>
                </a:lnTo>
                <a:lnTo>
                  <a:pt x="1130681" y="161709"/>
                </a:lnTo>
                <a:lnTo>
                  <a:pt x="1096644" y="153860"/>
                </a:lnTo>
                <a:lnTo>
                  <a:pt x="107950" y="153860"/>
                </a:lnTo>
                <a:lnTo>
                  <a:pt x="73787" y="146011"/>
                </a:lnTo>
                <a:lnTo>
                  <a:pt x="44196" y="124180"/>
                </a:lnTo>
                <a:lnTo>
                  <a:pt x="20828" y="90868"/>
                </a:lnTo>
                <a:lnTo>
                  <a:pt x="5461" y="48628"/>
                </a:lnTo>
                <a:lnTo>
                  <a:pt x="0" y="0"/>
                </a:lnTo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1785" y="383794"/>
            <a:ext cx="27749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FFC000"/>
                </a:solidFill>
              </a:rPr>
              <a:t>One-hot</a:t>
            </a:r>
            <a:r>
              <a:rPr spc="-125" dirty="0">
                <a:solidFill>
                  <a:srgbClr val="FFC000"/>
                </a:solidFill>
              </a:rPr>
              <a:t> </a:t>
            </a:r>
            <a:r>
              <a:rPr dirty="0">
                <a:solidFill>
                  <a:srgbClr val="FFC000"/>
                </a:solidFill>
              </a:rPr>
              <a:t>Vector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998" y="1145870"/>
            <a:ext cx="7833995" cy="1889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For the </a:t>
            </a:r>
            <a:r>
              <a:rPr sz="1800" b="1" spc="-5" dirty="0">
                <a:latin typeface="Arial"/>
                <a:cs typeface="Arial"/>
              </a:rPr>
              <a:t>purposes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-5" dirty="0">
                <a:latin typeface="Arial"/>
                <a:cs typeface="Arial"/>
              </a:rPr>
              <a:t>training, </a:t>
            </a:r>
            <a:r>
              <a:rPr sz="1800" b="1" spc="20" dirty="0">
                <a:latin typeface="Arial"/>
                <a:cs typeface="Arial"/>
              </a:rPr>
              <a:t>we </a:t>
            </a:r>
            <a:r>
              <a:rPr sz="1800" b="1" spc="-10" dirty="0">
                <a:latin typeface="Arial"/>
                <a:cs typeface="Arial"/>
              </a:rPr>
              <a:t>set </a:t>
            </a:r>
            <a:r>
              <a:rPr sz="1800" b="1" dirty="0">
                <a:latin typeface="Arial"/>
                <a:cs typeface="Arial"/>
              </a:rPr>
              <a:t>y </a:t>
            </a:r>
            <a:r>
              <a:rPr sz="1800" b="1" spc="-5" dirty="0">
                <a:latin typeface="Arial"/>
                <a:cs typeface="Arial"/>
              </a:rPr>
              <a:t>(which </a:t>
            </a:r>
            <a:r>
              <a:rPr sz="1800" b="1" dirty="0">
                <a:latin typeface="Arial"/>
                <a:cs typeface="Arial"/>
              </a:rPr>
              <a:t>is the </a:t>
            </a:r>
            <a:r>
              <a:rPr sz="1800" b="1" spc="-5" dirty="0">
                <a:latin typeface="Arial"/>
                <a:cs typeface="Arial"/>
              </a:rPr>
              <a:t>label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20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one</a:t>
            </a:r>
            <a:endParaRPr sz="18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picture) as </a:t>
            </a:r>
            <a:r>
              <a:rPr sz="1800" b="1" dirty="0">
                <a:latin typeface="Arial"/>
                <a:cs typeface="Arial"/>
              </a:rPr>
              <a:t>"one-hot</a:t>
            </a:r>
            <a:r>
              <a:rPr sz="1800" b="1" spc="-17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vectors“.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A </a:t>
            </a:r>
            <a:r>
              <a:rPr sz="1800" b="1" dirty="0">
                <a:latin typeface="Arial"/>
                <a:cs typeface="Arial"/>
              </a:rPr>
              <a:t>one-hot </a:t>
            </a:r>
            <a:r>
              <a:rPr sz="1800" b="1" spc="-20" dirty="0">
                <a:latin typeface="Arial"/>
                <a:cs typeface="Arial"/>
              </a:rPr>
              <a:t>vector </a:t>
            </a:r>
            <a:r>
              <a:rPr sz="1800" b="1" spc="-5" dirty="0">
                <a:latin typeface="Arial"/>
                <a:cs typeface="Arial"/>
              </a:rPr>
              <a:t>is a </a:t>
            </a:r>
            <a:r>
              <a:rPr sz="1800" b="1" spc="-25" dirty="0">
                <a:latin typeface="Arial"/>
                <a:cs typeface="Arial"/>
              </a:rPr>
              <a:t>vector </a:t>
            </a:r>
            <a:r>
              <a:rPr sz="1800" b="1" spc="-5" dirty="0">
                <a:latin typeface="Arial"/>
                <a:cs typeface="Arial"/>
              </a:rPr>
              <a:t>has </a:t>
            </a:r>
            <a:r>
              <a:rPr sz="1800" b="1" dirty="0">
                <a:latin typeface="Arial"/>
                <a:cs typeface="Arial"/>
              </a:rPr>
              <a:t>one </a:t>
            </a:r>
            <a:r>
              <a:rPr sz="1800" b="1" spc="-5" dirty="0">
                <a:latin typeface="Arial"/>
                <a:cs typeface="Arial"/>
              </a:rPr>
              <a:t>entry as 1, all </a:t>
            </a:r>
            <a:r>
              <a:rPr sz="1800" b="1" dirty="0">
                <a:latin typeface="Arial"/>
                <a:cs typeface="Arial"/>
              </a:rPr>
              <a:t>other </a:t>
            </a:r>
            <a:r>
              <a:rPr sz="1800" b="1" spc="-5" dirty="0">
                <a:latin typeface="Arial"/>
                <a:cs typeface="Arial"/>
              </a:rPr>
              <a:t>entries as</a:t>
            </a:r>
            <a:r>
              <a:rPr sz="1800" b="1" spc="28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0.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0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10" dirty="0">
                <a:latin typeface="Arial"/>
                <a:cs typeface="Arial"/>
              </a:rPr>
              <a:t>How </a:t>
            </a:r>
            <a:r>
              <a:rPr sz="1800" b="1" dirty="0">
                <a:latin typeface="Arial"/>
                <a:cs typeface="Arial"/>
              </a:rPr>
              <a:t>to </a:t>
            </a:r>
            <a:r>
              <a:rPr sz="1800" b="1" spc="-5" dirty="0">
                <a:latin typeface="Arial"/>
                <a:cs typeface="Arial"/>
              </a:rPr>
              <a:t>label an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“8”?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00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[</a:t>
            </a:r>
            <a:r>
              <a:rPr sz="1800" spc="-2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800" spc="-2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spc="-2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800" spc="-2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spc="-2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800" spc="-2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spc="-2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800" spc="-2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spc="-2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800" spc="-2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spc="-2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800" spc="-2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spc="-2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800" spc="-2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spc="-2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800" spc="-2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spc="-2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800" spc="-2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spc="-2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800" spc="-2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]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What </a:t>
            </a:r>
            <a:r>
              <a:rPr sz="1800" b="1" spc="-5" dirty="0">
                <a:latin typeface="Arial"/>
                <a:cs typeface="Arial"/>
              </a:rPr>
              <a:t>is </a:t>
            </a: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dimension of </a:t>
            </a:r>
            <a:r>
              <a:rPr sz="1800" b="1" dirty="0">
                <a:latin typeface="Arial"/>
                <a:cs typeface="Arial"/>
              </a:rPr>
              <a:t>our </a:t>
            </a:r>
            <a:r>
              <a:rPr sz="1800" b="1" spc="-10" dirty="0">
                <a:latin typeface="Arial"/>
                <a:cs typeface="Arial"/>
              </a:rPr>
              <a:t>y's</a:t>
            </a:r>
            <a:r>
              <a:rPr sz="1800" b="1" spc="-5" dirty="0">
                <a:latin typeface="Arial"/>
                <a:cs typeface="Arial"/>
              </a:rPr>
              <a:t> matrix?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7928" y="4463034"/>
            <a:ext cx="645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C00000"/>
                </a:solidFill>
                <a:latin typeface="Arial"/>
                <a:cs typeface="Arial"/>
              </a:rPr>
              <a:t>60,000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6589" y="6187541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C00000"/>
                </a:solidFill>
                <a:latin typeface="Arial"/>
                <a:cs typeface="Arial"/>
              </a:rPr>
              <a:t>10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919345" y="3549903"/>
          <a:ext cx="2857500" cy="15646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0985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2075" algn="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R="92075" algn="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207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207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984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207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207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245097" y="5163058"/>
            <a:ext cx="2311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170" dirty="0">
                <a:latin typeface="Arial"/>
                <a:cs typeface="Arial"/>
              </a:rPr>
              <a:t>...</a:t>
            </a:r>
            <a:r>
              <a:rPr sz="1000" b="1" spc="-15" dirty="0">
                <a:latin typeface="Arial"/>
                <a:cs typeface="Arial"/>
              </a:rPr>
              <a:t> 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919345" y="5377053"/>
          <a:ext cx="2857500" cy="260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4632959" y="3563111"/>
            <a:ext cx="202565" cy="2087880"/>
          </a:xfrm>
          <a:custGeom>
            <a:avLst/>
            <a:gdLst/>
            <a:ahLst/>
            <a:cxnLst/>
            <a:rect l="l" t="t" r="r" b="b"/>
            <a:pathLst>
              <a:path w="202564" h="2087879">
                <a:moveTo>
                  <a:pt x="202184" y="0"/>
                </a:moveTo>
                <a:lnTo>
                  <a:pt x="0" y="0"/>
                </a:lnTo>
                <a:lnTo>
                  <a:pt x="0" y="2087879"/>
                </a:lnTo>
                <a:lnTo>
                  <a:pt x="202184" y="208787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5176" y="3563111"/>
            <a:ext cx="155575" cy="2087880"/>
          </a:xfrm>
          <a:custGeom>
            <a:avLst/>
            <a:gdLst/>
            <a:ahLst/>
            <a:cxnLst/>
            <a:rect l="l" t="t" r="r" b="b"/>
            <a:pathLst>
              <a:path w="155575" h="2087879">
                <a:moveTo>
                  <a:pt x="0" y="0"/>
                </a:moveTo>
                <a:lnTo>
                  <a:pt x="155321" y="0"/>
                </a:lnTo>
                <a:lnTo>
                  <a:pt x="155321" y="2087879"/>
                </a:lnTo>
                <a:lnTo>
                  <a:pt x="0" y="208787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33950" y="5839205"/>
            <a:ext cx="2857500" cy="307975"/>
          </a:xfrm>
          <a:custGeom>
            <a:avLst/>
            <a:gdLst/>
            <a:ahLst/>
            <a:cxnLst/>
            <a:rect l="l" t="t" r="r" b="b"/>
            <a:pathLst>
              <a:path w="2857500" h="307975">
                <a:moveTo>
                  <a:pt x="2857500" y="0"/>
                </a:moveTo>
                <a:lnTo>
                  <a:pt x="2852039" y="48628"/>
                </a:lnTo>
                <a:lnTo>
                  <a:pt x="2836672" y="90868"/>
                </a:lnTo>
                <a:lnTo>
                  <a:pt x="2813304" y="124167"/>
                </a:lnTo>
                <a:lnTo>
                  <a:pt x="2749550" y="153860"/>
                </a:lnTo>
                <a:lnTo>
                  <a:pt x="1536700" y="153860"/>
                </a:lnTo>
                <a:lnTo>
                  <a:pt x="1502664" y="161709"/>
                </a:lnTo>
                <a:lnTo>
                  <a:pt x="1472946" y="183540"/>
                </a:lnTo>
                <a:lnTo>
                  <a:pt x="1449577" y="216852"/>
                </a:lnTo>
                <a:lnTo>
                  <a:pt x="1434211" y="259092"/>
                </a:lnTo>
                <a:lnTo>
                  <a:pt x="1428750" y="307721"/>
                </a:lnTo>
                <a:lnTo>
                  <a:pt x="1423289" y="259092"/>
                </a:lnTo>
                <a:lnTo>
                  <a:pt x="1407922" y="216852"/>
                </a:lnTo>
                <a:lnTo>
                  <a:pt x="1384553" y="183540"/>
                </a:lnTo>
                <a:lnTo>
                  <a:pt x="1354836" y="161709"/>
                </a:lnTo>
                <a:lnTo>
                  <a:pt x="1320800" y="153860"/>
                </a:lnTo>
                <a:lnTo>
                  <a:pt x="107950" y="153860"/>
                </a:lnTo>
                <a:lnTo>
                  <a:pt x="73913" y="146011"/>
                </a:lnTo>
                <a:lnTo>
                  <a:pt x="44196" y="124167"/>
                </a:lnTo>
                <a:lnTo>
                  <a:pt x="20827" y="90868"/>
                </a:lnTo>
                <a:lnTo>
                  <a:pt x="5461" y="48628"/>
                </a:lnTo>
                <a:lnTo>
                  <a:pt x="0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85665" y="3565397"/>
            <a:ext cx="289560" cy="2087880"/>
          </a:xfrm>
          <a:custGeom>
            <a:avLst/>
            <a:gdLst/>
            <a:ahLst/>
            <a:cxnLst/>
            <a:rect l="l" t="t" r="r" b="b"/>
            <a:pathLst>
              <a:path w="289560" h="2087879">
                <a:moveTo>
                  <a:pt x="289306" y="2087626"/>
                </a:moveTo>
                <a:lnTo>
                  <a:pt x="233045" y="2079688"/>
                </a:lnTo>
                <a:lnTo>
                  <a:pt x="187071" y="2058022"/>
                </a:lnTo>
                <a:lnTo>
                  <a:pt x="156083" y="2025916"/>
                </a:lnTo>
                <a:lnTo>
                  <a:pt x="144653" y="1986661"/>
                </a:lnTo>
                <a:lnTo>
                  <a:pt x="144653" y="1144777"/>
                </a:lnTo>
                <a:lnTo>
                  <a:pt x="133223" y="1105534"/>
                </a:lnTo>
                <a:lnTo>
                  <a:pt x="102235" y="1073403"/>
                </a:lnTo>
                <a:lnTo>
                  <a:pt x="56261" y="1051814"/>
                </a:lnTo>
                <a:lnTo>
                  <a:pt x="0" y="1043813"/>
                </a:lnTo>
                <a:lnTo>
                  <a:pt x="56261" y="1035812"/>
                </a:lnTo>
                <a:lnTo>
                  <a:pt x="102235" y="1014221"/>
                </a:lnTo>
                <a:lnTo>
                  <a:pt x="133223" y="982090"/>
                </a:lnTo>
                <a:lnTo>
                  <a:pt x="144653" y="942847"/>
                </a:lnTo>
                <a:lnTo>
                  <a:pt x="144653" y="100964"/>
                </a:lnTo>
                <a:lnTo>
                  <a:pt x="156083" y="61721"/>
                </a:lnTo>
                <a:lnTo>
                  <a:pt x="187071" y="29590"/>
                </a:lnTo>
                <a:lnTo>
                  <a:pt x="233045" y="8000"/>
                </a:lnTo>
                <a:lnTo>
                  <a:pt x="289306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255011" y="3560317"/>
          <a:ext cx="313055" cy="15652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8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000" b="1" i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b="1" i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b="1" i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984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i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i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b="1" i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2367533" y="5192395"/>
            <a:ext cx="11239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C00000"/>
                </a:solidFill>
                <a:latin typeface="Arial"/>
                <a:cs typeface="Arial"/>
              </a:rPr>
              <a:t>...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267711" y="5399532"/>
            <a:ext cx="312420" cy="262255"/>
          </a:xfrm>
          <a:custGeom>
            <a:avLst/>
            <a:gdLst/>
            <a:ahLst/>
            <a:cxnLst/>
            <a:rect l="l" t="t" r="r" b="b"/>
            <a:pathLst>
              <a:path w="312419" h="262254">
                <a:moveTo>
                  <a:pt x="0" y="262128"/>
                </a:moveTo>
                <a:lnTo>
                  <a:pt x="312419" y="262128"/>
                </a:lnTo>
                <a:lnTo>
                  <a:pt x="312419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377567" y="5434710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i="1" spc="-5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7962" y="4432172"/>
            <a:ext cx="1281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C00000"/>
                </a:solidFill>
                <a:latin typeface="Arial"/>
                <a:cs typeface="Arial"/>
              </a:rPr>
              <a:t>60,000</a:t>
            </a:r>
            <a:r>
              <a:rPr sz="1600" spc="-1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C00000"/>
                </a:solidFill>
                <a:latin typeface="Arial"/>
                <a:cs typeface="Arial"/>
              </a:rPr>
              <a:t>labels: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4913503" y="3235601"/>
          <a:ext cx="2899407" cy="141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70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60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41655">
                <a:tc>
                  <a:txBody>
                    <a:bodyPr/>
                    <a:lstStyle/>
                    <a:p>
                      <a:pPr marL="18415" algn="ctr">
                        <a:lnSpc>
                          <a:spcPts val="1015"/>
                        </a:lnSpc>
                      </a:pPr>
                      <a:r>
                        <a:rPr sz="1000" b="1" i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sz="1000" b="1" i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sz="1000" b="1" i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sz="1000" b="1" i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sz="1000" b="1" i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sz="1000" b="1" i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sz="1000" b="1" i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sz="1000" b="1" i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sz="1000" b="1" i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ts val="1015"/>
                        </a:lnSpc>
                      </a:pPr>
                      <a:r>
                        <a:rPr sz="1000" b="1" i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2710112" y="4344310"/>
            <a:ext cx="499109" cy="493395"/>
            <a:chOff x="2710112" y="4344310"/>
            <a:chExt cx="499109" cy="493395"/>
          </a:xfrm>
        </p:grpSpPr>
        <p:sp>
          <p:nvSpPr>
            <p:cNvPr id="20" name="object 20"/>
            <p:cNvSpPr/>
            <p:nvPr/>
          </p:nvSpPr>
          <p:spPr>
            <a:xfrm>
              <a:off x="2710112" y="4344310"/>
              <a:ext cx="498990" cy="4932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44724" y="4352543"/>
              <a:ext cx="432815" cy="4465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4724" y="4352543"/>
              <a:ext cx="433070" cy="446405"/>
            </a:xfrm>
            <a:custGeom>
              <a:avLst/>
              <a:gdLst/>
              <a:ahLst/>
              <a:cxnLst/>
              <a:rect l="l" t="t" r="r" b="b"/>
              <a:pathLst>
                <a:path w="433069" h="446404">
                  <a:moveTo>
                    <a:pt x="0" y="111505"/>
                  </a:moveTo>
                  <a:lnTo>
                    <a:pt x="216281" y="111505"/>
                  </a:lnTo>
                  <a:lnTo>
                    <a:pt x="216281" y="0"/>
                  </a:lnTo>
                  <a:lnTo>
                    <a:pt x="432562" y="223011"/>
                  </a:lnTo>
                  <a:lnTo>
                    <a:pt x="216281" y="446023"/>
                  </a:lnTo>
                  <a:lnTo>
                    <a:pt x="216281" y="334517"/>
                  </a:lnTo>
                  <a:lnTo>
                    <a:pt x="0" y="334517"/>
                  </a:lnTo>
                  <a:lnTo>
                    <a:pt x="0" y="11150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1764029" y="3573017"/>
            <a:ext cx="289560" cy="2087880"/>
          </a:xfrm>
          <a:custGeom>
            <a:avLst/>
            <a:gdLst/>
            <a:ahLst/>
            <a:cxnLst/>
            <a:rect l="l" t="t" r="r" b="b"/>
            <a:pathLst>
              <a:path w="289560" h="2087879">
                <a:moveTo>
                  <a:pt x="289306" y="2087626"/>
                </a:moveTo>
                <a:lnTo>
                  <a:pt x="233044" y="2079688"/>
                </a:lnTo>
                <a:lnTo>
                  <a:pt x="187070" y="2058022"/>
                </a:lnTo>
                <a:lnTo>
                  <a:pt x="156082" y="2025916"/>
                </a:lnTo>
                <a:lnTo>
                  <a:pt x="144652" y="1986661"/>
                </a:lnTo>
                <a:lnTo>
                  <a:pt x="144652" y="1144778"/>
                </a:lnTo>
                <a:lnTo>
                  <a:pt x="133222" y="1105535"/>
                </a:lnTo>
                <a:lnTo>
                  <a:pt x="102234" y="1073404"/>
                </a:lnTo>
                <a:lnTo>
                  <a:pt x="56261" y="1051814"/>
                </a:lnTo>
                <a:lnTo>
                  <a:pt x="0" y="1043813"/>
                </a:lnTo>
                <a:lnTo>
                  <a:pt x="56261" y="1035812"/>
                </a:lnTo>
                <a:lnTo>
                  <a:pt x="102234" y="1014222"/>
                </a:lnTo>
                <a:lnTo>
                  <a:pt x="133222" y="982091"/>
                </a:lnTo>
                <a:lnTo>
                  <a:pt x="144652" y="942848"/>
                </a:lnTo>
                <a:lnTo>
                  <a:pt x="144652" y="100965"/>
                </a:lnTo>
                <a:lnTo>
                  <a:pt x="156082" y="61722"/>
                </a:lnTo>
                <a:lnTo>
                  <a:pt x="187070" y="29591"/>
                </a:lnTo>
                <a:lnTo>
                  <a:pt x="233044" y="8001"/>
                </a:lnTo>
                <a:lnTo>
                  <a:pt x="289306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7757" y="383794"/>
            <a:ext cx="38735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FFC000"/>
                </a:solidFill>
              </a:rPr>
              <a:t>Softmax</a:t>
            </a:r>
            <a:r>
              <a:rPr spc="-85" dirty="0">
                <a:solidFill>
                  <a:srgbClr val="FFC000"/>
                </a:solidFill>
              </a:rPr>
              <a:t> </a:t>
            </a:r>
            <a:r>
              <a:rPr spc="-10" dirty="0">
                <a:solidFill>
                  <a:srgbClr val="FFC000"/>
                </a:solidFill>
              </a:rPr>
              <a:t>Regressions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998" y="1095318"/>
            <a:ext cx="7448550" cy="157988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25" dirty="0">
                <a:latin typeface="Arial"/>
                <a:cs typeface="Arial"/>
              </a:rPr>
              <a:t>Every </a:t>
            </a:r>
            <a:r>
              <a:rPr sz="1800" b="1" spc="-5" dirty="0">
                <a:latin typeface="Arial"/>
                <a:cs typeface="Arial"/>
              </a:rPr>
              <a:t>image </a:t>
            </a:r>
            <a:r>
              <a:rPr sz="1800" b="1" dirty="0">
                <a:latin typeface="Arial"/>
                <a:cs typeface="Arial"/>
              </a:rPr>
              <a:t>in </a:t>
            </a:r>
            <a:r>
              <a:rPr sz="1800" b="1" spc="-5" dirty="0">
                <a:latin typeface="Arial"/>
                <a:cs typeface="Arial"/>
              </a:rPr>
              <a:t>MNIST </a:t>
            </a:r>
            <a:r>
              <a:rPr sz="1800" b="1" dirty="0">
                <a:latin typeface="Arial"/>
                <a:cs typeface="Arial"/>
              </a:rPr>
              <a:t>is a handwritten digit between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0 </a:t>
            </a:r>
            <a:r>
              <a:rPr sz="1800" b="1" spc="-5" dirty="0">
                <a:latin typeface="Arial"/>
                <a:cs typeface="Arial"/>
              </a:rPr>
              <a:t>and</a:t>
            </a:r>
            <a:r>
              <a:rPr sz="1800" b="1" spc="-114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Arial"/>
                <a:cs typeface="Arial"/>
              </a:rPr>
              <a:t>9</a:t>
            </a:r>
            <a:r>
              <a:rPr sz="1800" b="1" spc="-5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354965" algn="l"/>
                <a:tab pos="355600" algn="l"/>
                <a:tab pos="821690" algn="l"/>
              </a:tabLst>
            </a:pPr>
            <a:r>
              <a:rPr sz="1800" b="1" spc="-20" dirty="0">
                <a:latin typeface="Arial"/>
                <a:cs typeface="Arial"/>
              </a:rPr>
              <a:t>We	</a:t>
            </a:r>
            <a:r>
              <a:rPr sz="1800" b="1" spc="5" dirty="0">
                <a:latin typeface="Arial"/>
                <a:cs typeface="Arial"/>
              </a:rPr>
              <a:t>want </a:t>
            </a:r>
            <a:r>
              <a:rPr sz="1800" b="1" dirty="0">
                <a:latin typeface="Arial"/>
                <a:cs typeface="Arial"/>
              </a:rPr>
              <a:t>to </a:t>
            </a:r>
            <a:r>
              <a:rPr sz="1800" b="1" spc="-5" dirty="0">
                <a:latin typeface="Arial"/>
                <a:cs typeface="Arial"/>
              </a:rPr>
              <a:t>assign </a:t>
            </a:r>
            <a:r>
              <a:rPr sz="1800" b="1" spc="-20" dirty="0">
                <a:latin typeface="Arial"/>
                <a:cs typeface="Arial"/>
              </a:rPr>
              <a:t>each </a:t>
            </a:r>
            <a:r>
              <a:rPr sz="1800" b="1" spc="-5" dirty="0">
                <a:latin typeface="Arial"/>
                <a:cs typeface="Arial"/>
              </a:rPr>
              <a:t>image the "probability” </a:t>
            </a:r>
            <a:r>
              <a:rPr sz="1800" b="1" dirty="0">
                <a:latin typeface="Arial"/>
                <a:cs typeface="Arial"/>
              </a:rPr>
              <a:t>or “weight" for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it  being </a:t>
            </a:r>
            <a:r>
              <a:rPr sz="1800" b="1" spc="-20" dirty="0">
                <a:latin typeface="Arial"/>
                <a:cs typeface="Arial"/>
              </a:rPr>
              <a:t>each</a:t>
            </a:r>
            <a:r>
              <a:rPr sz="1800" b="1" dirty="0">
                <a:latin typeface="Arial"/>
                <a:cs typeface="Arial"/>
              </a:rPr>
              <a:t> digit.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ts val="2155"/>
              </a:lnSpc>
              <a:spcBef>
                <a:spcPts val="409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For </a:t>
            </a:r>
            <a:r>
              <a:rPr sz="1800" b="1" spc="-5" dirty="0">
                <a:latin typeface="Arial"/>
                <a:cs typeface="Arial"/>
              </a:rPr>
              <a:t>example, </a:t>
            </a:r>
            <a:r>
              <a:rPr sz="1800" b="1" dirty="0">
                <a:latin typeface="Arial"/>
                <a:cs typeface="Arial"/>
              </a:rPr>
              <a:t>our </a:t>
            </a:r>
            <a:r>
              <a:rPr sz="1800" b="1" spc="-5" dirty="0">
                <a:latin typeface="Arial"/>
                <a:cs typeface="Arial"/>
              </a:rPr>
              <a:t>model may see a </a:t>
            </a:r>
            <a:r>
              <a:rPr sz="1800" b="1" dirty="0">
                <a:latin typeface="Arial"/>
                <a:cs typeface="Arial"/>
              </a:rPr>
              <a:t>picture </a:t>
            </a:r>
            <a:r>
              <a:rPr sz="1800" b="1" spc="-5" dirty="0">
                <a:latin typeface="Arial"/>
                <a:cs typeface="Arial"/>
              </a:rPr>
              <a:t>as an </a:t>
            </a:r>
            <a:r>
              <a:rPr sz="1800" b="1" spc="-5" dirty="0">
                <a:solidFill>
                  <a:srgbClr val="0000FF"/>
                </a:solidFill>
                <a:latin typeface="Arial"/>
                <a:cs typeface="Arial"/>
              </a:rPr>
              <a:t>8 </a:t>
            </a:r>
            <a:r>
              <a:rPr sz="1800" b="1" dirty="0">
                <a:latin typeface="Arial"/>
                <a:cs typeface="Arial"/>
              </a:rPr>
              <a:t>with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0.8</a:t>
            </a:r>
            <a:endParaRPr sz="1800">
              <a:latin typeface="Arial"/>
              <a:cs typeface="Arial"/>
            </a:endParaRPr>
          </a:p>
          <a:p>
            <a:pPr marL="355600">
              <a:lnSpc>
                <a:spcPts val="2395"/>
              </a:lnSpc>
            </a:pPr>
            <a:r>
              <a:rPr sz="1800" b="1" spc="-5" dirty="0">
                <a:latin typeface="Arial"/>
                <a:cs typeface="Arial"/>
              </a:rPr>
              <a:t>“probability” </a:t>
            </a:r>
            <a:r>
              <a:rPr sz="1800" b="1" dirty="0">
                <a:latin typeface="Arial"/>
                <a:cs typeface="Arial"/>
              </a:rPr>
              <a:t>or </a:t>
            </a:r>
            <a:r>
              <a:rPr sz="1800" b="1" spc="-5" dirty="0">
                <a:latin typeface="Arial"/>
                <a:cs typeface="Arial"/>
              </a:rPr>
              <a:t>“weight”, </a:t>
            </a:r>
            <a:r>
              <a:rPr sz="1800" b="1" dirty="0">
                <a:latin typeface="Arial"/>
                <a:cs typeface="Arial"/>
              </a:rPr>
              <a:t>but </a:t>
            </a:r>
            <a:r>
              <a:rPr sz="1800" b="1" spc="-15" dirty="0">
                <a:latin typeface="Arial"/>
                <a:cs typeface="Arial"/>
              </a:rPr>
              <a:t>there </a:t>
            </a:r>
            <a:r>
              <a:rPr sz="1800" b="1" spc="-5" dirty="0">
                <a:latin typeface="Arial"/>
                <a:cs typeface="Arial"/>
              </a:rPr>
              <a:t>is </a:t>
            </a:r>
            <a:r>
              <a:rPr sz="1800" b="1" spc="-15" dirty="0">
                <a:latin typeface="Arial"/>
                <a:cs typeface="Arial"/>
              </a:rPr>
              <a:t>0.06 </a:t>
            </a:r>
            <a:r>
              <a:rPr sz="1800" b="1" spc="-5" dirty="0">
                <a:latin typeface="Arial"/>
                <a:cs typeface="Arial"/>
              </a:rPr>
              <a:t>chance </a:t>
            </a:r>
            <a:r>
              <a:rPr sz="1800" b="1" dirty="0">
                <a:latin typeface="Arial"/>
                <a:cs typeface="Arial"/>
              </a:rPr>
              <a:t>for it being a</a:t>
            </a:r>
            <a:r>
              <a:rPr sz="1800" b="1" spc="-229" dirty="0"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1800" b="1" spc="-10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02118" y="5165387"/>
          <a:ext cx="6986270" cy="11467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9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5840">
                <a:tc>
                  <a:txBody>
                    <a:bodyPr/>
                    <a:lstStyle/>
                    <a:p>
                      <a:pPr marL="13970" algn="ctr">
                        <a:lnSpc>
                          <a:spcPts val="2655"/>
                        </a:lnSpc>
                      </a:pPr>
                      <a:r>
                        <a:rPr sz="2400" b="1" i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2655"/>
                        </a:lnSpc>
                      </a:pPr>
                      <a:r>
                        <a:rPr sz="2400" b="1" i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2655"/>
                        </a:lnSpc>
                      </a:pPr>
                      <a:r>
                        <a:rPr sz="2400" b="1" i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2655"/>
                        </a:lnSpc>
                      </a:pPr>
                      <a:r>
                        <a:rPr sz="2400" b="1" i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2655"/>
                        </a:lnSpc>
                      </a:pPr>
                      <a:r>
                        <a:rPr sz="2400" b="1" i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2655"/>
                        </a:lnSpc>
                      </a:pPr>
                      <a:r>
                        <a:rPr sz="2400" b="1" i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2655"/>
                        </a:lnSpc>
                      </a:pPr>
                      <a:r>
                        <a:rPr sz="2400" b="1" i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2655"/>
                        </a:lnSpc>
                      </a:pPr>
                      <a:r>
                        <a:rPr sz="2400" b="1" i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2655"/>
                        </a:lnSpc>
                      </a:pPr>
                      <a:r>
                        <a:rPr sz="2400" b="1" i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ts val="2655"/>
                        </a:lnSpc>
                      </a:pPr>
                      <a:r>
                        <a:rPr sz="2400" b="1" i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i="1" spc="6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0.04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i="1" spc="6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0.02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i="1" spc="6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0.01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i="1" spc="6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0.01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i="1" spc="6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0.06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i="1" spc="6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0.03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i="1" spc="7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0.01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i="1" spc="6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0.01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i="1" spc="6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0.80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i="1" spc="6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0.01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053840" y="3410711"/>
            <a:ext cx="515112" cy="7863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178183" y="4346723"/>
            <a:ext cx="358775" cy="720090"/>
            <a:chOff x="4178183" y="4346723"/>
            <a:chExt cx="358775" cy="720090"/>
          </a:xfrm>
        </p:grpSpPr>
        <p:sp>
          <p:nvSpPr>
            <p:cNvPr id="7" name="object 7"/>
            <p:cNvSpPr/>
            <p:nvPr/>
          </p:nvSpPr>
          <p:spPr>
            <a:xfrm>
              <a:off x="4178183" y="4346723"/>
              <a:ext cx="358164" cy="7200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12335" y="4364735"/>
              <a:ext cx="288036" cy="6477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12335" y="4364735"/>
              <a:ext cx="288290" cy="647700"/>
            </a:xfrm>
            <a:custGeom>
              <a:avLst/>
              <a:gdLst/>
              <a:ahLst/>
              <a:cxnLst/>
              <a:rect l="l" t="t" r="r" b="b"/>
              <a:pathLst>
                <a:path w="288289" h="647700">
                  <a:moveTo>
                    <a:pt x="215773" y="0"/>
                  </a:moveTo>
                  <a:lnTo>
                    <a:pt x="215773" y="503681"/>
                  </a:lnTo>
                  <a:lnTo>
                    <a:pt x="287781" y="503681"/>
                  </a:lnTo>
                  <a:lnTo>
                    <a:pt x="143890" y="647700"/>
                  </a:lnTo>
                  <a:lnTo>
                    <a:pt x="0" y="503681"/>
                  </a:lnTo>
                  <a:lnTo>
                    <a:pt x="71881" y="503681"/>
                  </a:lnTo>
                  <a:lnTo>
                    <a:pt x="71881" y="0"/>
                  </a:lnTo>
                  <a:lnTo>
                    <a:pt x="215773" y="0"/>
                  </a:lnTo>
                  <a:close/>
                </a:path>
              </a:pathLst>
            </a:custGeom>
            <a:ln w="9144">
              <a:solidFill>
                <a:srgbClr val="2D2D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60496" y="4174693"/>
            <a:ext cx="3506470" cy="541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0">
              <a:lnSpc>
                <a:spcPts val="2030"/>
              </a:lnSpc>
              <a:spcBef>
                <a:spcPts val="100"/>
              </a:spcBef>
            </a:pPr>
            <a:r>
              <a:rPr sz="1800" spc="-60" dirty="0">
                <a:solidFill>
                  <a:srgbClr val="D64437"/>
                </a:solidFill>
                <a:latin typeface="Trebuchet MS"/>
                <a:cs typeface="Trebuchet MS"/>
              </a:rPr>
              <a:t>this </a:t>
            </a:r>
            <a:r>
              <a:rPr sz="1800" spc="-30" dirty="0">
                <a:solidFill>
                  <a:srgbClr val="D64437"/>
                </a:solidFill>
                <a:latin typeface="Trebuchet MS"/>
                <a:cs typeface="Trebuchet MS"/>
              </a:rPr>
              <a:t>is</a:t>
            </a:r>
            <a:r>
              <a:rPr sz="1800" spc="-320" dirty="0">
                <a:solidFill>
                  <a:srgbClr val="D64437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D64437"/>
                </a:solidFill>
                <a:latin typeface="Trebuchet MS"/>
                <a:cs typeface="Trebuchet MS"/>
              </a:rPr>
              <a:t>a“8”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2030"/>
              </a:lnSpc>
            </a:pPr>
            <a:r>
              <a:rPr sz="1800" spc="-75" dirty="0">
                <a:solidFill>
                  <a:srgbClr val="CC0000"/>
                </a:solidFill>
                <a:latin typeface="Trebuchet MS"/>
                <a:cs typeface="Trebuchet MS"/>
              </a:rPr>
              <a:t>Softmax</a:t>
            </a:r>
            <a:r>
              <a:rPr sz="1800" spc="-250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CC0000"/>
                </a:solidFill>
                <a:latin typeface="Trebuchet MS"/>
                <a:cs typeface="Trebuchet MS"/>
              </a:rPr>
              <a:t>Regression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60235" y="4652771"/>
            <a:ext cx="998219" cy="1734185"/>
            <a:chOff x="6460235" y="4652771"/>
            <a:chExt cx="998219" cy="1734185"/>
          </a:xfrm>
        </p:grpSpPr>
        <p:sp>
          <p:nvSpPr>
            <p:cNvPr id="12" name="object 12"/>
            <p:cNvSpPr/>
            <p:nvPr/>
          </p:nvSpPr>
          <p:spPr>
            <a:xfrm>
              <a:off x="6731507" y="5661659"/>
              <a:ext cx="720725" cy="719455"/>
            </a:xfrm>
            <a:custGeom>
              <a:avLst/>
              <a:gdLst/>
              <a:ahLst/>
              <a:cxnLst/>
              <a:rect l="l" t="t" r="r" b="b"/>
              <a:pathLst>
                <a:path w="720725" h="719454">
                  <a:moveTo>
                    <a:pt x="0" y="359600"/>
                  </a:moveTo>
                  <a:lnTo>
                    <a:pt x="3301" y="310807"/>
                  </a:lnTo>
                  <a:lnTo>
                    <a:pt x="12826" y="264007"/>
                  </a:lnTo>
                  <a:lnTo>
                    <a:pt x="28321" y="219621"/>
                  </a:lnTo>
                  <a:lnTo>
                    <a:pt x="49149" y="178104"/>
                  </a:lnTo>
                  <a:lnTo>
                    <a:pt x="75057" y="139852"/>
                  </a:lnTo>
                  <a:lnTo>
                    <a:pt x="105537" y="105321"/>
                  </a:lnTo>
                  <a:lnTo>
                    <a:pt x="140081" y="74929"/>
                  </a:lnTo>
                  <a:lnTo>
                    <a:pt x="178435" y="49098"/>
                  </a:lnTo>
                  <a:lnTo>
                    <a:pt x="219964" y="28257"/>
                  </a:lnTo>
                  <a:lnTo>
                    <a:pt x="264414" y="12839"/>
                  </a:lnTo>
                  <a:lnTo>
                    <a:pt x="311276" y="3276"/>
                  </a:lnTo>
                  <a:lnTo>
                    <a:pt x="360172" y="0"/>
                  </a:lnTo>
                  <a:lnTo>
                    <a:pt x="409067" y="3276"/>
                  </a:lnTo>
                  <a:lnTo>
                    <a:pt x="455930" y="12839"/>
                  </a:lnTo>
                  <a:lnTo>
                    <a:pt x="500380" y="28257"/>
                  </a:lnTo>
                  <a:lnTo>
                    <a:pt x="541909" y="49098"/>
                  </a:lnTo>
                  <a:lnTo>
                    <a:pt x="580263" y="74929"/>
                  </a:lnTo>
                  <a:lnTo>
                    <a:pt x="614807" y="105321"/>
                  </a:lnTo>
                  <a:lnTo>
                    <a:pt x="645287" y="139852"/>
                  </a:lnTo>
                  <a:lnTo>
                    <a:pt x="671195" y="178104"/>
                  </a:lnTo>
                  <a:lnTo>
                    <a:pt x="692023" y="219621"/>
                  </a:lnTo>
                  <a:lnTo>
                    <a:pt x="707517" y="264007"/>
                  </a:lnTo>
                  <a:lnTo>
                    <a:pt x="717042" y="310807"/>
                  </a:lnTo>
                  <a:lnTo>
                    <a:pt x="720344" y="359600"/>
                  </a:lnTo>
                  <a:lnTo>
                    <a:pt x="717042" y="408393"/>
                  </a:lnTo>
                  <a:lnTo>
                    <a:pt x="707517" y="455193"/>
                  </a:lnTo>
                  <a:lnTo>
                    <a:pt x="692023" y="499579"/>
                  </a:lnTo>
                  <a:lnTo>
                    <a:pt x="671195" y="541096"/>
                  </a:lnTo>
                  <a:lnTo>
                    <a:pt x="645287" y="579348"/>
                  </a:lnTo>
                  <a:lnTo>
                    <a:pt x="614807" y="613879"/>
                  </a:lnTo>
                  <a:lnTo>
                    <a:pt x="580263" y="644270"/>
                  </a:lnTo>
                  <a:lnTo>
                    <a:pt x="541909" y="670102"/>
                  </a:lnTo>
                  <a:lnTo>
                    <a:pt x="500380" y="690943"/>
                  </a:lnTo>
                  <a:lnTo>
                    <a:pt x="455930" y="706361"/>
                  </a:lnTo>
                  <a:lnTo>
                    <a:pt x="409067" y="715924"/>
                  </a:lnTo>
                  <a:lnTo>
                    <a:pt x="360172" y="719200"/>
                  </a:lnTo>
                  <a:lnTo>
                    <a:pt x="311276" y="715924"/>
                  </a:lnTo>
                  <a:lnTo>
                    <a:pt x="264414" y="706361"/>
                  </a:lnTo>
                  <a:lnTo>
                    <a:pt x="219964" y="690943"/>
                  </a:lnTo>
                  <a:lnTo>
                    <a:pt x="178435" y="670102"/>
                  </a:lnTo>
                  <a:lnTo>
                    <a:pt x="140081" y="644270"/>
                  </a:lnTo>
                  <a:lnTo>
                    <a:pt x="105537" y="613879"/>
                  </a:lnTo>
                  <a:lnTo>
                    <a:pt x="75057" y="579348"/>
                  </a:lnTo>
                  <a:lnTo>
                    <a:pt x="49149" y="541096"/>
                  </a:lnTo>
                  <a:lnTo>
                    <a:pt x="28321" y="499579"/>
                  </a:lnTo>
                  <a:lnTo>
                    <a:pt x="12826" y="455193"/>
                  </a:lnTo>
                  <a:lnTo>
                    <a:pt x="3301" y="408393"/>
                  </a:lnTo>
                  <a:lnTo>
                    <a:pt x="0" y="359600"/>
                  </a:lnTo>
                  <a:close/>
                </a:path>
              </a:pathLst>
            </a:custGeom>
            <a:ln w="1219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14845" y="4728844"/>
              <a:ext cx="584200" cy="903605"/>
            </a:xfrm>
            <a:custGeom>
              <a:avLst/>
              <a:gdLst/>
              <a:ahLst/>
              <a:cxnLst/>
              <a:rect l="l" t="t" r="r" b="b"/>
              <a:pathLst>
                <a:path w="584200" h="903604">
                  <a:moveTo>
                    <a:pt x="5714" y="0"/>
                  </a:moveTo>
                  <a:lnTo>
                    <a:pt x="0" y="5079"/>
                  </a:lnTo>
                  <a:lnTo>
                    <a:pt x="1397" y="16255"/>
                  </a:lnTo>
                  <a:lnTo>
                    <a:pt x="4952" y="38988"/>
                  </a:lnTo>
                  <a:lnTo>
                    <a:pt x="14097" y="83565"/>
                  </a:lnTo>
                  <a:lnTo>
                    <a:pt x="26034" y="126999"/>
                  </a:lnTo>
                  <a:lnTo>
                    <a:pt x="40512" y="168782"/>
                  </a:lnTo>
                  <a:lnTo>
                    <a:pt x="57150" y="208660"/>
                  </a:lnTo>
                  <a:lnTo>
                    <a:pt x="75819" y="246252"/>
                  </a:lnTo>
                  <a:lnTo>
                    <a:pt x="96265" y="281050"/>
                  </a:lnTo>
                  <a:lnTo>
                    <a:pt x="118490" y="312546"/>
                  </a:lnTo>
                  <a:lnTo>
                    <a:pt x="154304" y="353821"/>
                  </a:lnTo>
                  <a:lnTo>
                    <a:pt x="192912" y="386333"/>
                  </a:lnTo>
                  <a:lnTo>
                    <a:pt x="233425" y="408558"/>
                  </a:lnTo>
                  <a:lnTo>
                    <a:pt x="275589" y="419226"/>
                  </a:lnTo>
                  <a:lnTo>
                    <a:pt x="302005" y="420496"/>
                  </a:lnTo>
                  <a:lnTo>
                    <a:pt x="314832" y="422401"/>
                  </a:lnTo>
                  <a:lnTo>
                    <a:pt x="353313" y="436117"/>
                  </a:lnTo>
                  <a:lnTo>
                    <a:pt x="391032" y="460501"/>
                  </a:lnTo>
                  <a:lnTo>
                    <a:pt x="427354" y="494537"/>
                  </a:lnTo>
                  <a:lnTo>
                    <a:pt x="461136" y="537082"/>
                  </a:lnTo>
                  <a:lnTo>
                    <a:pt x="482092" y="569594"/>
                  </a:lnTo>
                  <a:lnTo>
                    <a:pt x="501142" y="605027"/>
                  </a:lnTo>
                  <a:lnTo>
                    <a:pt x="518540" y="643000"/>
                  </a:lnTo>
                  <a:lnTo>
                    <a:pt x="533780" y="683132"/>
                  </a:lnTo>
                  <a:lnTo>
                    <a:pt x="546734" y="725042"/>
                  </a:lnTo>
                  <a:lnTo>
                    <a:pt x="557022" y="768349"/>
                  </a:lnTo>
                  <a:lnTo>
                    <a:pt x="564769" y="812545"/>
                  </a:lnTo>
                  <a:lnTo>
                    <a:pt x="569595" y="857630"/>
                  </a:lnTo>
                  <a:lnTo>
                    <a:pt x="571246" y="903262"/>
                  </a:lnTo>
                  <a:lnTo>
                    <a:pt x="583946" y="903058"/>
                  </a:lnTo>
                  <a:lnTo>
                    <a:pt x="582295" y="856995"/>
                  </a:lnTo>
                  <a:lnTo>
                    <a:pt x="577469" y="811021"/>
                  </a:lnTo>
                  <a:lnTo>
                    <a:pt x="569595" y="765936"/>
                  </a:lnTo>
                  <a:lnTo>
                    <a:pt x="558926" y="721867"/>
                  </a:lnTo>
                  <a:lnTo>
                    <a:pt x="545846" y="679195"/>
                  </a:lnTo>
                  <a:lnTo>
                    <a:pt x="530351" y="638301"/>
                  </a:lnTo>
                  <a:lnTo>
                    <a:pt x="512699" y="599566"/>
                  </a:lnTo>
                  <a:lnTo>
                    <a:pt x="493140" y="563371"/>
                  </a:lnTo>
                  <a:lnTo>
                    <a:pt x="471677" y="530097"/>
                  </a:lnTo>
                  <a:lnTo>
                    <a:pt x="436879" y="486282"/>
                  </a:lnTo>
                  <a:lnTo>
                    <a:pt x="399287" y="450722"/>
                  </a:lnTo>
                  <a:lnTo>
                    <a:pt x="359409" y="424941"/>
                  </a:lnTo>
                  <a:lnTo>
                    <a:pt x="318007" y="410209"/>
                  </a:lnTo>
                  <a:lnTo>
                    <a:pt x="276225" y="406526"/>
                  </a:lnTo>
                  <a:lnTo>
                    <a:pt x="263398" y="404367"/>
                  </a:lnTo>
                  <a:lnTo>
                    <a:pt x="225044" y="390778"/>
                  </a:lnTo>
                  <a:lnTo>
                    <a:pt x="187325" y="366394"/>
                  </a:lnTo>
                  <a:lnTo>
                    <a:pt x="151256" y="332231"/>
                  </a:lnTo>
                  <a:lnTo>
                    <a:pt x="117475" y="289813"/>
                  </a:lnTo>
                  <a:lnTo>
                    <a:pt x="96647" y="257301"/>
                  </a:lnTo>
                  <a:lnTo>
                    <a:pt x="77597" y="221868"/>
                  </a:lnTo>
                  <a:lnTo>
                    <a:pt x="60198" y="184022"/>
                  </a:lnTo>
                  <a:lnTo>
                    <a:pt x="44957" y="143890"/>
                  </a:lnTo>
                  <a:lnTo>
                    <a:pt x="32003" y="101980"/>
                  </a:lnTo>
                  <a:lnTo>
                    <a:pt x="21589" y="58673"/>
                  </a:lnTo>
                  <a:lnTo>
                    <a:pt x="13843" y="14350"/>
                  </a:lnTo>
                  <a:lnTo>
                    <a:pt x="12826" y="4952"/>
                  </a:lnTo>
                  <a:lnTo>
                    <a:pt x="571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60235" y="4652771"/>
              <a:ext cx="126999" cy="13042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3769" y="383794"/>
            <a:ext cx="68154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C000"/>
                </a:solidFill>
              </a:rPr>
              <a:t>2 steps in softmax regression - Step</a:t>
            </a:r>
            <a:r>
              <a:rPr spc="-375" dirty="0">
                <a:solidFill>
                  <a:srgbClr val="FFC000"/>
                </a:solidFill>
              </a:rPr>
              <a:t> </a:t>
            </a:r>
            <a:r>
              <a:rPr dirty="0">
                <a:solidFill>
                  <a:srgbClr val="FFC000"/>
                </a:solidFill>
              </a:rPr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998" y="1095318"/>
            <a:ext cx="7439025" cy="13265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Step 1: </a:t>
            </a:r>
            <a:r>
              <a:rPr sz="1800" b="1" spc="-35" dirty="0">
                <a:latin typeface="Arial"/>
                <a:cs typeface="Arial"/>
              </a:rPr>
              <a:t>Add </a:t>
            </a:r>
            <a:r>
              <a:rPr sz="1800" b="1" dirty="0">
                <a:latin typeface="Arial"/>
                <a:cs typeface="Arial"/>
              </a:rPr>
              <a:t>up the </a:t>
            </a:r>
            <a:r>
              <a:rPr sz="1800" b="1" spc="-20" dirty="0">
                <a:latin typeface="Arial"/>
                <a:cs typeface="Arial"/>
              </a:rPr>
              <a:t>evidence </a:t>
            </a:r>
            <a:r>
              <a:rPr sz="1800" b="1" dirty="0">
                <a:latin typeface="Arial"/>
                <a:cs typeface="Arial"/>
              </a:rPr>
              <a:t>of our input being in </a:t>
            </a:r>
            <a:r>
              <a:rPr sz="1800" b="1" spc="-5" dirty="0">
                <a:latin typeface="Arial"/>
                <a:cs typeface="Arial"/>
              </a:rPr>
              <a:t>certain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classes.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95"/>
              </a:spcBef>
            </a:pPr>
            <a:r>
              <a:rPr sz="1800" dirty="0">
                <a:latin typeface="Arial"/>
                <a:cs typeface="Arial"/>
              </a:rPr>
              <a:t>– </a:t>
            </a:r>
            <a:r>
              <a:rPr sz="1800" spc="-5" dirty="0">
                <a:latin typeface="Arial"/>
                <a:cs typeface="Arial"/>
              </a:rPr>
              <a:t>Do a </a:t>
            </a:r>
            <a:r>
              <a:rPr sz="1800" spc="-20" dirty="0">
                <a:latin typeface="Arial"/>
                <a:cs typeface="Arial"/>
              </a:rPr>
              <a:t>weighted </a:t>
            </a:r>
            <a:r>
              <a:rPr sz="1800" dirty="0">
                <a:latin typeface="Arial"/>
                <a:cs typeface="Arial"/>
              </a:rPr>
              <a:t>sum </a:t>
            </a:r>
            <a:r>
              <a:rPr sz="1800" spc="-5" dirty="0">
                <a:latin typeface="Arial"/>
                <a:cs typeface="Arial"/>
              </a:rPr>
              <a:t>of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input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vectors.</a:t>
            </a:r>
            <a:endParaRPr sz="1800" dirty="0">
              <a:latin typeface="Arial"/>
              <a:cs typeface="Arial"/>
            </a:endParaRPr>
          </a:p>
          <a:p>
            <a:pPr marL="469900" marR="330835">
              <a:lnSpc>
                <a:spcPct val="118300"/>
              </a:lnSpc>
              <a:spcBef>
                <a:spcPts val="15"/>
              </a:spcBef>
            </a:pPr>
            <a:r>
              <a:rPr sz="1800" spc="-5" dirty="0">
                <a:latin typeface="Arial"/>
                <a:cs typeface="Arial"/>
              </a:rPr>
              <a:t>Where </a:t>
            </a:r>
            <a:r>
              <a:rPr sz="1800" dirty="0">
                <a:latin typeface="Arial"/>
                <a:cs typeface="Arial"/>
              </a:rPr>
              <a:t>z </a:t>
            </a:r>
            <a:r>
              <a:rPr sz="1800" spc="-5" dirty="0">
                <a:latin typeface="Arial"/>
                <a:cs typeface="Arial"/>
              </a:rPr>
              <a:t>and b are </a:t>
            </a:r>
            <a:r>
              <a:rPr sz="1800" spc="-15" dirty="0">
                <a:latin typeface="Arial"/>
                <a:cs typeface="Arial"/>
              </a:rPr>
              <a:t>two </a:t>
            </a:r>
            <a:r>
              <a:rPr sz="1800" spc="-5" dirty="0">
                <a:latin typeface="Arial"/>
                <a:cs typeface="Arial"/>
              </a:rPr>
              <a:t>1 by 10 vectors and </a:t>
            </a:r>
            <a:r>
              <a:rPr sz="1800" dirty="0">
                <a:latin typeface="Arial"/>
                <a:cs typeface="Arial"/>
              </a:rPr>
              <a:t>x </a:t>
            </a:r>
            <a:r>
              <a:rPr sz="1800" spc="-5" dirty="0">
                <a:latin typeface="Arial"/>
                <a:cs typeface="Arial"/>
              </a:rPr>
              <a:t>is a 1 by 784 </a:t>
            </a:r>
            <a:r>
              <a:rPr sz="1800" spc="-15" dirty="0">
                <a:latin typeface="Arial"/>
                <a:cs typeface="Arial"/>
              </a:rPr>
              <a:t>vector.  </a:t>
            </a:r>
            <a:r>
              <a:rPr sz="1800" dirty="0">
                <a:latin typeface="Arial"/>
                <a:cs typeface="Arial"/>
              </a:rPr>
              <a:t>W </a:t>
            </a:r>
            <a:r>
              <a:rPr sz="1800" spc="-5" dirty="0">
                <a:latin typeface="Arial"/>
                <a:cs typeface="Arial"/>
              </a:rPr>
              <a:t>is a 784 by 10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matrix.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5900" y="2428491"/>
            <a:ext cx="6172200" cy="651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125" i="1" spc="-7" baseline="1010" dirty="0">
                <a:latin typeface="Times New Roman"/>
                <a:cs typeface="Times New Roman"/>
              </a:rPr>
              <a:t>z</a:t>
            </a:r>
            <a:r>
              <a:rPr sz="2400" i="1" spc="-7" baseline="-17361" dirty="0">
                <a:latin typeface="Times New Roman"/>
                <a:cs typeface="Times New Roman"/>
              </a:rPr>
              <a:t>i </a:t>
            </a:r>
            <a:r>
              <a:rPr sz="4125" spc="-7" baseline="1010" dirty="0">
                <a:latin typeface="Symbol"/>
                <a:cs typeface="Symbol"/>
              </a:rPr>
              <a:t></a:t>
            </a:r>
            <a:r>
              <a:rPr sz="4125" spc="-7" baseline="1010" dirty="0">
                <a:latin typeface="Times New Roman"/>
                <a:cs typeface="Times New Roman"/>
              </a:rPr>
              <a:t> </a:t>
            </a:r>
            <a:r>
              <a:rPr sz="6225" baseline="-6024" dirty="0">
                <a:latin typeface="Symbol"/>
                <a:cs typeface="Symbol"/>
              </a:rPr>
              <a:t></a:t>
            </a:r>
            <a:r>
              <a:rPr sz="6225" spc="-1185" baseline="-6024" dirty="0">
                <a:latin typeface="Times New Roman"/>
                <a:cs typeface="Times New Roman"/>
              </a:rPr>
              <a:t> </a:t>
            </a:r>
            <a:r>
              <a:rPr sz="2400" i="1" spc="-7" baseline="-31250" dirty="0">
                <a:latin typeface="Times New Roman"/>
                <a:cs typeface="Times New Roman"/>
              </a:rPr>
              <a:t>j </a:t>
            </a:r>
            <a:r>
              <a:rPr sz="4125" i="1" spc="-7" baseline="1010" dirty="0">
                <a:latin typeface="Times New Roman"/>
                <a:cs typeface="Times New Roman"/>
              </a:rPr>
              <a:t>W</a:t>
            </a:r>
            <a:r>
              <a:rPr sz="2400" i="1" spc="-7" baseline="-17361" dirty="0">
                <a:latin typeface="Times New Roman"/>
                <a:cs typeface="Times New Roman"/>
              </a:rPr>
              <a:t>j,i </a:t>
            </a:r>
            <a:r>
              <a:rPr sz="4125" i="1" spc="-7" baseline="1010" dirty="0">
                <a:latin typeface="Times New Roman"/>
                <a:cs typeface="Times New Roman"/>
              </a:rPr>
              <a:t>x </a:t>
            </a:r>
            <a:r>
              <a:rPr sz="2400" i="1" spc="-7" baseline="-17361" dirty="0">
                <a:latin typeface="Times New Roman"/>
                <a:cs typeface="Times New Roman"/>
              </a:rPr>
              <a:t>j </a:t>
            </a:r>
            <a:r>
              <a:rPr sz="2750" spc="-5" dirty="0">
                <a:latin typeface="Symbol"/>
                <a:cs typeface="Symbol"/>
              </a:rPr>
              <a:t></a:t>
            </a:r>
            <a:r>
              <a:rPr sz="2750" spc="-5" dirty="0">
                <a:latin typeface="Times New Roman"/>
                <a:cs typeface="Times New Roman"/>
              </a:rPr>
              <a:t> </a:t>
            </a:r>
            <a:r>
              <a:rPr sz="2750" i="1" spc="-90" dirty="0">
                <a:latin typeface="Times New Roman"/>
                <a:cs typeface="Times New Roman"/>
              </a:rPr>
              <a:t>b</a:t>
            </a:r>
            <a:r>
              <a:rPr sz="2400" i="1" spc="-135" baseline="-19097" dirty="0">
                <a:latin typeface="Times New Roman"/>
                <a:cs typeface="Times New Roman"/>
              </a:rPr>
              <a:t>i</a:t>
            </a:r>
            <a:r>
              <a:rPr lang="en-US" sz="2400" i="1" spc="-135" baseline="-19097" dirty="0">
                <a:latin typeface="Times New Roman"/>
                <a:cs typeface="Times New Roman"/>
              </a:rPr>
              <a:t>  ;         </a:t>
            </a:r>
            <a:r>
              <a:rPr lang="en-US" sz="2400" i="1" spc="-135" baseline="-19097" dirty="0" err="1">
                <a:latin typeface="Times New Roman"/>
                <a:cs typeface="Times New Roman"/>
              </a:rPr>
              <a:t>i</a:t>
            </a:r>
            <a:r>
              <a:rPr lang="en-US" sz="2400" i="1" spc="-135" baseline="-19097" dirty="0">
                <a:latin typeface="Times New Roman"/>
                <a:cs typeface="Times New Roman"/>
              </a:rPr>
              <a:t>=0,1,2,…,9;      j=0,1,2,…,783 </a:t>
            </a:r>
            <a:endParaRPr sz="2400" baseline="-19097" dirty="0">
              <a:latin typeface="Times New Roman"/>
              <a:cs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517EA5-EDC9-7EB7-9611-3F785E165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7" y="3276600"/>
            <a:ext cx="9144000" cy="31976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5189" y="383794"/>
            <a:ext cx="69494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C000"/>
                </a:solidFill>
              </a:rPr>
              <a:t>Matrix </a:t>
            </a:r>
            <a:r>
              <a:rPr spc="-5" dirty="0">
                <a:solidFill>
                  <a:srgbClr val="FFC000"/>
                </a:solidFill>
              </a:rPr>
              <a:t>Representation </a:t>
            </a:r>
            <a:r>
              <a:rPr dirty="0">
                <a:solidFill>
                  <a:srgbClr val="FFC000"/>
                </a:solidFill>
              </a:rPr>
              <a:t>of softmax</a:t>
            </a:r>
            <a:r>
              <a:rPr spc="-300" dirty="0">
                <a:solidFill>
                  <a:srgbClr val="FFC000"/>
                </a:solidFill>
              </a:rPr>
              <a:t> </a:t>
            </a:r>
            <a:r>
              <a:rPr dirty="0">
                <a:solidFill>
                  <a:srgbClr val="FFC000"/>
                </a:solidFill>
              </a:rPr>
              <a:t>layer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02245" y="4052125"/>
            <a:ext cx="2178050" cy="1739264"/>
            <a:chOff x="1202245" y="4052125"/>
            <a:chExt cx="2178050" cy="1739264"/>
          </a:xfrm>
        </p:grpSpPr>
        <p:sp>
          <p:nvSpPr>
            <p:cNvPr id="4" name="object 4"/>
            <p:cNvSpPr/>
            <p:nvPr/>
          </p:nvSpPr>
          <p:spPr>
            <a:xfrm>
              <a:off x="2385060" y="4393692"/>
              <a:ext cx="153670" cy="155575"/>
            </a:xfrm>
            <a:custGeom>
              <a:avLst/>
              <a:gdLst/>
              <a:ahLst/>
              <a:cxnLst/>
              <a:rect l="l" t="t" r="r" b="b"/>
              <a:pathLst>
                <a:path w="153669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0"/>
                  </a:lnTo>
                  <a:lnTo>
                    <a:pt x="153543" y="155320"/>
                  </a:lnTo>
                  <a:lnTo>
                    <a:pt x="15354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14372" y="4393691"/>
              <a:ext cx="495300" cy="155575"/>
            </a:xfrm>
            <a:custGeom>
              <a:avLst/>
              <a:gdLst/>
              <a:ahLst/>
              <a:cxnLst/>
              <a:rect l="l" t="t" r="r" b="b"/>
              <a:pathLst>
                <a:path w="495300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1"/>
                  </a:lnTo>
                  <a:lnTo>
                    <a:pt x="153543" y="155321"/>
                  </a:lnTo>
                  <a:lnTo>
                    <a:pt x="153543" y="0"/>
                  </a:lnTo>
                  <a:close/>
                </a:path>
                <a:path w="495300" h="155575">
                  <a:moveTo>
                    <a:pt x="494919" y="0"/>
                  </a:moveTo>
                  <a:lnTo>
                    <a:pt x="341376" y="0"/>
                  </a:lnTo>
                  <a:lnTo>
                    <a:pt x="341376" y="155321"/>
                  </a:lnTo>
                  <a:lnTo>
                    <a:pt x="494919" y="155321"/>
                  </a:lnTo>
                  <a:lnTo>
                    <a:pt x="494919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43683" y="4393692"/>
              <a:ext cx="153670" cy="155575"/>
            </a:xfrm>
            <a:custGeom>
              <a:avLst/>
              <a:gdLst/>
              <a:ahLst/>
              <a:cxnLst/>
              <a:rect l="l" t="t" r="r" b="b"/>
              <a:pathLst>
                <a:path w="153669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0"/>
                  </a:lnTo>
                  <a:lnTo>
                    <a:pt x="153543" y="155320"/>
                  </a:lnTo>
                  <a:lnTo>
                    <a:pt x="15354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1620" y="4393692"/>
              <a:ext cx="153670" cy="155575"/>
            </a:xfrm>
            <a:custGeom>
              <a:avLst/>
              <a:gdLst/>
              <a:ahLst/>
              <a:cxnLst/>
              <a:rect l="l" t="t" r="r" b="b"/>
              <a:pathLst>
                <a:path w="153669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0"/>
                  </a:lnTo>
                  <a:lnTo>
                    <a:pt x="153543" y="155320"/>
                  </a:lnTo>
                  <a:lnTo>
                    <a:pt x="153543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60932" y="4393691"/>
              <a:ext cx="495300" cy="155575"/>
            </a:xfrm>
            <a:custGeom>
              <a:avLst/>
              <a:gdLst/>
              <a:ahLst/>
              <a:cxnLst/>
              <a:rect l="l" t="t" r="r" b="b"/>
              <a:pathLst>
                <a:path w="495300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1"/>
                  </a:lnTo>
                  <a:lnTo>
                    <a:pt x="153543" y="155321"/>
                  </a:lnTo>
                  <a:lnTo>
                    <a:pt x="153543" y="0"/>
                  </a:lnTo>
                  <a:close/>
                </a:path>
                <a:path w="495300" h="155575">
                  <a:moveTo>
                    <a:pt x="494919" y="0"/>
                  </a:moveTo>
                  <a:lnTo>
                    <a:pt x="341376" y="0"/>
                  </a:lnTo>
                  <a:lnTo>
                    <a:pt x="341376" y="155321"/>
                  </a:lnTo>
                  <a:lnTo>
                    <a:pt x="494919" y="155321"/>
                  </a:lnTo>
                  <a:lnTo>
                    <a:pt x="494919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72996" y="4393691"/>
              <a:ext cx="1007110" cy="155575"/>
            </a:xfrm>
            <a:custGeom>
              <a:avLst/>
              <a:gdLst/>
              <a:ahLst/>
              <a:cxnLst/>
              <a:rect l="l" t="t" r="r" b="b"/>
              <a:pathLst>
                <a:path w="1007110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1"/>
                  </a:lnTo>
                  <a:lnTo>
                    <a:pt x="153543" y="155321"/>
                  </a:lnTo>
                  <a:lnTo>
                    <a:pt x="153543" y="0"/>
                  </a:lnTo>
                  <a:close/>
                </a:path>
                <a:path w="1007110" h="155575">
                  <a:moveTo>
                    <a:pt x="1006983" y="0"/>
                  </a:moveTo>
                  <a:lnTo>
                    <a:pt x="853440" y="0"/>
                  </a:lnTo>
                  <a:lnTo>
                    <a:pt x="853440" y="155321"/>
                  </a:lnTo>
                  <a:lnTo>
                    <a:pt x="1006983" y="155321"/>
                  </a:lnTo>
                  <a:lnTo>
                    <a:pt x="1006983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21508" y="4462272"/>
              <a:ext cx="18415" cy="18415"/>
            </a:xfrm>
            <a:custGeom>
              <a:avLst/>
              <a:gdLst/>
              <a:ahLst/>
              <a:cxnLst/>
              <a:rect l="l" t="t" r="r" b="b"/>
              <a:pathLst>
                <a:path w="18414" h="18414">
                  <a:moveTo>
                    <a:pt x="14097" y="0"/>
                  </a:moveTo>
                  <a:lnTo>
                    <a:pt x="4064" y="0"/>
                  </a:lnTo>
                  <a:lnTo>
                    <a:pt x="0" y="4063"/>
                  </a:lnTo>
                  <a:lnTo>
                    <a:pt x="0" y="14096"/>
                  </a:lnTo>
                  <a:lnTo>
                    <a:pt x="4064" y="18160"/>
                  </a:lnTo>
                  <a:lnTo>
                    <a:pt x="14097" y="18160"/>
                  </a:lnTo>
                  <a:lnTo>
                    <a:pt x="18161" y="14096"/>
                  </a:lnTo>
                  <a:lnTo>
                    <a:pt x="18161" y="4063"/>
                  </a:lnTo>
                  <a:lnTo>
                    <a:pt x="1409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66287" y="4393692"/>
              <a:ext cx="155575" cy="155575"/>
            </a:xfrm>
            <a:custGeom>
              <a:avLst/>
              <a:gdLst/>
              <a:ahLst/>
              <a:cxnLst/>
              <a:rect l="l" t="t" r="r" b="b"/>
              <a:pathLst>
                <a:path w="155575" h="155575">
                  <a:moveTo>
                    <a:pt x="155320" y="0"/>
                  </a:moveTo>
                  <a:lnTo>
                    <a:pt x="0" y="0"/>
                  </a:lnTo>
                  <a:lnTo>
                    <a:pt x="0" y="155320"/>
                  </a:lnTo>
                  <a:lnTo>
                    <a:pt x="155320" y="155320"/>
                  </a:lnTo>
                  <a:lnTo>
                    <a:pt x="15532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64180" y="4462271"/>
              <a:ext cx="60960" cy="18415"/>
            </a:xfrm>
            <a:custGeom>
              <a:avLst/>
              <a:gdLst/>
              <a:ahLst/>
              <a:cxnLst/>
              <a:rect l="l" t="t" r="r" b="b"/>
              <a:pathLst>
                <a:path w="60960" h="18414">
                  <a:moveTo>
                    <a:pt x="18161" y="4064"/>
                  </a:moveTo>
                  <a:lnTo>
                    <a:pt x="14097" y="0"/>
                  </a:lnTo>
                  <a:lnTo>
                    <a:pt x="4064" y="0"/>
                  </a:lnTo>
                  <a:lnTo>
                    <a:pt x="0" y="4064"/>
                  </a:lnTo>
                  <a:lnTo>
                    <a:pt x="0" y="14097"/>
                  </a:lnTo>
                  <a:lnTo>
                    <a:pt x="4064" y="18161"/>
                  </a:lnTo>
                  <a:lnTo>
                    <a:pt x="14097" y="18161"/>
                  </a:lnTo>
                  <a:lnTo>
                    <a:pt x="18161" y="14097"/>
                  </a:lnTo>
                  <a:lnTo>
                    <a:pt x="18161" y="4064"/>
                  </a:lnTo>
                  <a:close/>
                </a:path>
                <a:path w="60960" h="18414">
                  <a:moveTo>
                    <a:pt x="60833" y="4064"/>
                  </a:moveTo>
                  <a:lnTo>
                    <a:pt x="56769" y="0"/>
                  </a:lnTo>
                  <a:lnTo>
                    <a:pt x="46736" y="0"/>
                  </a:lnTo>
                  <a:lnTo>
                    <a:pt x="42672" y="4064"/>
                  </a:lnTo>
                  <a:lnTo>
                    <a:pt x="42672" y="14097"/>
                  </a:lnTo>
                  <a:lnTo>
                    <a:pt x="46736" y="18161"/>
                  </a:lnTo>
                  <a:lnTo>
                    <a:pt x="56769" y="18161"/>
                  </a:lnTo>
                  <a:lnTo>
                    <a:pt x="60833" y="14097"/>
                  </a:lnTo>
                  <a:lnTo>
                    <a:pt x="60833" y="406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14372" y="4201668"/>
              <a:ext cx="153670" cy="155575"/>
            </a:xfrm>
            <a:custGeom>
              <a:avLst/>
              <a:gdLst/>
              <a:ahLst/>
              <a:cxnLst/>
              <a:rect l="l" t="t" r="r" b="b"/>
              <a:pathLst>
                <a:path w="153669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0"/>
                  </a:lnTo>
                  <a:lnTo>
                    <a:pt x="153543" y="155320"/>
                  </a:lnTo>
                  <a:lnTo>
                    <a:pt x="15354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85060" y="4201667"/>
              <a:ext cx="324485" cy="155575"/>
            </a:xfrm>
            <a:custGeom>
              <a:avLst/>
              <a:gdLst/>
              <a:ahLst/>
              <a:cxnLst/>
              <a:rect l="l" t="t" r="r" b="b"/>
              <a:pathLst>
                <a:path w="324485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1"/>
                  </a:lnTo>
                  <a:lnTo>
                    <a:pt x="153543" y="155321"/>
                  </a:lnTo>
                  <a:lnTo>
                    <a:pt x="153543" y="0"/>
                  </a:lnTo>
                  <a:close/>
                </a:path>
                <a:path w="324485" h="155575">
                  <a:moveTo>
                    <a:pt x="324231" y="0"/>
                  </a:moveTo>
                  <a:lnTo>
                    <a:pt x="170688" y="0"/>
                  </a:lnTo>
                  <a:lnTo>
                    <a:pt x="170688" y="155321"/>
                  </a:lnTo>
                  <a:lnTo>
                    <a:pt x="324231" y="155321"/>
                  </a:lnTo>
                  <a:lnTo>
                    <a:pt x="324231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26436" y="4201667"/>
              <a:ext cx="495300" cy="155575"/>
            </a:xfrm>
            <a:custGeom>
              <a:avLst/>
              <a:gdLst/>
              <a:ahLst/>
              <a:cxnLst/>
              <a:rect l="l" t="t" r="r" b="b"/>
              <a:pathLst>
                <a:path w="495300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1"/>
                  </a:lnTo>
                  <a:lnTo>
                    <a:pt x="153543" y="155321"/>
                  </a:lnTo>
                  <a:lnTo>
                    <a:pt x="153543" y="0"/>
                  </a:lnTo>
                  <a:close/>
                </a:path>
                <a:path w="495300" h="155575">
                  <a:moveTo>
                    <a:pt x="495173" y="0"/>
                  </a:moveTo>
                  <a:lnTo>
                    <a:pt x="339852" y="0"/>
                  </a:lnTo>
                  <a:lnTo>
                    <a:pt x="339852" y="155321"/>
                  </a:lnTo>
                  <a:lnTo>
                    <a:pt x="495173" y="155321"/>
                  </a:lnTo>
                  <a:lnTo>
                    <a:pt x="49517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60932" y="4201668"/>
              <a:ext cx="153670" cy="155575"/>
            </a:xfrm>
            <a:custGeom>
              <a:avLst/>
              <a:gdLst/>
              <a:ahLst/>
              <a:cxnLst/>
              <a:rect l="l" t="t" r="r" b="b"/>
              <a:pathLst>
                <a:path w="153669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0"/>
                  </a:lnTo>
                  <a:lnTo>
                    <a:pt x="153543" y="155320"/>
                  </a:lnTo>
                  <a:lnTo>
                    <a:pt x="153543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1620" y="4201667"/>
              <a:ext cx="495300" cy="155575"/>
            </a:xfrm>
            <a:custGeom>
              <a:avLst/>
              <a:gdLst/>
              <a:ahLst/>
              <a:cxnLst/>
              <a:rect l="l" t="t" r="r" b="b"/>
              <a:pathLst>
                <a:path w="495300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1"/>
                  </a:lnTo>
                  <a:lnTo>
                    <a:pt x="153543" y="155321"/>
                  </a:lnTo>
                  <a:lnTo>
                    <a:pt x="153543" y="0"/>
                  </a:lnTo>
                  <a:close/>
                </a:path>
                <a:path w="495300" h="155575">
                  <a:moveTo>
                    <a:pt x="324231" y="0"/>
                  </a:moveTo>
                  <a:lnTo>
                    <a:pt x="170688" y="0"/>
                  </a:lnTo>
                  <a:lnTo>
                    <a:pt x="170688" y="155321"/>
                  </a:lnTo>
                  <a:lnTo>
                    <a:pt x="324231" y="155321"/>
                  </a:lnTo>
                  <a:lnTo>
                    <a:pt x="324231" y="0"/>
                  </a:lnTo>
                  <a:close/>
                </a:path>
                <a:path w="495300" h="155575">
                  <a:moveTo>
                    <a:pt x="494919" y="0"/>
                  </a:moveTo>
                  <a:lnTo>
                    <a:pt x="341376" y="0"/>
                  </a:lnTo>
                  <a:lnTo>
                    <a:pt x="341376" y="155321"/>
                  </a:lnTo>
                  <a:lnTo>
                    <a:pt x="494919" y="155321"/>
                  </a:lnTo>
                  <a:lnTo>
                    <a:pt x="494919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43683" y="4201668"/>
              <a:ext cx="153670" cy="155575"/>
            </a:xfrm>
            <a:custGeom>
              <a:avLst/>
              <a:gdLst/>
              <a:ahLst/>
              <a:cxnLst/>
              <a:rect l="l" t="t" r="r" b="b"/>
              <a:pathLst>
                <a:path w="153669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0"/>
                  </a:lnTo>
                  <a:lnTo>
                    <a:pt x="153543" y="155320"/>
                  </a:lnTo>
                  <a:lnTo>
                    <a:pt x="153543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21508" y="4270247"/>
              <a:ext cx="103505" cy="18415"/>
            </a:xfrm>
            <a:custGeom>
              <a:avLst/>
              <a:gdLst/>
              <a:ahLst/>
              <a:cxnLst/>
              <a:rect l="l" t="t" r="r" b="b"/>
              <a:pathLst>
                <a:path w="103505" h="18414">
                  <a:moveTo>
                    <a:pt x="18161" y="4064"/>
                  </a:moveTo>
                  <a:lnTo>
                    <a:pt x="14097" y="0"/>
                  </a:lnTo>
                  <a:lnTo>
                    <a:pt x="4064" y="0"/>
                  </a:lnTo>
                  <a:lnTo>
                    <a:pt x="0" y="4064"/>
                  </a:lnTo>
                  <a:lnTo>
                    <a:pt x="0" y="14097"/>
                  </a:lnTo>
                  <a:lnTo>
                    <a:pt x="4064" y="18161"/>
                  </a:lnTo>
                  <a:lnTo>
                    <a:pt x="14097" y="18161"/>
                  </a:lnTo>
                  <a:lnTo>
                    <a:pt x="18161" y="14097"/>
                  </a:lnTo>
                  <a:lnTo>
                    <a:pt x="18161" y="4064"/>
                  </a:lnTo>
                  <a:close/>
                </a:path>
                <a:path w="103505" h="18414">
                  <a:moveTo>
                    <a:pt x="60833" y="4064"/>
                  </a:moveTo>
                  <a:lnTo>
                    <a:pt x="56769" y="0"/>
                  </a:lnTo>
                  <a:lnTo>
                    <a:pt x="46736" y="0"/>
                  </a:lnTo>
                  <a:lnTo>
                    <a:pt x="42672" y="4064"/>
                  </a:lnTo>
                  <a:lnTo>
                    <a:pt x="42672" y="14097"/>
                  </a:lnTo>
                  <a:lnTo>
                    <a:pt x="46736" y="18161"/>
                  </a:lnTo>
                  <a:lnTo>
                    <a:pt x="56769" y="18161"/>
                  </a:lnTo>
                  <a:lnTo>
                    <a:pt x="60833" y="14097"/>
                  </a:lnTo>
                  <a:lnTo>
                    <a:pt x="60833" y="4064"/>
                  </a:lnTo>
                  <a:close/>
                </a:path>
                <a:path w="103505" h="18414">
                  <a:moveTo>
                    <a:pt x="103505" y="4064"/>
                  </a:moveTo>
                  <a:lnTo>
                    <a:pt x="99441" y="0"/>
                  </a:lnTo>
                  <a:lnTo>
                    <a:pt x="89408" y="0"/>
                  </a:lnTo>
                  <a:lnTo>
                    <a:pt x="85344" y="4064"/>
                  </a:lnTo>
                  <a:lnTo>
                    <a:pt x="85344" y="14097"/>
                  </a:lnTo>
                  <a:lnTo>
                    <a:pt x="89408" y="18161"/>
                  </a:lnTo>
                  <a:lnTo>
                    <a:pt x="99441" y="18161"/>
                  </a:lnTo>
                  <a:lnTo>
                    <a:pt x="103505" y="14097"/>
                  </a:lnTo>
                  <a:lnTo>
                    <a:pt x="103505" y="406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66287" y="4585716"/>
              <a:ext cx="155575" cy="153670"/>
            </a:xfrm>
            <a:custGeom>
              <a:avLst/>
              <a:gdLst/>
              <a:ahLst/>
              <a:cxnLst/>
              <a:rect l="l" t="t" r="r" b="b"/>
              <a:pathLst>
                <a:path w="155575" h="153670">
                  <a:moveTo>
                    <a:pt x="155320" y="0"/>
                  </a:moveTo>
                  <a:lnTo>
                    <a:pt x="0" y="0"/>
                  </a:lnTo>
                  <a:lnTo>
                    <a:pt x="0" y="153543"/>
                  </a:lnTo>
                  <a:lnTo>
                    <a:pt x="155320" y="153543"/>
                  </a:lnTo>
                  <a:lnTo>
                    <a:pt x="155320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14372" y="4585716"/>
              <a:ext cx="153670" cy="153670"/>
            </a:xfrm>
            <a:custGeom>
              <a:avLst/>
              <a:gdLst/>
              <a:ahLst/>
              <a:cxnLst/>
              <a:rect l="l" t="t" r="r" b="b"/>
              <a:pathLst>
                <a:path w="153669" h="153670">
                  <a:moveTo>
                    <a:pt x="153543" y="0"/>
                  </a:moveTo>
                  <a:lnTo>
                    <a:pt x="0" y="0"/>
                  </a:lnTo>
                  <a:lnTo>
                    <a:pt x="0" y="153543"/>
                  </a:lnTo>
                  <a:lnTo>
                    <a:pt x="153543" y="153543"/>
                  </a:lnTo>
                  <a:lnTo>
                    <a:pt x="15354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31620" y="4585715"/>
              <a:ext cx="1177925" cy="153670"/>
            </a:xfrm>
            <a:custGeom>
              <a:avLst/>
              <a:gdLst/>
              <a:ahLst/>
              <a:cxnLst/>
              <a:rect l="l" t="t" r="r" b="b"/>
              <a:pathLst>
                <a:path w="1177925" h="153670">
                  <a:moveTo>
                    <a:pt x="153543" y="0"/>
                  </a:moveTo>
                  <a:lnTo>
                    <a:pt x="0" y="0"/>
                  </a:lnTo>
                  <a:lnTo>
                    <a:pt x="0" y="153543"/>
                  </a:lnTo>
                  <a:lnTo>
                    <a:pt x="153543" y="153543"/>
                  </a:lnTo>
                  <a:lnTo>
                    <a:pt x="153543" y="0"/>
                  </a:lnTo>
                  <a:close/>
                </a:path>
                <a:path w="1177925" h="153670">
                  <a:moveTo>
                    <a:pt x="1006983" y="0"/>
                  </a:moveTo>
                  <a:lnTo>
                    <a:pt x="853440" y="0"/>
                  </a:lnTo>
                  <a:lnTo>
                    <a:pt x="853440" y="153543"/>
                  </a:lnTo>
                  <a:lnTo>
                    <a:pt x="1006983" y="153543"/>
                  </a:lnTo>
                  <a:lnTo>
                    <a:pt x="1006983" y="0"/>
                  </a:lnTo>
                  <a:close/>
                </a:path>
                <a:path w="1177925" h="153670">
                  <a:moveTo>
                    <a:pt x="1177671" y="0"/>
                  </a:moveTo>
                  <a:lnTo>
                    <a:pt x="1024128" y="0"/>
                  </a:lnTo>
                  <a:lnTo>
                    <a:pt x="1024128" y="153543"/>
                  </a:lnTo>
                  <a:lnTo>
                    <a:pt x="1177671" y="153543"/>
                  </a:lnTo>
                  <a:lnTo>
                    <a:pt x="1177671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60932" y="4585715"/>
              <a:ext cx="836294" cy="153670"/>
            </a:xfrm>
            <a:custGeom>
              <a:avLst/>
              <a:gdLst/>
              <a:ahLst/>
              <a:cxnLst/>
              <a:rect l="l" t="t" r="r" b="b"/>
              <a:pathLst>
                <a:path w="836294" h="153670">
                  <a:moveTo>
                    <a:pt x="153543" y="0"/>
                  </a:moveTo>
                  <a:lnTo>
                    <a:pt x="0" y="0"/>
                  </a:lnTo>
                  <a:lnTo>
                    <a:pt x="0" y="153543"/>
                  </a:lnTo>
                  <a:lnTo>
                    <a:pt x="153543" y="153543"/>
                  </a:lnTo>
                  <a:lnTo>
                    <a:pt x="153543" y="0"/>
                  </a:lnTo>
                  <a:close/>
                </a:path>
                <a:path w="836294" h="153670">
                  <a:moveTo>
                    <a:pt x="665607" y="0"/>
                  </a:moveTo>
                  <a:lnTo>
                    <a:pt x="512064" y="0"/>
                  </a:lnTo>
                  <a:lnTo>
                    <a:pt x="512064" y="153543"/>
                  </a:lnTo>
                  <a:lnTo>
                    <a:pt x="665607" y="153543"/>
                  </a:lnTo>
                  <a:lnTo>
                    <a:pt x="665607" y="0"/>
                  </a:lnTo>
                  <a:close/>
                </a:path>
                <a:path w="836294" h="153670">
                  <a:moveTo>
                    <a:pt x="836295" y="0"/>
                  </a:moveTo>
                  <a:lnTo>
                    <a:pt x="682752" y="0"/>
                  </a:lnTo>
                  <a:lnTo>
                    <a:pt x="682752" y="153543"/>
                  </a:lnTo>
                  <a:lnTo>
                    <a:pt x="836295" y="153543"/>
                  </a:lnTo>
                  <a:lnTo>
                    <a:pt x="83629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02308" y="4585715"/>
              <a:ext cx="1177925" cy="153670"/>
            </a:xfrm>
            <a:custGeom>
              <a:avLst/>
              <a:gdLst/>
              <a:ahLst/>
              <a:cxnLst/>
              <a:rect l="l" t="t" r="r" b="b"/>
              <a:pathLst>
                <a:path w="1177925" h="153670">
                  <a:moveTo>
                    <a:pt x="153543" y="0"/>
                  </a:moveTo>
                  <a:lnTo>
                    <a:pt x="0" y="0"/>
                  </a:lnTo>
                  <a:lnTo>
                    <a:pt x="0" y="153543"/>
                  </a:lnTo>
                  <a:lnTo>
                    <a:pt x="153543" y="153543"/>
                  </a:lnTo>
                  <a:lnTo>
                    <a:pt x="153543" y="0"/>
                  </a:lnTo>
                  <a:close/>
                </a:path>
                <a:path w="1177925" h="153670">
                  <a:moveTo>
                    <a:pt x="1177671" y="0"/>
                  </a:moveTo>
                  <a:lnTo>
                    <a:pt x="1024128" y="0"/>
                  </a:lnTo>
                  <a:lnTo>
                    <a:pt x="1024128" y="153543"/>
                  </a:lnTo>
                  <a:lnTo>
                    <a:pt x="1177671" y="153543"/>
                  </a:lnTo>
                  <a:lnTo>
                    <a:pt x="1177671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21508" y="4652771"/>
              <a:ext cx="103505" cy="19685"/>
            </a:xfrm>
            <a:custGeom>
              <a:avLst/>
              <a:gdLst/>
              <a:ahLst/>
              <a:cxnLst/>
              <a:rect l="l" t="t" r="r" b="b"/>
              <a:pathLst>
                <a:path w="103505" h="19685">
                  <a:moveTo>
                    <a:pt x="18161" y="4318"/>
                  </a:moveTo>
                  <a:lnTo>
                    <a:pt x="14097" y="0"/>
                  </a:lnTo>
                  <a:lnTo>
                    <a:pt x="4064" y="0"/>
                  </a:lnTo>
                  <a:lnTo>
                    <a:pt x="0" y="4318"/>
                  </a:lnTo>
                  <a:lnTo>
                    <a:pt x="0" y="14986"/>
                  </a:lnTo>
                  <a:lnTo>
                    <a:pt x="4064" y="19304"/>
                  </a:lnTo>
                  <a:lnTo>
                    <a:pt x="14097" y="19304"/>
                  </a:lnTo>
                  <a:lnTo>
                    <a:pt x="18161" y="14986"/>
                  </a:lnTo>
                  <a:lnTo>
                    <a:pt x="18161" y="4318"/>
                  </a:lnTo>
                  <a:close/>
                </a:path>
                <a:path w="103505" h="19685">
                  <a:moveTo>
                    <a:pt x="60833" y="4318"/>
                  </a:moveTo>
                  <a:lnTo>
                    <a:pt x="56769" y="0"/>
                  </a:lnTo>
                  <a:lnTo>
                    <a:pt x="46736" y="0"/>
                  </a:lnTo>
                  <a:lnTo>
                    <a:pt x="42672" y="4318"/>
                  </a:lnTo>
                  <a:lnTo>
                    <a:pt x="42672" y="14986"/>
                  </a:lnTo>
                  <a:lnTo>
                    <a:pt x="46736" y="19304"/>
                  </a:lnTo>
                  <a:lnTo>
                    <a:pt x="56769" y="19304"/>
                  </a:lnTo>
                  <a:lnTo>
                    <a:pt x="60833" y="14986"/>
                  </a:lnTo>
                  <a:lnTo>
                    <a:pt x="60833" y="4318"/>
                  </a:lnTo>
                  <a:close/>
                </a:path>
                <a:path w="103505" h="19685">
                  <a:moveTo>
                    <a:pt x="103505" y="4318"/>
                  </a:moveTo>
                  <a:lnTo>
                    <a:pt x="99441" y="0"/>
                  </a:lnTo>
                  <a:lnTo>
                    <a:pt x="89408" y="0"/>
                  </a:lnTo>
                  <a:lnTo>
                    <a:pt x="85344" y="4318"/>
                  </a:lnTo>
                  <a:lnTo>
                    <a:pt x="85344" y="14986"/>
                  </a:lnTo>
                  <a:lnTo>
                    <a:pt x="89408" y="19304"/>
                  </a:lnTo>
                  <a:lnTo>
                    <a:pt x="99441" y="19304"/>
                  </a:lnTo>
                  <a:lnTo>
                    <a:pt x="103505" y="14986"/>
                  </a:lnTo>
                  <a:lnTo>
                    <a:pt x="103505" y="4318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66287" y="4777740"/>
              <a:ext cx="155575" cy="153670"/>
            </a:xfrm>
            <a:custGeom>
              <a:avLst/>
              <a:gdLst/>
              <a:ahLst/>
              <a:cxnLst/>
              <a:rect l="l" t="t" r="r" b="b"/>
              <a:pathLst>
                <a:path w="155575" h="153670">
                  <a:moveTo>
                    <a:pt x="155320" y="0"/>
                  </a:moveTo>
                  <a:lnTo>
                    <a:pt x="0" y="0"/>
                  </a:lnTo>
                  <a:lnTo>
                    <a:pt x="0" y="153543"/>
                  </a:lnTo>
                  <a:lnTo>
                    <a:pt x="155320" y="153543"/>
                  </a:lnTo>
                  <a:lnTo>
                    <a:pt x="155320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55747" y="4777740"/>
              <a:ext cx="153670" cy="153670"/>
            </a:xfrm>
            <a:custGeom>
              <a:avLst/>
              <a:gdLst/>
              <a:ahLst/>
              <a:cxnLst/>
              <a:rect l="l" t="t" r="r" b="b"/>
              <a:pathLst>
                <a:path w="153669" h="153670">
                  <a:moveTo>
                    <a:pt x="153543" y="0"/>
                  </a:moveTo>
                  <a:lnTo>
                    <a:pt x="0" y="0"/>
                  </a:lnTo>
                  <a:lnTo>
                    <a:pt x="0" y="153543"/>
                  </a:lnTo>
                  <a:lnTo>
                    <a:pt x="153543" y="153543"/>
                  </a:lnTo>
                  <a:lnTo>
                    <a:pt x="15354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31620" y="4777739"/>
              <a:ext cx="1007110" cy="153670"/>
            </a:xfrm>
            <a:custGeom>
              <a:avLst/>
              <a:gdLst/>
              <a:ahLst/>
              <a:cxnLst/>
              <a:rect l="l" t="t" r="r" b="b"/>
              <a:pathLst>
                <a:path w="1007110" h="153670">
                  <a:moveTo>
                    <a:pt x="153543" y="0"/>
                  </a:moveTo>
                  <a:lnTo>
                    <a:pt x="0" y="0"/>
                  </a:lnTo>
                  <a:lnTo>
                    <a:pt x="0" y="153543"/>
                  </a:lnTo>
                  <a:lnTo>
                    <a:pt x="153543" y="153543"/>
                  </a:lnTo>
                  <a:lnTo>
                    <a:pt x="153543" y="0"/>
                  </a:lnTo>
                  <a:close/>
                </a:path>
                <a:path w="1007110" h="153670">
                  <a:moveTo>
                    <a:pt x="836295" y="0"/>
                  </a:moveTo>
                  <a:lnTo>
                    <a:pt x="682752" y="0"/>
                  </a:lnTo>
                  <a:lnTo>
                    <a:pt x="682752" y="153543"/>
                  </a:lnTo>
                  <a:lnTo>
                    <a:pt x="836295" y="153543"/>
                  </a:lnTo>
                  <a:lnTo>
                    <a:pt x="836295" y="0"/>
                  </a:lnTo>
                  <a:close/>
                </a:path>
                <a:path w="1007110" h="153670">
                  <a:moveTo>
                    <a:pt x="1006983" y="0"/>
                  </a:moveTo>
                  <a:lnTo>
                    <a:pt x="853440" y="0"/>
                  </a:lnTo>
                  <a:lnTo>
                    <a:pt x="853440" y="153543"/>
                  </a:lnTo>
                  <a:lnTo>
                    <a:pt x="1006983" y="153543"/>
                  </a:lnTo>
                  <a:lnTo>
                    <a:pt x="1006983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60932" y="4777739"/>
              <a:ext cx="836294" cy="153670"/>
            </a:xfrm>
            <a:custGeom>
              <a:avLst/>
              <a:gdLst/>
              <a:ahLst/>
              <a:cxnLst/>
              <a:rect l="l" t="t" r="r" b="b"/>
              <a:pathLst>
                <a:path w="836294" h="153670">
                  <a:moveTo>
                    <a:pt x="153543" y="0"/>
                  </a:moveTo>
                  <a:lnTo>
                    <a:pt x="0" y="0"/>
                  </a:lnTo>
                  <a:lnTo>
                    <a:pt x="0" y="153543"/>
                  </a:lnTo>
                  <a:lnTo>
                    <a:pt x="153543" y="153543"/>
                  </a:lnTo>
                  <a:lnTo>
                    <a:pt x="153543" y="0"/>
                  </a:lnTo>
                  <a:close/>
                </a:path>
                <a:path w="836294" h="153670">
                  <a:moveTo>
                    <a:pt x="494919" y="0"/>
                  </a:moveTo>
                  <a:lnTo>
                    <a:pt x="341376" y="0"/>
                  </a:lnTo>
                  <a:lnTo>
                    <a:pt x="341376" y="153543"/>
                  </a:lnTo>
                  <a:lnTo>
                    <a:pt x="494919" y="153543"/>
                  </a:lnTo>
                  <a:lnTo>
                    <a:pt x="494919" y="0"/>
                  </a:lnTo>
                  <a:close/>
                </a:path>
                <a:path w="836294" h="153670">
                  <a:moveTo>
                    <a:pt x="836295" y="0"/>
                  </a:moveTo>
                  <a:lnTo>
                    <a:pt x="682752" y="0"/>
                  </a:lnTo>
                  <a:lnTo>
                    <a:pt x="682752" y="153543"/>
                  </a:lnTo>
                  <a:lnTo>
                    <a:pt x="836295" y="153543"/>
                  </a:lnTo>
                  <a:lnTo>
                    <a:pt x="83629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72996" y="4777739"/>
              <a:ext cx="1007110" cy="153670"/>
            </a:xfrm>
            <a:custGeom>
              <a:avLst/>
              <a:gdLst/>
              <a:ahLst/>
              <a:cxnLst/>
              <a:rect l="l" t="t" r="r" b="b"/>
              <a:pathLst>
                <a:path w="1007110" h="153670">
                  <a:moveTo>
                    <a:pt x="153543" y="0"/>
                  </a:moveTo>
                  <a:lnTo>
                    <a:pt x="0" y="0"/>
                  </a:lnTo>
                  <a:lnTo>
                    <a:pt x="0" y="153543"/>
                  </a:lnTo>
                  <a:lnTo>
                    <a:pt x="153543" y="153543"/>
                  </a:lnTo>
                  <a:lnTo>
                    <a:pt x="153543" y="0"/>
                  </a:lnTo>
                  <a:close/>
                </a:path>
                <a:path w="1007110" h="153670">
                  <a:moveTo>
                    <a:pt x="1006983" y="0"/>
                  </a:moveTo>
                  <a:lnTo>
                    <a:pt x="853440" y="0"/>
                  </a:lnTo>
                  <a:lnTo>
                    <a:pt x="853440" y="153543"/>
                  </a:lnTo>
                  <a:lnTo>
                    <a:pt x="1006983" y="153543"/>
                  </a:lnTo>
                  <a:lnTo>
                    <a:pt x="1006983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921508" y="4844795"/>
              <a:ext cx="103505" cy="19685"/>
            </a:xfrm>
            <a:custGeom>
              <a:avLst/>
              <a:gdLst/>
              <a:ahLst/>
              <a:cxnLst/>
              <a:rect l="l" t="t" r="r" b="b"/>
              <a:pathLst>
                <a:path w="103505" h="19685">
                  <a:moveTo>
                    <a:pt x="18161" y="4318"/>
                  </a:moveTo>
                  <a:lnTo>
                    <a:pt x="14097" y="0"/>
                  </a:lnTo>
                  <a:lnTo>
                    <a:pt x="4064" y="0"/>
                  </a:lnTo>
                  <a:lnTo>
                    <a:pt x="0" y="4318"/>
                  </a:lnTo>
                  <a:lnTo>
                    <a:pt x="0" y="14986"/>
                  </a:lnTo>
                  <a:lnTo>
                    <a:pt x="4064" y="19304"/>
                  </a:lnTo>
                  <a:lnTo>
                    <a:pt x="14097" y="19304"/>
                  </a:lnTo>
                  <a:lnTo>
                    <a:pt x="18161" y="14986"/>
                  </a:lnTo>
                  <a:lnTo>
                    <a:pt x="18161" y="4318"/>
                  </a:lnTo>
                  <a:close/>
                </a:path>
                <a:path w="103505" h="19685">
                  <a:moveTo>
                    <a:pt x="60833" y="4318"/>
                  </a:moveTo>
                  <a:lnTo>
                    <a:pt x="56769" y="0"/>
                  </a:lnTo>
                  <a:lnTo>
                    <a:pt x="46736" y="0"/>
                  </a:lnTo>
                  <a:lnTo>
                    <a:pt x="42672" y="4318"/>
                  </a:lnTo>
                  <a:lnTo>
                    <a:pt x="42672" y="14986"/>
                  </a:lnTo>
                  <a:lnTo>
                    <a:pt x="46736" y="19304"/>
                  </a:lnTo>
                  <a:lnTo>
                    <a:pt x="56769" y="19304"/>
                  </a:lnTo>
                  <a:lnTo>
                    <a:pt x="60833" y="14986"/>
                  </a:lnTo>
                  <a:lnTo>
                    <a:pt x="60833" y="4318"/>
                  </a:lnTo>
                  <a:close/>
                </a:path>
                <a:path w="103505" h="19685">
                  <a:moveTo>
                    <a:pt x="103505" y="4318"/>
                  </a:moveTo>
                  <a:lnTo>
                    <a:pt x="99441" y="0"/>
                  </a:lnTo>
                  <a:lnTo>
                    <a:pt x="89408" y="0"/>
                  </a:lnTo>
                  <a:lnTo>
                    <a:pt x="85344" y="4318"/>
                  </a:lnTo>
                  <a:lnTo>
                    <a:pt x="85344" y="14986"/>
                  </a:lnTo>
                  <a:lnTo>
                    <a:pt x="89408" y="19304"/>
                  </a:lnTo>
                  <a:lnTo>
                    <a:pt x="99441" y="19304"/>
                  </a:lnTo>
                  <a:lnTo>
                    <a:pt x="103505" y="14986"/>
                  </a:lnTo>
                  <a:lnTo>
                    <a:pt x="103505" y="4318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66287" y="4968240"/>
              <a:ext cx="155575" cy="155575"/>
            </a:xfrm>
            <a:custGeom>
              <a:avLst/>
              <a:gdLst/>
              <a:ahLst/>
              <a:cxnLst/>
              <a:rect l="l" t="t" r="r" b="b"/>
              <a:pathLst>
                <a:path w="155575" h="155575">
                  <a:moveTo>
                    <a:pt x="155320" y="0"/>
                  </a:moveTo>
                  <a:lnTo>
                    <a:pt x="0" y="0"/>
                  </a:lnTo>
                  <a:lnTo>
                    <a:pt x="0" y="155320"/>
                  </a:lnTo>
                  <a:lnTo>
                    <a:pt x="155320" y="155320"/>
                  </a:lnTo>
                  <a:lnTo>
                    <a:pt x="15532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60932" y="4968240"/>
              <a:ext cx="153670" cy="155575"/>
            </a:xfrm>
            <a:custGeom>
              <a:avLst/>
              <a:gdLst/>
              <a:ahLst/>
              <a:cxnLst/>
              <a:rect l="l" t="t" r="r" b="b"/>
              <a:pathLst>
                <a:path w="153669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0"/>
                  </a:lnTo>
                  <a:lnTo>
                    <a:pt x="153543" y="155320"/>
                  </a:lnTo>
                  <a:lnTo>
                    <a:pt x="153543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726436" y="4968240"/>
              <a:ext cx="153670" cy="155575"/>
            </a:xfrm>
            <a:custGeom>
              <a:avLst/>
              <a:gdLst/>
              <a:ahLst/>
              <a:cxnLst/>
              <a:rect l="l" t="t" r="r" b="b"/>
              <a:pathLst>
                <a:path w="153669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0"/>
                  </a:lnTo>
                  <a:lnTo>
                    <a:pt x="153543" y="155320"/>
                  </a:lnTo>
                  <a:lnTo>
                    <a:pt x="15354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31620" y="4968252"/>
              <a:ext cx="1177925" cy="155575"/>
            </a:xfrm>
            <a:custGeom>
              <a:avLst/>
              <a:gdLst/>
              <a:ahLst/>
              <a:cxnLst/>
              <a:rect l="l" t="t" r="r" b="b"/>
              <a:pathLst>
                <a:path w="1177925" h="155575">
                  <a:moveTo>
                    <a:pt x="153543" y="0"/>
                  </a:moveTo>
                  <a:lnTo>
                    <a:pt x="0" y="0"/>
                  </a:lnTo>
                  <a:lnTo>
                    <a:pt x="0" y="155308"/>
                  </a:lnTo>
                  <a:lnTo>
                    <a:pt x="153543" y="155308"/>
                  </a:lnTo>
                  <a:lnTo>
                    <a:pt x="153543" y="0"/>
                  </a:lnTo>
                  <a:close/>
                </a:path>
                <a:path w="1177925" h="155575">
                  <a:moveTo>
                    <a:pt x="1006983" y="0"/>
                  </a:moveTo>
                  <a:lnTo>
                    <a:pt x="853440" y="0"/>
                  </a:lnTo>
                  <a:lnTo>
                    <a:pt x="853440" y="155308"/>
                  </a:lnTo>
                  <a:lnTo>
                    <a:pt x="1006983" y="155308"/>
                  </a:lnTo>
                  <a:lnTo>
                    <a:pt x="1006983" y="0"/>
                  </a:lnTo>
                  <a:close/>
                </a:path>
                <a:path w="1177925" h="155575">
                  <a:moveTo>
                    <a:pt x="1177671" y="0"/>
                  </a:moveTo>
                  <a:lnTo>
                    <a:pt x="1024128" y="0"/>
                  </a:lnTo>
                  <a:lnTo>
                    <a:pt x="1024128" y="155308"/>
                  </a:lnTo>
                  <a:lnTo>
                    <a:pt x="1177671" y="155308"/>
                  </a:lnTo>
                  <a:lnTo>
                    <a:pt x="1177671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72996" y="4968252"/>
              <a:ext cx="324485" cy="155575"/>
            </a:xfrm>
            <a:custGeom>
              <a:avLst/>
              <a:gdLst/>
              <a:ahLst/>
              <a:cxnLst/>
              <a:rect l="l" t="t" r="r" b="b"/>
              <a:pathLst>
                <a:path w="324485" h="155575">
                  <a:moveTo>
                    <a:pt x="153543" y="0"/>
                  </a:moveTo>
                  <a:lnTo>
                    <a:pt x="0" y="0"/>
                  </a:lnTo>
                  <a:lnTo>
                    <a:pt x="0" y="155308"/>
                  </a:lnTo>
                  <a:lnTo>
                    <a:pt x="153543" y="155308"/>
                  </a:lnTo>
                  <a:lnTo>
                    <a:pt x="153543" y="0"/>
                  </a:lnTo>
                  <a:close/>
                </a:path>
                <a:path w="324485" h="155575">
                  <a:moveTo>
                    <a:pt x="324231" y="0"/>
                  </a:moveTo>
                  <a:lnTo>
                    <a:pt x="170688" y="0"/>
                  </a:lnTo>
                  <a:lnTo>
                    <a:pt x="170688" y="155308"/>
                  </a:lnTo>
                  <a:lnTo>
                    <a:pt x="324231" y="155308"/>
                  </a:lnTo>
                  <a:lnTo>
                    <a:pt x="32423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02308" y="4968252"/>
              <a:ext cx="666115" cy="155575"/>
            </a:xfrm>
            <a:custGeom>
              <a:avLst/>
              <a:gdLst/>
              <a:ahLst/>
              <a:cxnLst/>
              <a:rect l="l" t="t" r="r" b="b"/>
              <a:pathLst>
                <a:path w="666114" h="155575">
                  <a:moveTo>
                    <a:pt x="153543" y="0"/>
                  </a:moveTo>
                  <a:lnTo>
                    <a:pt x="0" y="0"/>
                  </a:lnTo>
                  <a:lnTo>
                    <a:pt x="0" y="155308"/>
                  </a:lnTo>
                  <a:lnTo>
                    <a:pt x="153543" y="155308"/>
                  </a:lnTo>
                  <a:lnTo>
                    <a:pt x="153543" y="0"/>
                  </a:lnTo>
                  <a:close/>
                </a:path>
                <a:path w="666114" h="155575">
                  <a:moveTo>
                    <a:pt x="665607" y="0"/>
                  </a:moveTo>
                  <a:lnTo>
                    <a:pt x="512064" y="0"/>
                  </a:lnTo>
                  <a:lnTo>
                    <a:pt x="512064" y="155308"/>
                  </a:lnTo>
                  <a:lnTo>
                    <a:pt x="665607" y="155308"/>
                  </a:lnTo>
                  <a:lnTo>
                    <a:pt x="665607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21508" y="5036819"/>
              <a:ext cx="103505" cy="18415"/>
            </a:xfrm>
            <a:custGeom>
              <a:avLst/>
              <a:gdLst/>
              <a:ahLst/>
              <a:cxnLst/>
              <a:rect l="l" t="t" r="r" b="b"/>
              <a:pathLst>
                <a:path w="103505" h="18414">
                  <a:moveTo>
                    <a:pt x="18161" y="4064"/>
                  </a:moveTo>
                  <a:lnTo>
                    <a:pt x="14097" y="0"/>
                  </a:lnTo>
                  <a:lnTo>
                    <a:pt x="4064" y="0"/>
                  </a:lnTo>
                  <a:lnTo>
                    <a:pt x="0" y="4064"/>
                  </a:lnTo>
                  <a:lnTo>
                    <a:pt x="0" y="14097"/>
                  </a:lnTo>
                  <a:lnTo>
                    <a:pt x="4064" y="18161"/>
                  </a:lnTo>
                  <a:lnTo>
                    <a:pt x="14097" y="18161"/>
                  </a:lnTo>
                  <a:lnTo>
                    <a:pt x="18161" y="14097"/>
                  </a:lnTo>
                  <a:lnTo>
                    <a:pt x="18161" y="4064"/>
                  </a:lnTo>
                  <a:close/>
                </a:path>
                <a:path w="103505" h="18414">
                  <a:moveTo>
                    <a:pt x="60833" y="4064"/>
                  </a:moveTo>
                  <a:lnTo>
                    <a:pt x="56769" y="0"/>
                  </a:lnTo>
                  <a:lnTo>
                    <a:pt x="46736" y="0"/>
                  </a:lnTo>
                  <a:lnTo>
                    <a:pt x="42672" y="4064"/>
                  </a:lnTo>
                  <a:lnTo>
                    <a:pt x="42672" y="14097"/>
                  </a:lnTo>
                  <a:lnTo>
                    <a:pt x="46736" y="18161"/>
                  </a:lnTo>
                  <a:lnTo>
                    <a:pt x="56769" y="18161"/>
                  </a:lnTo>
                  <a:lnTo>
                    <a:pt x="60833" y="14097"/>
                  </a:lnTo>
                  <a:lnTo>
                    <a:pt x="60833" y="4064"/>
                  </a:lnTo>
                  <a:close/>
                </a:path>
                <a:path w="103505" h="18414">
                  <a:moveTo>
                    <a:pt x="103505" y="4064"/>
                  </a:moveTo>
                  <a:lnTo>
                    <a:pt x="99441" y="0"/>
                  </a:lnTo>
                  <a:lnTo>
                    <a:pt x="89408" y="0"/>
                  </a:lnTo>
                  <a:lnTo>
                    <a:pt x="85344" y="4064"/>
                  </a:lnTo>
                  <a:lnTo>
                    <a:pt x="85344" y="14097"/>
                  </a:lnTo>
                  <a:lnTo>
                    <a:pt x="89408" y="18161"/>
                  </a:lnTo>
                  <a:lnTo>
                    <a:pt x="99441" y="18161"/>
                  </a:lnTo>
                  <a:lnTo>
                    <a:pt x="103505" y="14097"/>
                  </a:lnTo>
                  <a:lnTo>
                    <a:pt x="103505" y="406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726436" y="5160263"/>
              <a:ext cx="153670" cy="155575"/>
            </a:xfrm>
            <a:custGeom>
              <a:avLst/>
              <a:gdLst/>
              <a:ahLst/>
              <a:cxnLst/>
              <a:rect l="l" t="t" r="r" b="b"/>
              <a:pathLst>
                <a:path w="153669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1"/>
                  </a:lnTo>
                  <a:lnTo>
                    <a:pt x="153543" y="155321"/>
                  </a:lnTo>
                  <a:lnTo>
                    <a:pt x="15354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360932" y="5160263"/>
              <a:ext cx="153670" cy="155575"/>
            </a:xfrm>
            <a:custGeom>
              <a:avLst/>
              <a:gdLst/>
              <a:ahLst/>
              <a:cxnLst/>
              <a:rect l="l" t="t" r="r" b="b"/>
              <a:pathLst>
                <a:path w="153669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1"/>
                  </a:lnTo>
                  <a:lnTo>
                    <a:pt x="153543" y="155321"/>
                  </a:lnTo>
                  <a:lnTo>
                    <a:pt x="153543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5060" y="5160263"/>
              <a:ext cx="153670" cy="155575"/>
            </a:xfrm>
            <a:custGeom>
              <a:avLst/>
              <a:gdLst/>
              <a:ahLst/>
              <a:cxnLst/>
              <a:rect l="l" t="t" r="r" b="b"/>
              <a:pathLst>
                <a:path w="153669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1"/>
                  </a:lnTo>
                  <a:lnTo>
                    <a:pt x="153543" y="155321"/>
                  </a:lnTo>
                  <a:lnTo>
                    <a:pt x="15354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702308" y="5160263"/>
              <a:ext cx="1007110" cy="155575"/>
            </a:xfrm>
            <a:custGeom>
              <a:avLst/>
              <a:gdLst/>
              <a:ahLst/>
              <a:cxnLst/>
              <a:rect l="l" t="t" r="r" b="b"/>
              <a:pathLst>
                <a:path w="1007110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1"/>
                  </a:lnTo>
                  <a:lnTo>
                    <a:pt x="153543" y="155321"/>
                  </a:lnTo>
                  <a:lnTo>
                    <a:pt x="153543" y="0"/>
                  </a:lnTo>
                  <a:close/>
                </a:path>
                <a:path w="1007110" h="155575">
                  <a:moveTo>
                    <a:pt x="665607" y="0"/>
                  </a:moveTo>
                  <a:lnTo>
                    <a:pt x="512064" y="0"/>
                  </a:lnTo>
                  <a:lnTo>
                    <a:pt x="512064" y="155321"/>
                  </a:lnTo>
                  <a:lnTo>
                    <a:pt x="665607" y="155321"/>
                  </a:lnTo>
                  <a:lnTo>
                    <a:pt x="665607" y="0"/>
                  </a:lnTo>
                  <a:close/>
                </a:path>
                <a:path w="1007110" h="155575">
                  <a:moveTo>
                    <a:pt x="1006983" y="0"/>
                  </a:moveTo>
                  <a:lnTo>
                    <a:pt x="853440" y="0"/>
                  </a:lnTo>
                  <a:lnTo>
                    <a:pt x="853440" y="155321"/>
                  </a:lnTo>
                  <a:lnTo>
                    <a:pt x="1006983" y="155321"/>
                  </a:lnTo>
                  <a:lnTo>
                    <a:pt x="1006983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31620" y="5160263"/>
              <a:ext cx="666115" cy="155575"/>
            </a:xfrm>
            <a:custGeom>
              <a:avLst/>
              <a:gdLst/>
              <a:ahLst/>
              <a:cxnLst/>
              <a:rect l="l" t="t" r="r" b="b"/>
              <a:pathLst>
                <a:path w="666114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1"/>
                  </a:lnTo>
                  <a:lnTo>
                    <a:pt x="153543" y="155321"/>
                  </a:lnTo>
                  <a:lnTo>
                    <a:pt x="153543" y="0"/>
                  </a:lnTo>
                  <a:close/>
                </a:path>
                <a:path w="666114" h="155575">
                  <a:moveTo>
                    <a:pt x="665607" y="0"/>
                  </a:moveTo>
                  <a:lnTo>
                    <a:pt x="512064" y="0"/>
                  </a:lnTo>
                  <a:lnTo>
                    <a:pt x="512064" y="155321"/>
                  </a:lnTo>
                  <a:lnTo>
                    <a:pt x="665607" y="155321"/>
                  </a:lnTo>
                  <a:lnTo>
                    <a:pt x="66560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872996" y="5160263"/>
              <a:ext cx="1348740" cy="155575"/>
            </a:xfrm>
            <a:custGeom>
              <a:avLst/>
              <a:gdLst/>
              <a:ahLst/>
              <a:cxnLst/>
              <a:rect l="l" t="t" r="r" b="b"/>
              <a:pathLst>
                <a:path w="1348739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1"/>
                  </a:lnTo>
                  <a:lnTo>
                    <a:pt x="153543" y="155321"/>
                  </a:lnTo>
                  <a:lnTo>
                    <a:pt x="153543" y="0"/>
                  </a:lnTo>
                  <a:close/>
                </a:path>
                <a:path w="1348739" h="155575">
                  <a:moveTo>
                    <a:pt x="1348613" y="0"/>
                  </a:moveTo>
                  <a:lnTo>
                    <a:pt x="1193292" y="0"/>
                  </a:lnTo>
                  <a:lnTo>
                    <a:pt x="1193292" y="155321"/>
                  </a:lnTo>
                  <a:lnTo>
                    <a:pt x="1348613" y="155321"/>
                  </a:lnTo>
                  <a:lnTo>
                    <a:pt x="1348613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21508" y="5228843"/>
              <a:ext cx="103505" cy="18415"/>
            </a:xfrm>
            <a:custGeom>
              <a:avLst/>
              <a:gdLst/>
              <a:ahLst/>
              <a:cxnLst/>
              <a:rect l="l" t="t" r="r" b="b"/>
              <a:pathLst>
                <a:path w="103505" h="18414">
                  <a:moveTo>
                    <a:pt x="18161" y="4064"/>
                  </a:moveTo>
                  <a:lnTo>
                    <a:pt x="14097" y="0"/>
                  </a:lnTo>
                  <a:lnTo>
                    <a:pt x="4064" y="0"/>
                  </a:lnTo>
                  <a:lnTo>
                    <a:pt x="0" y="4064"/>
                  </a:lnTo>
                  <a:lnTo>
                    <a:pt x="0" y="14097"/>
                  </a:lnTo>
                  <a:lnTo>
                    <a:pt x="4064" y="18161"/>
                  </a:lnTo>
                  <a:lnTo>
                    <a:pt x="14097" y="18161"/>
                  </a:lnTo>
                  <a:lnTo>
                    <a:pt x="18161" y="14097"/>
                  </a:lnTo>
                  <a:lnTo>
                    <a:pt x="18161" y="4064"/>
                  </a:lnTo>
                  <a:close/>
                </a:path>
                <a:path w="103505" h="18414">
                  <a:moveTo>
                    <a:pt x="60833" y="4064"/>
                  </a:moveTo>
                  <a:lnTo>
                    <a:pt x="56769" y="0"/>
                  </a:lnTo>
                  <a:lnTo>
                    <a:pt x="46736" y="0"/>
                  </a:lnTo>
                  <a:lnTo>
                    <a:pt x="42672" y="4064"/>
                  </a:lnTo>
                  <a:lnTo>
                    <a:pt x="42672" y="14097"/>
                  </a:lnTo>
                  <a:lnTo>
                    <a:pt x="46736" y="18161"/>
                  </a:lnTo>
                  <a:lnTo>
                    <a:pt x="56769" y="18161"/>
                  </a:lnTo>
                  <a:lnTo>
                    <a:pt x="60833" y="14097"/>
                  </a:lnTo>
                  <a:lnTo>
                    <a:pt x="60833" y="4064"/>
                  </a:lnTo>
                  <a:close/>
                </a:path>
                <a:path w="103505" h="18414">
                  <a:moveTo>
                    <a:pt x="103505" y="4064"/>
                  </a:moveTo>
                  <a:lnTo>
                    <a:pt x="99441" y="0"/>
                  </a:lnTo>
                  <a:lnTo>
                    <a:pt x="89408" y="0"/>
                  </a:lnTo>
                  <a:lnTo>
                    <a:pt x="85344" y="4064"/>
                  </a:lnTo>
                  <a:lnTo>
                    <a:pt x="85344" y="14097"/>
                  </a:lnTo>
                  <a:lnTo>
                    <a:pt x="89408" y="18161"/>
                  </a:lnTo>
                  <a:lnTo>
                    <a:pt x="99441" y="18161"/>
                  </a:lnTo>
                  <a:lnTo>
                    <a:pt x="103505" y="14097"/>
                  </a:lnTo>
                  <a:lnTo>
                    <a:pt x="103505" y="406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555748" y="5486400"/>
              <a:ext cx="324485" cy="155575"/>
            </a:xfrm>
            <a:custGeom>
              <a:avLst/>
              <a:gdLst/>
              <a:ahLst/>
              <a:cxnLst/>
              <a:rect l="l" t="t" r="r" b="b"/>
              <a:pathLst>
                <a:path w="324485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1"/>
                  </a:lnTo>
                  <a:lnTo>
                    <a:pt x="153543" y="155321"/>
                  </a:lnTo>
                  <a:lnTo>
                    <a:pt x="153543" y="0"/>
                  </a:lnTo>
                  <a:close/>
                </a:path>
                <a:path w="324485" h="155575">
                  <a:moveTo>
                    <a:pt x="324231" y="0"/>
                  </a:moveTo>
                  <a:lnTo>
                    <a:pt x="170688" y="0"/>
                  </a:lnTo>
                  <a:lnTo>
                    <a:pt x="170688" y="155321"/>
                  </a:lnTo>
                  <a:lnTo>
                    <a:pt x="324231" y="155321"/>
                  </a:lnTo>
                  <a:lnTo>
                    <a:pt x="32423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531620" y="5486400"/>
              <a:ext cx="1007110" cy="155575"/>
            </a:xfrm>
            <a:custGeom>
              <a:avLst/>
              <a:gdLst/>
              <a:ahLst/>
              <a:cxnLst/>
              <a:rect l="l" t="t" r="r" b="b"/>
              <a:pathLst>
                <a:path w="1007110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1"/>
                  </a:lnTo>
                  <a:lnTo>
                    <a:pt x="153543" y="155321"/>
                  </a:lnTo>
                  <a:lnTo>
                    <a:pt x="153543" y="0"/>
                  </a:lnTo>
                  <a:close/>
                </a:path>
                <a:path w="1007110" h="155575">
                  <a:moveTo>
                    <a:pt x="324231" y="0"/>
                  </a:moveTo>
                  <a:lnTo>
                    <a:pt x="170688" y="0"/>
                  </a:lnTo>
                  <a:lnTo>
                    <a:pt x="170688" y="155321"/>
                  </a:lnTo>
                  <a:lnTo>
                    <a:pt x="324231" y="155321"/>
                  </a:lnTo>
                  <a:lnTo>
                    <a:pt x="324231" y="0"/>
                  </a:lnTo>
                  <a:close/>
                </a:path>
                <a:path w="1007110" h="155575">
                  <a:moveTo>
                    <a:pt x="836295" y="0"/>
                  </a:moveTo>
                  <a:lnTo>
                    <a:pt x="682752" y="0"/>
                  </a:lnTo>
                  <a:lnTo>
                    <a:pt x="682752" y="155321"/>
                  </a:lnTo>
                  <a:lnTo>
                    <a:pt x="836295" y="155321"/>
                  </a:lnTo>
                  <a:lnTo>
                    <a:pt x="836295" y="0"/>
                  </a:lnTo>
                  <a:close/>
                </a:path>
                <a:path w="1007110" h="155575">
                  <a:moveTo>
                    <a:pt x="1006983" y="0"/>
                  </a:moveTo>
                  <a:lnTo>
                    <a:pt x="853440" y="0"/>
                  </a:lnTo>
                  <a:lnTo>
                    <a:pt x="853440" y="155321"/>
                  </a:lnTo>
                  <a:lnTo>
                    <a:pt x="1006983" y="155321"/>
                  </a:lnTo>
                  <a:lnTo>
                    <a:pt x="1006983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360932" y="5486400"/>
              <a:ext cx="666115" cy="155575"/>
            </a:xfrm>
            <a:custGeom>
              <a:avLst/>
              <a:gdLst/>
              <a:ahLst/>
              <a:cxnLst/>
              <a:rect l="l" t="t" r="r" b="b"/>
              <a:pathLst>
                <a:path w="666114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1"/>
                  </a:lnTo>
                  <a:lnTo>
                    <a:pt x="153543" y="155321"/>
                  </a:lnTo>
                  <a:lnTo>
                    <a:pt x="153543" y="0"/>
                  </a:lnTo>
                  <a:close/>
                </a:path>
                <a:path w="666114" h="155575">
                  <a:moveTo>
                    <a:pt x="665607" y="0"/>
                  </a:moveTo>
                  <a:lnTo>
                    <a:pt x="512064" y="0"/>
                  </a:lnTo>
                  <a:lnTo>
                    <a:pt x="512064" y="155321"/>
                  </a:lnTo>
                  <a:lnTo>
                    <a:pt x="665607" y="155321"/>
                  </a:lnTo>
                  <a:lnTo>
                    <a:pt x="66560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043683" y="5486400"/>
              <a:ext cx="153670" cy="155575"/>
            </a:xfrm>
            <a:custGeom>
              <a:avLst/>
              <a:gdLst/>
              <a:ahLst/>
              <a:cxnLst/>
              <a:rect l="l" t="t" r="r" b="b"/>
              <a:pathLst>
                <a:path w="153669" h="155575">
                  <a:moveTo>
                    <a:pt x="153543" y="0"/>
                  </a:moveTo>
                  <a:lnTo>
                    <a:pt x="0" y="0"/>
                  </a:lnTo>
                  <a:lnTo>
                    <a:pt x="0" y="155321"/>
                  </a:lnTo>
                  <a:lnTo>
                    <a:pt x="153543" y="155321"/>
                  </a:lnTo>
                  <a:lnTo>
                    <a:pt x="153543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921508" y="5554980"/>
              <a:ext cx="18415" cy="18415"/>
            </a:xfrm>
            <a:custGeom>
              <a:avLst/>
              <a:gdLst/>
              <a:ahLst/>
              <a:cxnLst/>
              <a:rect l="l" t="t" r="r" b="b"/>
              <a:pathLst>
                <a:path w="18414" h="18414">
                  <a:moveTo>
                    <a:pt x="14097" y="0"/>
                  </a:moveTo>
                  <a:lnTo>
                    <a:pt x="4064" y="0"/>
                  </a:lnTo>
                  <a:lnTo>
                    <a:pt x="0" y="4064"/>
                  </a:lnTo>
                  <a:lnTo>
                    <a:pt x="0" y="14097"/>
                  </a:lnTo>
                  <a:lnTo>
                    <a:pt x="4064" y="18161"/>
                  </a:lnTo>
                  <a:lnTo>
                    <a:pt x="14097" y="18161"/>
                  </a:lnTo>
                  <a:lnTo>
                    <a:pt x="18161" y="14097"/>
                  </a:lnTo>
                  <a:lnTo>
                    <a:pt x="18161" y="4064"/>
                  </a:lnTo>
                  <a:lnTo>
                    <a:pt x="1409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066287" y="5486400"/>
              <a:ext cx="155575" cy="155575"/>
            </a:xfrm>
            <a:custGeom>
              <a:avLst/>
              <a:gdLst/>
              <a:ahLst/>
              <a:cxnLst/>
              <a:rect l="l" t="t" r="r" b="b"/>
              <a:pathLst>
                <a:path w="155575" h="155575">
                  <a:moveTo>
                    <a:pt x="155320" y="0"/>
                  </a:moveTo>
                  <a:lnTo>
                    <a:pt x="0" y="0"/>
                  </a:lnTo>
                  <a:lnTo>
                    <a:pt x="0" y="155321"/>
                  </a:lnTo>
                  <a:lnTo>
                    <a:pt x="155320" y="155321"/>
                  </a:lnTo>
                  <a:lnTo>
                    <a:pt x="155320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964180" y="5554979"/>
              <a:ext cx="60960" cy="18415"/>
            </a:xfrm>
            <a:custGeom>
              <a:avLst/>
              <a:gdLst/>
              <a:ahLst/>
              <a:cxnLst/>
              <a:rect l="l" t="t" r="r" b="b"/>
              <a:pathLst>
                <a:path w="60960" h="18414">
                  <a:moveTo>
                    <a:pt x="18161" y="4064"/>
                  </a:moveTo>
                  <a:lnTo>
                    <a:pt x="14097" y="0"/>
                  </a:lnTo>
                  <a:lnTo>
                    <a:pt x="4064" y="0"/>
                  </a:lnTo>
                  <a:lnTo>
                    <a:pt x="0" y="4064"/>
                  </a:lnTo>
                  <a:lnTo>
                    <a:pt x="0" y="14097"/>
                  </a:lnTo>
                  <a:lnTo>
                    <a:pt x="4064" y="18161"/>
                  </a:lnTo>
                  <a:lnTo>
                    <a:pt x="14097" y="18161"/>
                  </a:lnTo>
                  <a:lnTo>
                    <a:pt x="18161" y="14097"/>
                  </a:lnTo>
                  <a:lnTo>
                    <a:pt x="18161" y="4064"/>
                  </a:lnTo>
                  <a:close/>
                </a:path>
                <a:path w="60960" h="18414">
                  <a:moveTo>
                    <a:pt x="60833" y="4064"/>
                  </a:moveTo>
                  <a:lnTo>
                    <a:pt x="56769" y="0"/>
                  </a:lnTo>
                  <a:lnTo>
                    <a:pt x="46736" y="0"/>
                  </a:lnTo>
                  <a:lnTo>
                    <a:pt x="42672" y="4064"/>
                  </a:lnTo>
                  <a:lnTo>
                    <a:pt x="42672" y="14097"/>
                  </a:lnTo>
                  <a:lnTo>
                    <a:pt x="46736" y="18161"/>
                  </a:lnTo>
                  <a:lnTo>
                    <a:pt x="56769" y="18161"/>
                  </a:lnTo>
                  <a:lnTo>
                    <a:pt x="60833" y="14097"/>
                  </a:lnTo>
                  <a:lnTo>
                    <a:pt x="60833" y="406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207008" y="4056888"/>
              <a:ext cx="2168525" cy="1729739"/>
            </a:xfrm>
            <a:custGeom>
              <a:avLst/>
              <a:gdLst/>
              <a:ahLst/>
              <a:cxnLst/>
              <a:rect l="l" t="t" r="r" b="b"/>
              <a:pathLst>
                <a:path w="2168525" h="1729739">
                  <a:moveTo>
                    <a:pt x="153542" y="0"/>
                  </a:moveTo>
                  <a:lnTo>
                    <a:pt x="0" y="0"/>
                  </a:lnTo>
                  <a:lnTo>
                    <a:pt x="0" y="1729739"/>
                  </a:lnTo>
                  <a:lnTo>
                    <a:pt x="153542" y="1729739"/>
                  </a:lnTo>
                </a:path>
                <a:path w="2168525" h="1729739">
                  <a:moveTo>
                    <a:pt x="2014727" y="0"/>
                  </a:moveTo>
                  <a:lnTo>
                    <a:pt x="2168270" y="0"/>
                  </a:lnTo>
                  <a:lnTo>
                    <a:pt x="2168270" y="1729739"/>
                  </a:lnTo>
                  <a:lnTo>
                    <a:pt x="2014727" y="1729739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/>
          <p:nvPr/>
        </p:nvSpPr>
        <p:spPr>
          <a:xfrm>
            <a:off x="2238756" y="5391911"/>
            <a:ext cx="104775" cy="18415"/>
          </a:xfrm>
          <a:custGeom>
            <a:avLst/>
            <a:gdLst/>
            <a:ahLst/>
            <a:cxnLst/>
            <a:rect l="l" t="t" r="r" b="b"/>
            <a:pathLst>
              <a:path w="104775" h="18414">
                <a:moveTo>
                  <a:pt x="18161" y="4064"/>
                </a:moveTo>
                <a:lnTo>
                  <a:pt x="14097" y="0"/>
                </a:lnTo>
                <a:lnTo>
                  <a:pt x="4064" y="0"/>
                </a:lnTo>
                <a:lnTo>
                  <a:pt x="0" y="4064"/>
                </a:lnTo>
                <a:lnTo>
                  <a:pt x="0" y="14097"/>
                </a:lnTo>
                <a:lnTo>
                  <a:pt x="4064" y="18161"/>
                </a:lnTo>
                <a:lnTo>
                  <a:pt x="14097" y="18161"/>
                </a:lnTo>
                <a:lnTo>
                  <a:pt x="18161" y="14097"/>
                </a:lnTo>
                <a:lnTo>
                  <a:pt x="18161" y="4064"/>
                </a:lnTo>
                <a:close/>
              </a:path>
              <a:path w="104775" h="18414">
                <a:moveTo>
                  <a:pt x="61976" y="4064"/>
                </a:moveTo>
                <a:lnTo>
                  <a:pt x="57658" y="0"/>
                </a:lnTo>
                <a:lnTo>
                  <a:pt x="46990" y="0"/>
                </a:lnTo>
                <a:lnTo>
                  <a:pt x="42672" y="4064"/>
                </a:lnTo>
                <a:lnTo>
                  <a:pt x="42672" y="14097"/>
                </a:lnTo>
                <a:lnTo>
                  <a:pt x="46990" y="18161"/>
                </a:lnTo>
                <a:lnTo>
                  <a:pt x="57658" y="18161"/>
                </a:lnTo>
                <a:lnTo>
                  <a:pt x="61976" y="14097"/>
                </a:lnTo>
                <a:lnTo>
                  <a:pt x="61976" y="4064"/>
                </a:lnTo>
                <a:close/>
              </a:path>
              <a:path w="104775" h="18414">
                <a:moveTo>
                  <a:pt x="104648" y="4064"/>
                </a:moveTo>
                <a:lnTo>
                  <a:pt x="100330" y="0"/>
                </a:lnTo>
                <a:lnTo>
                  <a:pt x="89662" y="0"/>
                </a:lnTo>
                <a:lnTo>
                  <a:pt x="85344" y="4064"/>
                </a:lnTo>
                <a:lnTo>
                  <a:pt x="85344" y="14097"/>
                </a:lnTo>
                <a:lnTo>
                  <a:pt x="89662" y="18161"/>
                </a:lnTo>
                <a:lnTo>
                  <a:pt x="100330" y="18161"/>
                </a:lnTo>
                <a:lnTo>
                  <a:pt x="104648" y="14097"/>
                </a:lnTo>
                <a:lnTo>
                  <a:pt x="104648" y="406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5" name="object 55"/>
          <p:cNvGrpSpPr/>
          <p:nvPr/>
        </p:nvGrpSpPr>
        <p:grpSpPr>
          <a:xfrm>
            <a:off x="211836" y="4053840"/>
            <a:ext cx="885825" cy="1725295"/>
            <a:chOff x="211836" y="4053840"/>
            <a:chExt cx="885825" cy="1725295"/>
          </a:xfrm>
        </p:grpSpPr>
        <p:sp>
          <p:nvSpPr>
            <p:cNvPr id="56" name="object 56"/>
            <p:cNvSpPr/>
            <p:nvPr/>
          </p:nvSpPr>
          <p:spPr>
            <a:xfrm>
              <a:off x="886968" y="4155948"/>
              <a:ext cx="121919" cy="2072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54963" y="4358640"/>
              <a:ext cx="242315" cy="8915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16408" y="4096512"/>
              <a:ext cx="304800" cy="802005"/>
            </a:xfrm>
            <a:custGeom>
              <a:avLst/>
              <a:gdLst/>
              <a:ahLst/>
              <a:cxnLst/>
              <a:rect l="l" t="t" r="r" b="b"/>
              <a:pathLst>
                <a:path w="304800" h="802004">
                  <a:moveTo>
                    <a:pt x="304495" y="801624"/>
                  </a:moveTo>
                  <a:lnTo>
                    <a:pt x="257860" y="770255"/>
                  </a:lnTo>
                  <a:lnTo>
                    <a:pt x="215099" y="737743"/>
                  </a:lnTo>
                  <a:lnTo>
                    <a:pt x="176237" y="704342"/>
                  </a:lnTo>
                  <a:lnTo>
                    <a:pt x="141262" y="670051"/>
                  </a:lnTo>
                  <a:lnTo>
                    <a:pt x="110147" y="634745"/>
                  </a:lnTo>
                  <a:lnTo>
                    <a:pt x="82905" y="598805"/>
                  </a:lnTo>
                  <a:lnTo>
                    <a:pt x="59524" y="561975"/>
                  </a:lnTo>
                  <a:lnTo>
                    <a:pt x="40005" y="524510"/>
                  </a:lnTo>
                  <a:lnTo>
                    <a:pt x="24333" y="486410"/>
                  </a:lnTo>
                  <a:lnTo>
                    <a:pt x="12496" y="447801"/>
                  </a:lnTo>
                  <a:lnTo>
                    <a:pt x="4508" y="408558"/>
                  </a:lnTo>
                  <a:lnTo>
                    <a:pt x="342" y="368807"/>
                  </a:lnTo>
                  <a:lnTo>
                    <a:pt x="0" y="328802"/>
                  </a:lnTo>
                  <a:lnTo>
                    <a:pt x="3479" y="288289"/>
                  </a:lnTo>
                  <a:lnTo>
                    <a:pt x="10769" y="247523"/>
                  </a:lnTo>
                  <a:lnTo>
                    <a:pt x="21869" y="206629"/>
                  </a:lnTo>
                  <a:lnTo>
                    <a:pt x="36753" y="165354"/>
                  </a:lnTo>
                  <a:lnTo>
                    <a:pt x="55448" y="124079"/>
                  </a:lnTo>
                  <a:lnTo>
                    <a:pt x="77927" y="82676"/>
                  </a:lnTo>
                  <a:lnTo>
                    <a:pt x="104178" y="41401"/>
                  </a:lnTo>
                  <a:lnTo>
                    <a:pt x="134213" y="0"/>
                  </a:lnTo>
                </a:path>
              </a:pathLst>
            </a:custGeom>
            <a:ln w="9144">
              <a:solidFill>
                <a:srgbClr val="D644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34924" y="4059936"/>
              <a:ext cx="307975" cy="1713230"/>
            </a:xfrm>
            <a:custGeom>
              <a:avLst/>
              <a:gdLst/>
              <a:ahLst/>
              <a:cxnLst/>
              <a:rect l="l" t="t" r="r" b="b"/>
              <a:pathLst>
                <a:path w="307975" h="1713229">
                  <a:moveTo>
                    <a:pt x="307720" y="1712722"/>
                  </a:moveTo>
                  <a:lnTo>
                    <a:pt x="259092" y="1707222"/>
                  </a:lnTo>
                  <a:lnTo>
                    <a:pt x="216852" y="1691894"/>
                  </a:lnTo>
                  <a:lnTo>
                    <a:pt x="183540" y="1668526"/>
                  </a:lnTo>
                  <a:lnTo>
                    <a:pt x="153860" y="1604772"/>
                  </a:lnTo>
                  <a:lnTo>
                    <a:pt x="153860" y="964311"/>
                  </a:lnTo>
                  <a:lnTo>
                    <a:pt x="146011" y="930147"/>
                  </a:lnTo>
                  <a:lnTo>
                    <a:pt x="124180" y="900557"/>
                  </a:lnTo>
                  <a:lnTo>
                    <a:pt x="90868" y="877188"/>
                  </a:lnTo>
                  <a:lnTo>
                    <a:pt x="48628" y="861821"/>
                  </a:lnTo>
                  <a:lnTo>
                    <a:pt x="0" y="856361"/>
                  </a:lnTo>
                  <a:lnTo>
                    <a:pt x="48628" y="850900"/>
                  </a:lnTo>
                  <a:lnTo>
                    <a:pt x="90868" y="835532"/>
                  </a:lnTo>
                  <a:lnTo>
                    <a:pt x="124180" y="812164"/>
                  </a:lnTo>
                  <a:lnTo>
                    <a:pt x="146011" y="782574"/>
                  </a:lnTo>
                  <a:lnTo>
                    <a:pt x="153860" y="748411"/>
                  </a:lnTo>
                  <a:lnTo>
                    <a:pt x="153860" y="107950"/>
                  </a:lnTo>
                  <a:lnTo>
                    <a:pt x="161709" y="73787"/>
                  </a:lnTo>
                  <a:lnTo>
                    <a:pt x="183540" y="44195"/>
                  </a:lnTo>
                  <a:lnTo>
                    <a:pt x="216852" y="20827"/>
                  </a:lnTo>
                  <a:lnTo>
                    <a:pt x="259092" y="5461"/>
                  </a:lnTo>
                  <a:lnTo>
                    <a:pt x="307720" y="0"/>
                  </a:lnTo>
                </a:path>
              </a:pathLst>
            </a:custGeom>
            <a:ln w="1219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/>
          <p:nvPr/>
        </p:nvSpPr>
        <p:spPr>
          <a:xfrm>
            <a:off x="902208" y="5458967"/>
            <a:ext cx="143256" cy="1935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1979802" y="6067450"/>
            <a:ext cx="90030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CC0000"/>
                </a:solidFill>
                <a:latin typeface="Trebuchet MS"/>
                <a:cs typeface="Trebuchet MS"/>
              </a:rPr>
              <a:t>784</a:t>
            </a:r>
            <a:r>
              <a:rPr sz="1200" spc="-225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lang="en-US" sz="1200" spc="-55" dirty="0">
                <a:solidFill>
                  <a:srgbClr val="CC0000"/>
                </a:solidFill>
                <a:latin typeface="Trebuchet MS"/>
                <a:cs typeface="Trebuchet MS"/>
              </a:rPr>
              <a:t>numbers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22936" y="3281933"/>
            <a:ext cx="148907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CC0000"/>
                </a:solidFill>
                <a:latin typeface="Arial"/>
                <a:cs typeface="Arial"/>
              </a:rPr>
              <a:t>X : 60,000</a:t>
            </a:r>
            <a:r>
              <a:rPr sz="1400" spc="-275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C0000"/>
                </a:solidFill>
                <a:latin typeface="Arial"/>
                <a:cs typeface="Arial"/>
              </a:rPr>
              <a:t>images,  one per line,  flattened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554603" y="1829562"/>
            <a:ext cx="1553210" cy="1899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algn="just">
              <a:lnSpc>
                <a:spcPct val="100000"/>
              </a:lnSpc>
              <a:spcBef>
                <a:spcPts val="105"/>
              </a:spcBef>
            </a:pPr>
            <a:r>
              <a:rPr sz="2100" spc="-195" baseline="11904" dirty="0">
                <a:latin typeface="Arial"/>
                <a:cs typeface="Arial"/>
              </a:rPr>
              <a:t>w</a:t>
            </a:r>
            <a:r>
              <a:rPr sz="900" spc="-130" dirty="0">
                <a:latin typeface="Arial"/>
                <a:cs typeface="Arial"/>
              </a:rPr>
              <a:t>1 </a:t>
            </a:r>
            <a:r>
              <a:rPr sz="900" dirty="0">
                <a:latin typeface="Arial"/>
                <a:cs typeface="Arial"/>
              </a:rPr>
              <a:t>, </a:t>
            </a:r>
            <a:r>
              <a:rPr sz="900" spc="-5" dirty="0">
                <a:latin typeface="Arial"/>
                <a:cs typeface="Arial"/>
              </a:rPr>
              <a:t>0 </a:t>
            </a:r>
            <a:r>
              <a:rPr sz="2100" spc="-195" baseline="11904" dirty="0">
                <a:latin typeface="Arial"/>
                <a:cs typeface="Arial"/>
              </a:rPr>
              <a:t>w</a:t>
            </a:r>
            <a:r>
              <a:rPr sz="900" spc="-130" dirty="0">
                <a:latin typeface="Arial"/>
                <a:cs typeface="Arial"/>
              </a:rPr>
              <a:t>1 </a:t>
            </a:r>
            <a:r>
              <a:rPr sz="900" dirty="0">
                <a:latin typeface="Arial"/>
                <a:cs typeface="Arial"/>
              </a:rPr>
              <a:t>, </a:t>
            </a:r>
            <a:r>
              <a:rPr sz="900" spc="-5" dirty="0">
                <a:latin typeface="Arial"/>
                <a:cs typeface="Arial"/>
              </a:rPr>
              <a:t>1 </a:t>
            </a:r>
            <a:r>
              <a:rPr sz="2100" baseline="11904" dirty="0">
                <a:latin typeface="Arial"/>
                <a:cs typeface="Arial"/>
              </a:rPr>
              <a:t>w</a:t>
            </a:r>
            <a:r>
              <a:rPr sz="900" dirty="0">
                <a:latin typeface="Arial"/>
                <a:cs typeface="Arial"/>
              </a:rPr>
              <a:t>1,2 </a:t>
            </a:r>
            <a:r>
              <a:rPr sz="2100" baseline="11904" dirty="0">
                <a:latin typeface="Arial"/>
                <a:cs typeface="Arial"/>
              </a:rPr>
              <a:t>w</a:t>
            </a:r>
            <a:r>
              <a:rPr sz="900" dirty="0">
                <a:latin typeface="Arial"/>
                <a:cs typeface="Arial"/>
              </a:rPr>
              <a:t>1,3  </a:t>
            </a:r>
            <a:r>
              <a:rPr sz="2100" spc="-195" baseline="11904" dirty="0">
                <a:latin typeface="Arial"/>
                <a:cs typeface="Arial"/>
              </a:rPr>
              <a:t>w</a:t>
            </a:r>
            <a:r>
              <a:rPr sz="900" spc="-130" dirty="0">
                <a:latin typeface="Arial"/>
                <a:cs typeface="Arial"/>
              </a:rPr>
              <a:t>2 </a:t>
            </a:r>
            <a:r>
              <a:rPr sz="900" dirty="0">
                <a:latin typeface="Arial"/>
                <a:cs typeface="Arial"/>
              </a:rPr>
              <a:t>, </a:t>
            </a:r>
            <a:r>
              <a:rPr sz="900" spc="-5" dirty="0">
                <a:latin typeface="Arial"/>
                <a:cs typeface="Arial"/>
              </a:rPr>
              <a:t>0 </a:t>
            </a:r>
            <a:r>
              <a:rPr sz="2100" spc="-195" baseline="11904" dirty="0">
                <a:latin typeface="Arial"/>
                <a:cs typeface="Arial"/>
              </a:rPr>
              <a:t>w</a:t>
            </a:r>
            <a:r>
              <a:rPr sz="900" spc="-130" dirty="0">
                <a:latin typeface="Arial"/>
                <a:cs typeface="Arial"/>
              </a:rPr>
              <a:t>2 </a:t>
            </a:r>
            <a:r>
              <a:rPr sz="900" dirty="0">
                <a:latin typeface="Arial"/>
                <a:cs typeface="Arial"/>
              </a:rPr>
              <a:t>, </a:t>
            </a:r>
            <a:r>
              <a:rPr sz="900" spc="-5" dirty="0">
                <a:latin typeface="Arial"/>
                <a:cs typeface="Arial"/>
              </a:rPr>
              <a:t>1 </a:t>
            </a:r>
            <a:r>
              <a:rPr sz="2100" baseline="11904" dirty="0">
                <a:latin typeface="Arial"/>
                <a:cs typeface="Arial"/>
              </a:rPr>
              <a:t>w</a:t>
            </a:r>
            <a:r>
              <a:rPr sz="900" dirty="0">
                <a:latin typeface="Arial"/>
                <a:cs typeface="Arial"/>
              </a:rPr>
              <a:t>2,2 </a:t>
            </a:r>
            <a:r>
              <a:rPr sz="2100" baseline="11904" dirty="0">
                <a:latin typeface="Arial"/>
                <a:cs typeface="Arial"/>
              </a:rPr>
              <a:t>w</a:t>
            </a:r>
            <a:r>
              <a:rPr sz="900" dirty="0">
                <a:latin typeface="Arial"/>
                <a:cs typeface="Arial"/>
              </a:rPr>
              <a:t>2,3  </a:t>
            </a:r>
            <a:r>
              <a:rPr sz="2100" spc="-202" baseline="11904" dirty="0">
                <a:latin typeface="Arial"/>
                <a:cs typeface="Arial"/>
              </a:rPr>
              <a:t>w</a:t>
            </a:r>
            <a:r>
              <a:rPr sz="900" spc="-135" dirty="0">
                <a:latin typeface="Arial"/>
                <a:cs typeface="Arial"/>
              </a:rPr>
              <a:t>3 </a:t>
            </a:r>
            <a:r>
              <a:rPr sz="900" dirty="0">
                <a:latin typeface="Arial"/>
                <a:cs typeface="Arial"/>
              </a:rPr>
              <a:t>, </a:t>
            </a:r>
            <a:r>
              <a:rPr sz="900" spc="-5" dirty="0">
                <a:latin typeface="Arial"/>
                <a:cs typeface="Arial"/>
              </a:rPr>
              <a:t>0 </a:t>
            </a:r>
            <a:r>
              <a:rPr sz="2100" spc="-202" baseline="11904" dirty="0">
                <a:latin typeface="Arial"/>
                <a:cs typeface="Arial"/>
              </a:rPr>
              <a:t>w</a:t>
            </a:r>
            <a:r>
              <a:rPr sz="900" spc="-135" dirty="0">
                <a:latin typeface="Arial"/>
                <a:cs typeface="Arial"/>
              </a:rPr>
              <a:t>3 </a:t>
            </a:r>
            <a:r>
              <a:rPr sz="900" dirty="0">
                <a:latin typeface="Arial"/>
                <a:cs typeface="Arial"/>
              </a:rPr>
              <a:t>, </a:t>
            </a:r>
            <a:r>
              <a:rPr sz="900" spc="-5" dirty="0">
                <a:latin typeface="Arial"/>
                <a:cs typeface="Arial"/>
              </a:rPr>
              <a:t>1 </a:t>
            </a:r>
            <a:r>
              <a:rPr sz="2100" baseline="11904" dirty="0">
                <a:latin typeface="Arial"/>
                <a:cs typeface="Arial"/>
              </a:rPr>
              <a:t>w</a:t>
            </a:r>
            <a:r>
              <a:rPr sz="900" dirty="0">
                <a:latin typeface="Arial"/>
                <a:cs typeface="Arial"/>
              </a:rPr>
              <a:t>3,2 </a:t>
            </a:r>
            <a:r>
              <a:rPr sz="2100" baseline="11904" dirty="0">
                <a:latin typeface="Arial"/>
                <a:cs typeface="Arial"/>
              </a:rPr>
              <a:t>w</a:t>
            </a:r>
            <a:r>
              <a:rPr sz="900" dirty="0">
                <a:latin typeface="Arial"/>
                <a:cs typeface="Arial"/>
              </a:rPr>
              <a:t>3,3  </a:t>
            </a:r>
            <a:r>
              <a:rPr sz="2100" spc="-195" baseline="11904" dirty="0">
                <a:latin typeface="Arial"/>
                <a:cs typeface="Arial"/>
              </a:rPr>
              <a:t>w</a:t>
            </a:r>
            <a:r>
              <a:rPr sz="900" spc="-130" dirty="0">
                <a:latin typeface="Arial"/>
                <a:cs typeface="Arial"/>
              </a:rPr>
              <a:t>4 </a:t>
            </a:r>
            <a:r>
              <a:rPr sz="900" dirty="0">
                <a:latin typeface="Arial"/>
                <a:cs typeface="Arial"/>
              </a:rPr>
              <a:t>, </a:t>
            </a:r>
            <a:r>
              <a:rPr sz="900" spc="-5" dirty="0">
                <a:latin typeface="Arial"/>
                <a:cs typeface="Arial"/>
              </a:rPr>
              <a:t>0 </a:t>
            </a:r>
            <a:r>
              <a:rPr sz="2100" spc="-195" baseline="11904" dirty="0">
                <a:latin typeface="Arial"/>
                <a:cs typeface="Arial"/>
              </a:rPr>
              <a:t>w</a:t>
            </a:r>
            <a:r>
              <a:rPr sz="900" spc="-130" dirty="0">
                <a:latin typeface="Arial"/>
                <a:cs typeface="Arial"/>
              </a:rPr>
              <a:t>4 </a:t>
            </a:r>
            <a:r>
              <a:rPr sz="900" dirty="0">
                <a:latin typeface="Arial"/>
                <a:cs typeface="Arial"/>
              </a:rPr>
              <a:t>, </a:t>
            </a:r>
            <a:r>
              <a:rPr sz="900" spc="-5" dirty="0">
                <a:latin typeface="Arial"/>
                <a:cs typeface="Arial"/>
              </a:rPr>
              <a:t>1 </a:t>
            </a:r>
            <a:r>
              <a:rPr sz="2100" baseline="11904" dirty="0">
                <a:latin typeface="Arial"/>
                <a:cs typeface="Arial"/>
              </a:rPr>
              <a:t>w</a:t>
            </a:r>
            <a:r>
              <a:rPr sz="900" dirty="0">
                <a:latin typeface="Arial"/>
                <a:cs typeface="Arial"/>
              </a:rPr>
              <a:t>4,2 </a:t>
            </a:r>
            <a:r>
              <a:rPr sz="2100" baseline="11904" dirty="0">
                <a:latin typeface="Arial"/>
                <a:cs typeface="Arial"/>
              </a:rPr>
              <a:t>w</a:t>
            </a:r>
            <a:r>
              <a:rPr sz="900" dirty="0">
                <a:latin typeface="Arial"/>
                <a:cs typeface="Arial"/>
              </a:rPr>
              <a:t>4,3  </a:t>
            </a:r>
            <a:r>
              <a:rPr sz="2100" spc="-195" baseline="11904" dirty="0">
                <a:latin typeface="Arial"/>
                <a:cs typeface="Arial"/>
              </a:rPr>
              <a:t>w</a:t>
            </a:r>
            <a:r>
              <a:rPr sz="900" spc="-130" dirty="0">
                <a:latin typeface="Arial"/>
                <a:cs typeface="Arial"/>
              </a:rPr>
              <a:t>5 </a:t>
            </a:r>
            <a:r>
              <a:rPr sz="900" dirty="0">
                <a:latin typeface="Arial"/>
                <a:cs typeface="Arial"/>
              </a:rPr>
              <a:t>, </a:t>
            </a:r>
            <a:r>
              <a:rPr sz="900" spc="-5" dirty="0">
                <a:latin typeface="Arial"/>
                <a:cs typeface="Arial"/>
              </a:rPr>
              <a:t>0 </a:t>
            </a:r>
            <a:r>
              <a:rPr sz="2100" spc="-195" baseline="11904" dirty="0">
                <a:latin typeface="Arial"/>
                <a:cs typeface="Arial"/>
              </a:rPr>
              <a:t>w</a:t>
            </a:r>
            <a:r>
              <a:rPr sz="900" spc="-130" dirty="0">
                <a:latin typeface="Arial"/>
                <a:cs typeface="Arial"/>
              </a:rPr>
              <a:t>5 </a:t>
            </a:r>
            <a:r>
              <a:rPr sz="900" dirty="0">
                <a:latin typeface="Arial"/>
                <a:cs typeface="Arial"/>
              </a:rPr>
              <a:t>, </a:t>
            </a:r>
            <a:r>
              <a:rPr sz="900" spc="-5" dirty="0">
                <a:latin typeface="Arial"/>
                <a:cs typeface="Arial"/>
              </a:rPr>
              <a:t>1 </a:t>
            </a:r>
            <a:r>
              <a:rPr sz="2100" baseline="11904" dirty="0">
                <a:latin typeface="Arial"/>
                <a:cs typeface="Arial"/>
              </a:rPr>
              <a:t>w</a:t>
            </a:r>
            <a:r>
              <a:rPr sz="900" dirty="0">
                <a:latin typeface="Arial"/>
                <a:cs typeface="Arial"/>
              </a:rPr>
              <a:t>5,2 </a:t>
            </a:r>
            <a:r>
              <a:rPr sz="2100" baseline="11904" dirty="0">
                <a:latin typeface="Arial"/>
                <a:cs typeface="Arial"/>
              </a:rPr>
              <a:t>w</a:t>
            </a:r>
            <a:r>
              <a:rPr sz="900" dirty="0">
                <a:latin typeface="Arial"/>
                <a:cs typeface="Arial"/>
              </a:rPr>
              <a:t>5,3  </a:t>
            </a:r>
            <a:r>
              <a:rPr sz="2100" spc="-195" baseline="11904" dirty="0">
                <a:latin typeface="Arial"/>
                <a:cs typeface="Arial"/>
              </a:rPr>
              <a:t>w</a:t>
            </a:r>
            <a:r>
              <a:rPr sz="900" spc="-130" dirty="0">
                <a:latin typeface="Arial"/>
                <a:cs typeface="Arial"/>
              </a:rPr>
              <a:t>6 </a:t>
            </a:r>
            <a:r>
              <a:rPr sz="900" dirty="0">
                <a:latin typeface="Arial"/>
                <a:cs typeface="Arial"/>
              </a:rPr>
              <a:t>, </a:t>
            </a:r>
            <a:r>
              <a:rPr sz="900" spc="-5" dirty="0">
                <a:latin typeface="Arial"/>
                <a:cs typeface="Arial"/>
              </a:rPr>
              <a:t>0 </a:t>
            </a:r>
            <a:r>
              <a:rPr sz="2100" spc="-195" baseline="11904" dirty="0">
                <a:latin typeface="Arial"/>
                <a:cs typeface="Arial"/>
              </a:rPr>
              <a:t>w</a:t>
            </a:r>
            <a:r>
              <a:rPr sz="900" spc="-130" dirty="0">
                <a:latin typeface="Arial"/>
                <a:cs typeface="Arial"/>
              </a:rPr>
              <a:t>6 </a:t>
            </a:r>
            <a:r>
              <a:rPr sz="900" dirty="0">
                <a:latin typeface="Arial"/>
                <a:cs typeface="Arial"/>
              </a:rPr>
              <a:t>, </a:t>
            </a:r>
            <a:r>
              <a:rPr sz="900" spc="-5" dirty="0">
                <a:latin typeface="Arial"/>
                <a:cs typeface="Arial"/>
              </a:rPr>
              <a:t>1 </a:t>
            </a:r>
            <a:r>
              <a:rPr sz="2100" baseline="11904" dirty="0">
                <a:latin typeface="Arial"/>
                <a:cs typeface="Arial"/>
              </a:rPr>
              <a:t>w</a:t>
            </a:r>
            <a:r>
              <a:rPr sz="900" dirty="0">
                <a:latin typeface="Arial"/>
                <a:cs typeface="Arial"/>
              </a:rPr>
              <a:t>6,2 </a:t>
            </a:r>
            <a:r>
              <a:rPr sz="2100" baseline="11904" dirty="0">
                <a:latin typeface="Arial"/>
                <a:cs typeface="Arial"/>
              </a:rPr>
              <a:t>w</a:t>
            </a:r>
            <a:r>
              <a:rPr sz="900" dirty="0">
                <a:latin typeface="Arial"/>
                <a:cs typeface="Arial"/>
              </a:rPr>
              <a:t>6,3  </a:t>
            </a:r>
            <a:r>
              <a:rPr sz="2100" spc="-195" baseline="11904" dirty="0">
                <a:latin typeface="Arial"/>
                <a:cs typeface="Arial"/>
              </a:rPr>
              <a:t>w</a:t>
            </a:r>
            <a:r>
              <a:rPr sz="900" spc="-130" dirty="0">
                <a:latin typeface="Arial"/>
                <a:cs typeface="Arial"/>
              </a:rPr>
              <a:t>7 </a:t>
            </a:r>
            <a:r>
              <a:rPr sz="900" dirty="0">
                <a:latin typeface="Arial"/>
                <a:cs typeface="Arial"/>
              </a:rPr>
              <a:t>, </a:t>
            </a:r>
            <a:r>
              <a:rPr sz="900" spc="-5" dirty="0">
                <a:latin typeface="Arial"/>
                <a:cs typeface="Arial"/>
              </a:rPr>
              <a:t>0 </a:t>
            </a:r>
            <a:r>
              <a:rPr sz="2100" spc="-195" baseline="11904" dirty="0">
                <a:latin typeface="Arial"/>
                <a:cs typeface="Arial"/>
              </a:rPr>
              <a:t>w</a:t>
            </a:r>
            <a:r>
              <a:rPr sz="900" spc="-130" dirty="0">
                <a:latin typeface="Arial"/>
                <a:cs typeface="Arial"/>
              </a:rPr>
              <a:t>7 </a:t>
            </a:r>
            <a:r>
              <a:rPr sz="900" dirty="0">
                <a:latin typeface="Arial"/>
                <a:cs typeface="Arial"/>
              </a:rPr>
              <a:t>, </a:t>
            </a:r>
            <a:r>
              <a:rPr sz="900" spc="-5" dirty="0">
                <a:latin typeface="Arial"/>
                <a:cs typeface="Arial"/>
              </a:rPr>
              <a:t>1 </a:t>
            </a:r>
            <a:r>
              <a:rPr sz="2100" baseline="11904" dirty="0">
                <a:latin typeface="Arial"/>
                <a:cs typeface="Arial"/>
              </a:rPr>
              <a:t>w</a:t>
            </a:r>
            <a:r>
              <a:rPr sz="900" dirty="0">
                <a:latin typeface="Arial"/>
                <a:cs typeface="Arial"/>
              </a:rPr>
              <a:t>7,2 </a:t>
            </a:r>
            <a:r>
              <a:rPr sz="2100" baseline="11904" dirty="0">
                <a:latin typeface="Arial"/>
                <a:cs typeface="Arial"/>
              </a:rPr>
              <a:t>w</a:t>
            </a:r>
            <a:r>
              <a:rPr sz="900" dirty="0">
                <a:latin typeface="Arial"/>
                <a:cs typeface="Arial"/>
              </a:rPr>
              <a:t>7,3  </a:t>
            </a:r>
            <a:r>
              <a:rPr sz="2100" spc="-195" baseline="11904" dirty="0">
                <a:latin typeface="Arial"/>
                <a:cs typeface="Arial"/>
              </a:rPr>
              <a:t>w</a:t>
            </a:r>
            <a:r>
              <a:rPr sz="900" spc="-130" dirty="0">
                <a:latin typeface="Arial"/>
                <a:cs typeface="Arial"/>
              </a:rPr>
              <a:t>8 </a:t>
            </a:r>
            <a:r>
              <a:rPr sz="900" dirty="0">
                <a:latin typeface="Arial"/>
                <a:cs typeface="Arial"/>
              </a:rPr>
              <a:t>, </a:t>
            </a:r>
            <a:r>
              <a:rPr sz="900" spc="-5" dirty="0">
                <a:latin typeface="Arial"/>
                <a:cs typeface="Arial"/>
              </a:rPr>
              <a:t>0 </a:t>
            </a:r>
            <a:r>
              <a:rPr sz="2100" spc="-195" baseline="11904" dirty="0">
                <a:latin typeface="Arial"/>
                <a:cs typeface="Arial"/>
              </a:rPr>
              <a:t>w</a:t>
            </a:r>
            <a:r>
              <a:rPr sz="900" spc="-130" dirty="0">
                <a:latin typeface="Arial"/>
                <a:cs typeface="Arial"/>
              </a:rPr>
              <a:t>8 </a:t>
            </a:r>
            <a:r>
              <a:rPr sz="900" dirty="0">
                <a:latin typeface="Arial"/>
                <a:cs typeface="Arial"/>
              </a:rPr>
              <a:t>, </a:t>
            </a:r>
            <a:r>
              <a:rPr sz="900" spc="-5" dirty="0">
                <a:latin typeface="Arial"/>
                <a:cs typeface="Arial"/>
              </a:rPr>
              <a:t>1 </a:t>
            </a:r>
            <a:r>
              <a:rPr sz="2100" baseline="11904" dirty="0">
                <a:latin typeface="Arial"/>
                <a:cs typeface="Arial"/>
              </a:rPr>
              <a:t>w</a:t>
            </a:r>
            <a:r>
              <a:rPr sz="900" dirty="0">
                <a:latin typeface="Arial"/>
                <a:cs typeface="Arial"/>
              </a:rPr>
              <a:t>8,2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2100" baseline="11904" dirty="0">
                <a:latin typeface="Arial"/>
                <a:cs typeface="Arial"/>
              </a:rPr>
              <a:t>w</a:t>
            </a:r>
            <a:r>
              <a:rPr sz="900" dirty="0">
                <a:latin typeface="Arial"/>
                <a:cs typeface="Arial"/>
              </a:rPr>
              <a:t>8,3</a:t>
            </a:r>
            <a:endParaRPr sz="900">
              <a:latin typeface="Arial"/>
              <a:cs typeface="Arial"/>
            </a:endParaRPr>
          </a:p>
          <a:p>
            <a:pPr marL="923290">
              <a:lnSpc>
                <a:spcPts val="1310"/>
              </a:lnSpc>
            </a:pPr>
            <a:r>
              <a:rPr sz="1400" dirty="0">
                <a:latin typeface="Arial"/>
                <a:cs typeface="Arial"/>
              </a:rPr>
              <a:t>…</a:t>
            </a:r>
            <a:endParaRPr sz="14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23434" y="1616201"/>
            <a:ext cx="551180" cy="1946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spc="15" baseline="11904" dirty="0">
                <a:latin typeface="Arial"/>
                <a:cs typeface="Arial"/>
              </a:rPr>
              <a:t>…w</a:t>
            </a:r>
            <a:r>
              <a:rPr sz="900" spc="10" dirty="0">
                <a:latin typeface="Arial"/>
                <a:cs typeface="Arial"/>
              </a:rPr>
              <a:t>0,9</a:t>
            </a:r>
            <a:endParaRPr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100" spc="15" baseline="11904" dirty="0">
                <a:latin typeface="Arial"/>
                <a:cs typeface="Arial"/>
              </a:rPr>
              <a:t>…w</a:t>
            </a:r>
            <a:r>
              <a:rPr sz="900" spc="10" dirty="0">
                <a:latin typeface="Arial"/>
                <a:cs typeface="Arial"/>
              </a:rPr>
              <a:t>1,9</a:t>
            </a:r>
            <a:endParaRPr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100" spc="15" baseline="11904" dirty="0">
                <a:latin typeface="Arial"/>
                <a:cs typeface="Arial"/>
              </a:rPr>
              <a:t>…w</a:t>
            </a:r>
            <a:r>
              <a:rPr sz="900" spc="10" dirty="0">
                <a:latin typeface="Arial"/>
                <a:cs typeface="Arial"/>
              </a:rPr>
              <a:t>2,9</a:t>
            </a:r>
            <a:endParaRPr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100" spc="15" baseline="11904" dirty="0">
                <a:latin typeface="Arial"/>
                <a:cs typeface="Arial"/>
              </a:rPr>
              <a:t>…w</a:t>
            </a:r>
            <a:r>
              <a:rPr sz="900" spc="10" dirty="0">
                <a:latin typeface="Arial"/>
                <a:cs typeface="Arial"/>
              </a:rPr>
              <a:t>3,9</a:t>
            </a:r>
            <a:endParaRPr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100" spc="15" baseline="11904" dirty="0">
                <a:latin typeface="Arial"/>
                <a:cs typeface="Arial"/>
              </a:rPr>
              <a:t>…w</a:t>
            </a:r>
            <a:r>
              <a:rPr sz="900" spc="10" dirty="0">
                <a:latin typeface="Arial"/>
                <a:cs typeface="Arial"/>
              </a:rPr>
              <a:t>4,9</a:t>
            </a:r>
            <a:endParaRPr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100" spc="15" baseline="11904" dirty="0">
                <a:latin typeface="Arial"/>
                <a:cs typeface="Arial"/>
              </a:rPr>
              <a:t>…w</a:t>
            </a:r>
            <a:r>
              <a:rPr sz="900" spc="10" dirty="0">
                <a:latin typeface="Arial"/>
                <a:cs typeface="Arial"/>
              </a:rPr>
              <a:t>5,9</a:t>
            </a:r>
            <a:endParaRPr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100" spc="15" baseline="11904" dirty="0">
                <a:latin typeface="Arial"/>
                <a:cs typeface="Arial"/>
              </a:rPr>
              <a:t>…w</a:t>
            </a:r>
            <a:r>
              <a:rPr sz="900" spc="10" dirty="0">
                <a:latin typeface="Arial"/>
                <a:cs typeface="Arial"/>
              </a:rPr>
              <a:t>6,9</a:t>
            </a:r>
            <a:endParaRPr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100" spc="15" baseline="11904" dirty="0">
                <a:latin typeface="Arial"/>
                <a:cs typeface="Arial"/>
              </a:rPr>
              <a:t>…w</a:t>
            </a:r>
            <a:r>
              <a:rPr sz="900" spc="10" dirty="0">
                <a:latin typeface="Arial"/>
                <a:cs typeface="Arial"/>
              </a:rPr>
              <a:t>7,9</a:t>
            </a:r>
            <a:endParaRPr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100" spc="15" baseline="11904" dirty="0">
                <a:latin typeface="Arial"/>
                <a:cs typeface="Arial"/>
              </a:rPr>
              <a:t>…w</a:t>
            </a:r>
            <a:r>
              <a:rPr sz="900" spc="10" dirty="0">
                <a:latin typeface="Arial"/>
                <a:cs typeface="Arial"/>
              </a:rPr>
              <a:t>8,9</a:t>
            </a:r>
            <a:endParaRPr sz="9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541903" y="3750055"/>
            <a:ext cx="15246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100" spc="-7" baseline="11904" dirty="0">
                <a:latin typeface="Arial"/>
                <a:cs typeface="Arial"/>
              </a:rPr>
              <a:t>w</a:t>
            </a:r>
            <a:r>
              <a:rPr sz="900" spc="-5" dirty="0">
                <a:latin typeface="Arial"/>
                <a:cs typeface="Arial"/>
              </a:rPr>
              <a:t>783,0 </a:t>
            </a:r>
            <a:r>
              <a:rPr sz="2100" spc="7" baseline="11904" dirty="0">
                <a:latin typeface="Arial"/>
                <a:cs typeface="Arial"/>
              </a:rPr>
              <a:t>w</a:t>
            </a:r>
            <a:r>
              <a:rPr sz="900" spc="5" dirty="0">
                <a:latin typeface="Arial"/>
                <a:cs typeface="Arial"/>
              </a:rPr>
              <a:t>783,1</a:t>
            </a:r>
            <a:r>
              <a:rPr sz="900" spc="254" dirty="0">
                <a:latin typeface="Arial"/>
                <a:cs typeface="Arial"/>
              </a:rPr>
              <a:t> </a:t>
            </a:r>
            <a:r>
              <a:rPr sz="2100" spc="7" baseline="11904" dirty="0">
                <a:latin typeface="Arial"/>
                <a:cs typeface="Arial"/>
              </a:rPr>
              <a:t>w</a:t>
            </a:r>
            <a:r>
              <a:rPr sz="900" spc="5" dirty="0">
                <a:latin typeface="Arial"/>
                <a:cs typeface="Arial"/>
              </a:rPr>
              <a:t>783,2</a:t>
            </a:r>
            <a:endParaRPr sz="9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121909" y="3750055"/>
            <a:ext cx="6832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15" baseline="11904" dirty="0">
                <a:latin typeface="Arial"/>
                <a:cs typeface="Arial"/>
              </a:rPr>
              <a:t>…w</a:t>
            </a:r>
            <a:r>
              <a:rPr sz="900" spc="10" dirty="0">
                <a:latin typeface="Arial"/>
                <a:cs typeface="Arial"/>
              </a:rPr>
              <a:t>783,9</a:t>
            </a:r>
            <a:endParaRPr sz="90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5780532" y="1536191"/>
            <a:ext cx="153670" cy="2520950"/>
          </a:xfrm>
          <a:custGeom>
            <a:avLst/>
            <a:gdLst/>
            <a:ahLst/>
            <a:cxnLst/>
            <a:rect l="l" t="t" r="r" b="b"/>
            <a:pathLst>
              <a:path w="153670" h="2520950">
                <a:moveTo>
                  <a:pt x="0" y="0"/>
                </a:moveTo>
                <a:lnTo>
                  <a:pt x="153542" y="0"/>
                </a:lnTo>
                <a:lnTo>
                  <a:pt x="153542" y="2520442"/>
                </a:lnTo>
                <a:lnTo>
                  <a:pt x="0" y="2520442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015484" y="1601724"/>
            <a:ext cx="659765" cy="8890"/>
          </a:xfrm>
          <a:custGeom>
            <a:avLst/>
            <a:gdLst/>
            <a:ahLst/>
            <a:cxnLst/>
            <a:rect l="l" t="t" r="r" b="b"/>
            <a:pathLst>
              <a:path w="659764" h="8890">
                <a:moveTo>
                  <a:pt x="659638" y="8381"/>
                </a:moveTo>
                <a:lnTo>
                  <a:pt x="603630" y="5841"/>
                </a:lnTo>
                <a:lnTo>
                  <a:pt x="548386" y="3683"/>
                </a:lnTo>
                <a:lnTo>
                  <a:pt x="494029" y="2159"/>
                </a:lnTo>
                <a:lnTo>
                  <a:pt x="440436" y="1015"/>
                </a:lnTo>
                <a:lnTo>
                  <a:pt x="387730" y="253"/>
                </a:lnTo>
                <a:lnTo>
                  <a:pt x="335914" y="0"/>
                </a:lnTo>
                <a:lnTo>
                  <a:pt x="284988" y="126"/>
                </a:lnTo>
                <a:lnTo>
                  <a:pt x="235076" y="762"/>
                </a:lnTo>
                <a:lnTo>
                  <a:pt x="186054" y="1650"/>
                </a:lnTo>
                <a:lnTo>
                  <a:pt x="138049" y="2921"/>
                </a:lnTo>
                <a:lnTo>
                  <a:pt x="90931" y="4572"/>
                </a:lnTo>
                <a:lnTo>
                  <a:pt x="44957" y="6603"/>
                </a:lnTo>
                <a:lnTo>
                  <a:pt x="0" y="8889"/>
                </a:lnTo>
              </a:path>
            </a:pathLst>
          </a:custGeom>
          <a:ln w="9144">
            <a:solidFill>
              <a:srgbClr val="D644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69"/>
          <p:cNvGrpSpPr/>
          <p:nvPr/>
        </p:nvGrpSpPr>
        <p:grpSpPr>
          <a:xfrm>
            <a:off x="3407473" y="1531429"/>
            <a:ext cx="802005" cy="2530475"/>
            <a:chOff x="3407473" y="1531429"/>
            <a:chExt cx="802005" cy="2530475"/>
          </a:xfrm>
        </p:grpSpPr>
        <p:sp>
          <p:nvSpPr>
            <p:cNvPr id="70" name="object 70"/>
            <p:cNvSpPr/>
            <p:nvPr/>
          </p:nvSpPr>
          <p:spPr>
            <a:xfrm>
              <a:off x="3412235" y="1536191"/>
              <a:ext cx="155575" cy="2520950"/>
            </a:xfrm>
            <a:custGeom>
              <a:avLst/>
              <a:gdLst/>
              <a:ahLst/>
              <a:cxnLst/>
              <a:rect l="l" t="t" r="r" b="b"/>
              <a:pathLst>
                <a:path w="155575" h="2520950">
                  <a:moveTo>
                    <a:pt x="155321" y="0"/>
                  </a:moveTo>
                  <a:lnTo>
                    <a:pt x="0" y="0"/>
                  </a:lnTo>
                  <a:lnTo>
                    <a:pt x="0" y="2520442"/>
                  </a:lnTo>
                  <a:lnTo>
                    <a:pt x="155321" y="252044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607307" y="1543811"/>
              <a:ext cx="596900" cy="120650"/>
            </a:xfrm>
            <a:custGeom>
              <a:avLst/>
              <a:gdLst/>
              <a:ahLst/>
              <a:cxnLst/>
              <a:rect l="l" t="t" r="r" b="b"/>
              <a:pathLst>
                <a:path w="596900" h="120650">
                  <a:moveTo>
                    <a:pt x="596900" y="0"/>
                  </a:moveTo>
                  <a:lnTo>
                    <a:pt x="541781" y="6476"/>
                  </a:lnTo>
                  <a:lnTo>
                    <a:pt x="487679" y="13715"/>
                  </a:lnTo>
                  <a:lnTo>
                    <a:pt x="434339" y="21716"/>
                  </a:lnTo>
                  <a:lnTo>
                    <a:pt x="382015" y="30352"/>
                  </a:lnTo>
                  <a:lnTo>
                    <a:pt x="330580" y="39624"/>
                  </a:lnTo>
                  <a:lnTo>
                    <a:pt x="280162" y="49657"/>
                  </a:lnTo>
                  <a:lnTo>
                    <a:pt x="230758" y="60198"/>
                  </a:lnTo>
                  <a:lnTo>
                    <a:pt x="182371" y="71247"/>
                  </a:lnTo>
                  <a:lnTo>
                    <a:pt x="135127" y="82930"/>
                  </a:lnTo>
                  <a:lnTo>
                    <a:pt x="88900" y="94996"/>
                  </a:lnTo>
                  <a:lnTo>
                    <a:pt x="43941" y="107441"/>
                  </a:lnTo>
                  <a:lnTo>
                    <a:pt x="0" y="120396"/>
                  </a:lnTo>
                </a:path>
              </a:pathLst>
            </a:custGeom>
            <a:ln w="9144">
              <a:solidFill>
                <a:srgbClr val="D644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3554603" y="1340516"/>
            <a:ext cx="1553210" cy="5156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715010">
              <a:lnSpc>
                <a:spcPct val="100000"/>
              </a:lnSpc>
              <a:spcBef>
                <a:spcPts val="434"/>
              </a:spcBef>
            </a:pPr>
            <a:r>
              <a:rPr sz="1200" spc="-15" dirty="0">
                <a:solidFill>
                  <a:srgbClr val="CC0000"/>
                </a:solidFill>
                <a:latin typeface="Trebuchet MS"/>
                <a:cs typeface="Trebuchet MS"/>
              </a:rPr>
              <a:t>10</a:t>
            </a:r>
            <a:r>
              <a:rPr sz="1200" spc="-180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1200" spc="-45" dirty="0">
                <a:solidFill>
                  <a:srgbClr val="CC0000"/>
                </a:solidFill>
                <a:latin typeface="Trebuchet MS"/>
                <a:cs typeface="Trebuchet MS"/>
              </a:rPr>
              <a:t>columns</a:t>
            </a:r>
            <a:endParaRPr sz="12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400"/>
              </a:spcBef>
            </a:pPr>
            <a:r>
              <a:rPr sz="2100" spc="-195" baseline="11904" dirty="0">
                <a:latin typeface="Arial"/>
                <a:cs typeface="Arial"/>
              </a:rPr>
              <a:t>w</a:t>
            </a:r>
            <a:r>
              <a:rPr sz="900" spc="-130" dirty="0">
                <a:latin typeface="Arial"/>
                <a:cs typeface="Arial"/>
              </a:rPr>
              <a:t>0 </a:t>
            </a:r>
            <a:r>
              <a:rPr sz="900" dirty="0">
                <a:latin typeface="Arial"/>
                <a:cs typeface="Arial"/>
              </a:rPr>
              <a:t>, </a:t>
            </a:r>
            <a:r>
              <a:rPr sz="900" spc="-5" dirty="0">
                <a:latin typeface="Arial"/>
                <a:cs typeface="Arial"/>
              </a:rPr>
              <a:t>0 </a:t>
            </a:r>
            <a:r>
              <a:rPr sz="2100" spc="-195" baseline="11904" dirty="0">
                <a:latin typeface="Arial"/>
                <a:cs typeface="Arial"/>
              </a:rPr>
              <a:t>w</a:t>
            </a:r>
            <a:r>
              <a:rPr sz="900" spc="-130" dirty="0">
                <a:latin typeface="Arial"/>
                <a:cs typeface="Arial"/>
              </a:rPr>
              <a:t>0 </a:t>
            </a:r>
            <a:r>
              <a:rPr sz="900" dirty="0">
                <a:latin typeface="Arial"/>
                <a:cs typeface="Arial"/>
              </a:rPr>
              <a:t>, </a:t>
            </a:r>
            <a:r>
              <a:rPr sz="900" spc="-5" dirty="0">
                <a:latin typeface="Arial"/>
                <a:cs typeface="Arial"/>
              </a:rPr>
              <a:t>1 </a:t>
            </a:r>
            <a:r>
              <a:rPr sz="2100" baseline="11904" dirty="0">
                <a:latin typeface="Arial"/>
                <a:cs typeface="Arial"/>
              </a:rPr>
              <a:t>w</a:t>
            </a:r>
            <a:r>
              <a:rPr sz="900" dirty="0">
                <a:latin typeface="Arial"/>
                <a:cs typeface="Arial"/>
              </a:rPr>
              <a:t>0,2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2100" baseline="11904" dirty="0">
                <a:latin typeface="Arial"/>
                <a:cs typeface="Arial"/>
              </a:rPr>
              <a:t>w</a:t>
            </a:r>
            <a:r>
              <a:rPr sz="900" dirty="0">
                <a:latin typeface="Arial"/>
                <a:cs typeface="Arial"/>
              </a:rPr>
              <a:t>0,3</a:t>
            </a:r>
            <a:endParaRPr sz="9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767755" y="2482088"/>
            <a:ext cx="202565" cy="576580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0" dirty="0">
                <a:solidFill>
                  <a:srgbClr val="CC0000"/>
                </a:solidFill>
                <a:latin typeface="Trebuchet MS"/>
                <a:cs typeface="Trebuchet MS"/>
              </a:rPr>
              <a:t>784</a:t>
            </a:r>
            <a:r>
              <a:rPr sz="1200" spc="-225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1200" spc="-40" dirty="0">
                <a:solidFill>
                  <a:srgbClr val="CC0000"/>
                </a:solidFill>
                <a:latin typeface="Trebuchet MS"/>
                <a:cs typeface="Trebuchet MS"/>
              </a:rPr>
              <a:t>lines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782055" y="1766316"/>
            <a:ext cx="71120" cy="2057400"/>
          </a:xfrm>
          <a:custGeom>
            <a:avLst/>
            <a:gdLst/>
            <a:ahLst/>
            <a:cxnLst/>
            <a:rect l="l" t="t" r="r" b="b"/>
            <a:pathLst>
              <a:path w="71120" h="2057400">
                <a:moveTo>
                  <a:pt x="0" y="2057146"/>
                </a:moveTo>
                <a:lnTo>
                  <a:pt x="7620" y="2003044"/>
                </a:lnTo>
                <a:lnTo>
                  <a:pt x="14859" y="1949577"/>
                </a:lnTo>
                <a:lnTo>
                  <a:pt x="21590" y="1896999"/>
                </a:lnTo>
                <a:lnTo>
                  <a:pt x="27813" y="1845183"/>
                </a:lnTo>
                <a:lnTo>
                  <a:pt x="33655" y="1794129"/>
                </a:lnTo>
                <a:lnTo>
                  <a:pt x="38989" y="1743964"/>
                </a:lnTo>
                <a:lnTo>
                  <a:pt x="43942" y="1694688"/>
                </a:lnTo>
                <a:lnTo>
                  <a:pt x="48514" y="1646301"/>
                </a:lnTo>
                <a:lnTo>
                  <a:pt x="52578" y="1598803"/>
                </a:lnTo>
                <a:lnTo>
                  <a:pt x="56388" y="1552321"/>
                </a:lnTo>
                <a:lnTo>
                  <a:pt x="59690" y="1506855"/>
                </a:lnTo>
                <a:lnTo>
                  <a:pt x="62611" y="1462278"/>
                </a:lnTo>
                <a:lnTo>
                  <a:pt x="65278" y="1418844"/>
                </a:lnTo>
              </a:path>
              <a:path w="71120" h="2057400">
                <a:moveTo>
                  <a:pt x="71120" y="596900"/>
                </a:moveTo>
                <a:lnTo>
                  <a:pt x="68326" y="541909"/>
                </a:lnTo>
                <a:lnTo>
                  <a:pt x="64897" y="487680"/>
                </a:lnTo>
                <a:lnTo>
                  <a:pt x="60960" y="434339"/>
                </a:lnTo>
                <a:lnTo>
                  <a:pt x="56515" y="382016"/>
                </a:lnTo>
                <a:lnTo>
                  <a:pt x="51435" y="330581"/>
                </a:lnTo>
                <a:lnTo>
                  <a:pt x="45974" y="280162"/>
                </a:lnTo>
                <a:lnTo>
                  <a:pt x="40132" y="230759"/>
                </a:lnTo>
                <a:lnTo>
                  <a:pt x="33782" y="182499"/>
                </a:lnTo>
                <a:lnTo>
                  <a:pt x="27051" y="135128"/>
                </a:lnTo>
                <a:lnTo>
                  <a:pt x="19812" y="89026"/>
                </a:lnTo>
                <a:lnTo>
                  <a:pt x="12319" y="43942"/>
                </a:lnTo>
                <a:lnTo>
                  <a:pt x="4572" y="0"/>
                </a:lnTo>
              </a:path>
            </a:pathLst>
          </a:custGeom>
          <a:ln w="9144">
            <a:solidFill>
              <a:srgbClr val="D644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7863078" y="1606753"/>
            <a:ext cx="94424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D64437"/>
                </a:solidFill>
                <a:latin typeface="Trebuchet MS"/>
                <a:cs typeface="Trebuchet MS"/>
              </a:rPr>
              <a:t>broadcast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8429243" y="1940051"/>
            <a:ext cx="245110" cy="841375"/>
          </a:xfrm>
          <a:custGeom>
            <a:avLst/>
            <a:gdLst/>
            <a:ahLst/>
            <a:cxnLst/>
            <a:rect l="l" t="t" r="r" b="b"/>
            <a:pathLst>
              <a:path w="245109" h="841375">
                <a:moveTo>
                  <a:pt x="223138" y="841248"/>
                </a:moveTo>
                <a:lnTo>
                  <a:pt x="232155" y="811402"/>
                </a:lnTo>
                <a:lnTo>
                  <a:pt x="238759" y="779526"/>
                </a:lnTo>
                <a:lnTo>
                  <a:pt x="242950" y="745617"/>
                </a:lnTo>
                <a:lnTo>
                  <a:pt x="244855" y="709549"/>
                </a:lnTo>
                <a:lnTo>
                  <a:pt x="244221" y="671576"/>
                </a:lnTo>
                <a:lnTo>
                  <a:pt x="241173" y="631444"/>
                </a:lnTo>
                <a:lnTo>
                  <a:pt x="235584" y="589407"/>
                </a:lnTo>
                <a:lnTo>
                  <a:pt x="227456" y="545338"/>
                </a:lnTo>
                <a:lnTo>
                  <a:pt x="216788" y="499363"/>
                </a:lnTo>
                <a:lnTo>
                  <a:pt x="203580" y="451358"/>
                </a:lnTo>
                <a:lnTo>
                  <a:pt x="187705" y="401574"/>
                </a:lnTo>
                <a:lnTo>
                  <a:pt x="169036" y="349758"/>
                </a:lnTo>
                <a:lnTo>
                  <a:pt x="147827" y="296037"/>
                </a:lnTo>
                <a:lnTo>
                  <a:pt x="123825" y="240537"/>
                </a:lnTo>
                <a:lnTo>
                  <a:pt x="97154" y="183134"/>
                </a:lnTo>
                <a:lnTo>
                  <a:pt x="67563" y="123825"/>
                </a:lnTo>
                <a:lnTo>
                  <a:pt x="35178" y="62864"/>
                </a:lnTo>
                <a:lnTo>
                  <a:pt x="0" y="0"/>
                </a:lnTo>
              </a:path>
            </a:pathLst>
          </a:custGeom>
          <a:ln w="9144">
            <a:solidFill>
              <a:srgbClr val="D644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7" name="object 77"/>
          <p:cNvGrpSpPr/>
          <p:nvPr/>
        </p:nvGrpSpPr>
        <p:grpSpPr>
          <a:xfrm>
            <a:off x="1395730" y="1938337"/>
            <a:ext cx="2245360" cy="4091304"/>
            <a:chOff x="1395730" y="1938337"/>
            <a:chExt cx="2245360" cy="4091304"/>
          </a:xfrm>
        </p:grpSpPr>
        <p:sp>
          <p:nvSpPr>
            <p:cNvPr id="78" name="object 78"/>
            <p:cNvSpPr/>
            <p:nvPr/>
          </p:nvSpPr>
          <p:spPr>
            <a:xfrm>
              <a:off x="1402080" y="5715000"/>
              <a:ext cx="1713230" cy="307975"/>
            </a:xfrm>
            <a:custGeom>
              <a:avLst/>
              <a:gdLst/>
              <a:ahLst/>
              <a:cxnLst/>
              <a:rect l="l" t="t" r="r" b="b"/>
              <a:pathLst>
                <a:path w="1713230" h="307975">
                  <a:moveTo>
                    <a:pt x="1712721" y="0"/>
                  </a:moveTo>
                  <a:lnTo>
                    <a:pt x="1707261" y="48628"/>
                  </a:lnTo>
                  <a:lnTo>
                    <a:pt x="1691894" y="90868"/>
                  </a:lnTo>
                  <a:lnTo>
                    <a:pt x="1668526" y="124167"/>
                  </a:lnTo>
                  <a:lnTo>
                    <a:pt x="1604771" y="153860"/>
                  </a:lnTo>
                  <a:lnTo>
                    <a:pt x="964311" y="153860"/>
                  </a:lnTo>
                  <a:lnTo>
                    <a:pt x="930147" y="161709"/>
                  </a:lnTo>
                  <a:lnTo>
                    <a:pt x="900557" y="183540"/>
                  </a:lnTo>
                  <a:lnTo>
                    <a:pt x="877188" y="216852"/>
                  </a:lnTo>
                  <a:lnTo>
                    <a:pt x="861821" y="259092"/>
                  </a:lnTo>
                  <a:lnTo>
                    <a:pt x="856361" y="307721"/>
                  </a:lnTo>
                  <a:lnTo>
                    <a:pt x="850900" y="259092"/>
                  </a:lnTo>
                  <a:lnTo>
                    <a:pt x="835532" y="216852"/>
                  </a:lnTo>
                  <a:lnTo>
                    <a:pt x="812164" y="183540"/>
                  </a:lnTo>
                  <a:lnTo>
                    <a:pt x="782574" y="161709"/>
                  </a:lnTo>
                  <a:lnTo>
                    <a:pt x="748411" y="153860"/>
                  </a:lnTo>
                  <a:lnTo>
                    <a:pt x="107950" y="153860"/>
                  </a:lnTo>
                  <a:lnTo>
                    <a:pt x="73786" y="146011"/>
                  </a:lnTo>
                  <a:lnTo>
                    <a:pt x="44195" y="124167"/>
                  </a:lnTo>
                  <a:lnTo>
                    <a:pt x="20828" y="90868"/>
                  </a:lnTo>
                  <a:lnTo>
                    <a:pt x="5460" y="48628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658112" y="1943100"/>
              <a:ext cx="1978025" cy="2232660"/>
            </a:xfrm>
            <a:custGeom>
              <a:avLst/>
              <a:gdLst/>
              <a:ahLst/>
              <a:cxnLst/>
              <a:rect l="l" t="t" r="r" b="b"/>
              <a:pathLst>
                <a:path w="1978025" h="2232660">
                  <a:moveTo>
                    <a:pt x="0" y="2232279"/>
                  </a:moveTo>
                  <a:lnTo>
                    <a:pt x="14858" y="2184019"/>
                  </a:lnTo>
                  <a:lnTo>
                    <a:pt x="30480" y="2136140"/>
                  </a:lnTo>
                  <a:lnTo>
                    <a:pt x="46736" y="2088514"/>
                  </a:lnTo>
                  <a:lnTo>
                    <a:pt x="63626" y="2041144"/>
                  </a:lnTo>
                  <a:lnTo>
                    <a:pt x="81152" y="1994154"/>
                  </a:lnTo>
                  <a:lnTo>
                    <a:pt x="99313" y="1947418"/>
                  </a:lnTo>
                  <a:lnTo>
                    <a:pt x="118237" y="1901063"/>
                  </a:lnTo>
                  <a:lnTo>
                    <a:pt x="137794" y="1855089"/>
                  </a:lnTo>
                  <a:lnTo>
                    <a:pt x="157861" y="1809369"/>
                  </a:lnTo>
                  <a:lnTo>
                    <a:pt x="178688" y="1764030"/>
                  </a:lnTo>
                  <a:lnTo>
                    <a:pt x="200025" y="1718945"/>
                  </a:lnTo>
                  <a:lnTo>
                    <a:pt x="221995" y="1674368"/>
                  </a:lnTo>
                  <a:lnTo>
                    <a:pt x="244729" y="1630045"/>
                  </a:lnTo>
                  <a:lnTo>
                    <a:pt x="267969" y="1585976"/>
                  </a:lnTo>
                  <a:lnTo>
                    <a:pt x="291719" y="1542414"/>
                  </a:lnTo>
                  <a:lnTo>
                    <a:pt x="316230" y="1499235"/>
                  </a:lnTo>
                  <a:lnTo>
                    <a:pt x="341121" y="1456309"/>
                  </a:lnTo>
                  <a:lnTo>
                    <a:pt x="366775" y="1413890"/>
                  </a:lnTo>
                  <a:lnTo>
                    <a:pt x="392938" y="1371853"/>
                  </a:lnTo>
                  <a:lnTo>
                    <a:pt x="419735" y="1330071"/>
                  </a:lnTo>
                  <a:lnTo>
                    <a:pt x="447039" y="1288796"/>
                  </a:lnTo>
                  <a:lnTo>
                    <a:pt x="474852" y="1247902"/>
                  </a:lnTo>
                  <a:lnTo>
                    <a:pt x="503300" y="1207389"/>
                  </a:lnTo>
                  <a:lnTo>
                    <a:pt x="532257" y="1167384"/>
                  </a:lnTo>
                  <a:lnTo>
                    <a:pt x="561720" y="1127633"/>
                  </a:lnTo>
                  <a:lnTo>
                    <a:pt x="591819" y="1088389"/>
                  </a:lnTo>
                  <a:lnTo>
                    <a:pt x="622300" y="1049654"/>
                  </a:lnTo>
                  <a:lnTo>
                    <a:pt x="653414" y="1011174"/>
                  </a:lnTo>
                  <a:lnTo>
                    <a:pt x="685038" y="973201"/>
                  </a:lnTo>
                  <a:lnTo>
                    <a:pt x="717169" y="935736"/>
                  </a:lnTo>
                  <a:lnTo>
                    <a:pt x="749681" y="898651"/>
                  </a:lnTo>
                  <a:lnTo>
                    <a:pt x="782827" y="862076"/>
                  </a:lnTo>
                  <a:lnTo>
                    <a:pt x="816482" y="825880"/>
                  </a:lnTo>
                  <a:lnTo>
                    <a:pt x="850519" y="790194"/>
                  </a:lnTo>
                  <a:lnTo>
                    <a:pt x="885063" y="755014"/>
                  </a:lnTo>
                  <a:lnTo>
                    <a:pt x="920114" y="720344"/>
                  </a:lnTo>
                  <a:lnTo>
                    <a:pt x="955675" y="686053"/>
                  </a:lnTo>
                  <a:lnTo>
                    <a:pt x="991615" y="652272"/>
                  </a:lnTo>
                  <a:lnTo>
                    <a:pt x="1028064" y="618998"/>
                  </a:lnTo>
                  <a:lnTo>
                    <a:pt x="1064895" y="586104"/>
                  </a:lnTo>
                  <a:lnTo>
                    <a:pt x="1102233" y="553847"/>
                  </a:lnTo>
                  <a:lnTo>
                    <a:pt x="1139952" y="522097"/>
                  </a:lnTo>
                  <a:lnTo>
                    <a:pt x="1178179" y="490727"/>
                  </a:lnTo>
                  <a:lnTo>
                    <a:pt x="1216787" y="459994"/>
                  </a:lnTo>
                  <a:lnTo>
                    <a:pt x="1255902" y="429767"/>
                  </a:lnTo>
                  <a:lnTo>
                    <a:pt x="1295273" y="400050"/>
                  </a:lnTo>
                  <a:lnTo>
                    <a:pt x="1335151" y="370839"/>
                  </a:lnTo>
                  <a:lnTo>
                    <a:pt x="1375410" y="342138"/>
                  </a:lnTo>
                  <a:lnTo>
                    <a:pt x="1416050" y="314071"/>
                  </a:lnTo>
                  <a:lnTo>
                    <a:pt x="1457070" y="286512"/>
                  </a:lnTo>
                  <a:lnTo>
                    <a:pt x="1498600" y="259461"/>
                  </a:lnTo>
                  <a:lnTo>
                    <a:pt x="1540383" y="232917"/>
                  </a:lnTo>
                  <a:lnTo>
                    <a:pt x="1582546" y="207010"/>
                  </a:lnTo>
                  <a:lnTo>
                    <a:pt x="1625091" y="181737"/>
                  </a:lnTo>
                  <a:lnTo>
                    <a:pt x="1668017" y="156972"/>
                  </a:lnTo>
                  <a:lnTo>
                    <a:pt x="1711198" y="132714"/>
                  </a:lnTo>
                  <a:lnTo>
                    <a:pt x="1754886" y="109092"/>
                  </a:lnTo>
                  <a:lnTo>
                    <a:pt x="1798827" y="86105"/>
                  </a:lnTo>
                  <a:lnTo>
                    <a:pt x="1843151" y="63626"/>
                  </a:lnTo>
                  <a:lnTo>
                    <a:pt x="1887727" y="41910"/>
                  </a:lnTo>
                  <a:lnTo>
                    <a:pt x="1932686" y="20574"/>
                  </a:lnTo>
                  <a:lnTo>
                    <a:pt x="1977898" y="0"/>
                  </a:lnTo>
                </a:path>
                <a:path w="1978025" h="2232660">
                  <a:moveTo>
                    <a:pt x="554736" y="970661"/>
                  </a:moveTo>
                  <a:lnTo>
                    <a:pt x="561848" y="926338"/>
                  </a:lnTo>
                  <a:lnTo>
                    <a:pt x="581787" y="887857"/>
                  </a:lnTo>
                  <a:lnTo>
                    <a:pt x="612013" y="857630"/>
                  </a:lnTo>
                  <a:lnTo>
                    <a:pt x="650494" y="837691"/>
                  </a:lnTo>
                  <a:lnTo>
                    <a:pt x="694817" y="830579"/>
                  </a:lnTo>
                  <a:lnTo>
                    <a:pt x="739139" y="837691"/>
                  </a:lnTo>
                  <a:lnTo>
                    <a:pt x="777620" y="857630"/>
                  </a:lnTo>
                  <a:lnTo>
                    <a:pt x="807846" y="887857"/>
                  </a:lnTo>
                  <a:lnTo>
                    <a:pt x="827786" y="926338"/>
                  </a:lnTo>
                  <a:lnTo>
                    <a:pt x="834898" y="970661"/>
                  </a:lnTo>
                  <a:lnTo>
                    <a:pt x="827786" y="1014984"/>
                  </a:lnTo>
                  <a:lnTo>
                    <a:pt x="807846" y="1053464"/>
                  </a:lnTo>
                  <a:lnTo>
                    <a:pt x="777620" y="1083690"/>
                  </a:lnTo>
                  <a:lnTo>
                    <a:pt x="739139" y="1103629"/>
                  </a:lnTo>
                  <a:lnTo>
                    <a:pt x="694817" y="1110741"/>
                  </a:lnTo>
                  <a:lnTo>
                    <a:pt x="650494" y="1103629"/>
                  </a:lnTo>
                  <a:lnTo>
                    <a:pt x="612013" y="1083690"/>
                  </a:lnTo>
                  <a:lnTo>
                    <a:pt x="581787" y="1053464"/>
                  </a:lnTo>
                  <a:lnTo>
                    <a:pt x="561848" y="1014984"/>
                  </a:lnTo>
                  <a:lnTo>
                    <a:pt x="554736" y="970661"/>
                  </a:lnTo>
                  <a:close/>
                </a:path>
              </a:pathLst>
            </a:custGeom>
            <a:ln w="9144">
              <a:solidFill>
                <a:srgbClr val="D644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2277872" y="2723210"/>
            <a:ext cx="140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D64437"/>
                </a:solidFill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1831657" y="2148649"/>
            <a:ext cx="1821814" cy="2033270"/>
            <a:chOff x="1831657" y="2148649"/>
            <a:chExt cx="1821814" cy="2033270"/>
          </a:xfrm>
        </p:grpSpPr>
        <p:sp>
          <p:nvSpPr>
            <p:cNvPr id="82" name="object 82"/>
            <p:cNvSpPr/>
            <p:nvPr/>
          </p:nvSpPr>
          <p:spPr>
            <a:xfrm>
              <a:off x="1836420" y="2153411"/>
              <a:ext cx="1812289" cy="2023745"/>
            </a:xfrm>
            <a:custGeom>
              <a:avLst/>
              <a:gdLst/>
              <a:ahLst/>
              <a:cxnLst/>
              <a:rect l="l" t="t" r="r" b="b"/>
              <a:pathLst>
                <a:path w="1812289" h="2023745">
                  <a:moveTo>
                    <a:pt x="0" y="2023364"/>
                  </a:moveTo>
                  <a:lnTo>
                    <a:pt x="17525" y="1977008"/>
                  </a:lnTo>
                  <a:lnTo>
                    <a:pt x="35560" y="1931035"/>
                  </a:lnTo>
                  <a:lnTo>
                    <a:pt x="54482" y="1885188"/>
                  </a:lnTo>
                  <a:lnTo>
                    <a:pt x="73913" y="1839721"/>
                  </a:lnTo>
                  <a:lnTo>
                    <a:pt x="93980" y="1794383"/>
                  </a:lnTo>
                  <a:lnTo>
                    <a:pt x="114807" y="1749425"/>
                  </a:lnTo>
                  <a:lnTo>
                    <a:pt x="136144" y="1704720"/>
                  </a:lnTo>
                  <a:lnTo>
                    <a:pt x="158242" y="1660398"/>
                  </a:lnTo>
                  <a:lnTo>
                    <a:pt x="180848" y="1616202"/>
                  </a:lnTo>
                  <a:lnTo>
                    <a:pt x="204088" y="1572387"/>
                  </a:lnTo>
                  <a:lnTo>
                    <a:pt x="227965" y="1528952"/>
                  </a:lnTo>
                  <a:lnTo>
                    <a:pt x="252475" y="1485773"/>
                  </a:lnTo>
                  <a:lnTo>
                    <a:pt x="277494" y="1442974"/>
                  </a:lnTo>
                  <a:lnTo>
                    <a:pt x="303149" y="1400428"/>
                  </a:lnTo>
                  <a:lnTo>
                    <a:pt x="329438" y="1358264"/>
                  </a:lnTo>
                  <a:lnTo>
                    <a:pt x="356235" y="1316482"/>
                  </a:lnTo>
                  <a:lnTo>
                    <a:pt x="383540" y="1274952"/>
                  </a:lnTo>
                  <a:lnTo>
                    <a:pt x="411480" y="1233804"/>
                  </a:lnTo>
                  <a:lnTo>
                    <a:pt x="439928" y="1193038"/>
                  </a:lnTo>
                  <a:lnTo>
                    <a:pt x="469011" y="1152652"/>
                  </a:lnTo>
                  <a:lnTo>
                    <a:pt x="498475" y="1112647"/>
                  </a:lnTo>
                  <a:lnTo>
                    <a:pt x="528574" y="1073023"/>
                  </a:lnTo>
                  <a:lnTo>
                    <a:pt x="559181" y="1033779"/>
                  </a:lnTo>
                  <a:lnTo>
                    <a:pt x="590296" y="994917"/>
                  </a:lnTo>
                  <a:lnTo>
                    <a:pt x="621919" y="956437"/>
                  </a:lnTo>
                  <a:lnTo>
                    <a:pt x="654050" y="918463"/>
                  </a:lnTo>
                  <a:lnTo>
                    <a:pt x="686562" y="880872"/>
                  </a:lnTo>
                  <a:lnTo>
                    <a:pt x="719709" y="843661"/>
                  </a:lnTo>
                  <a:lnTo>
                    <a:pt x="753237" y="806830"/>
                  </a:lnTo>
                  <a:lnTo>
                    <a:pt x="787273" y="770509"/>
                  </a:lnTo>
                  <a:lnTo>
                    <a:pt x="821690" y="734695"/>
                  </a:lnTo>
                  <a:lnTo>
                    <a:pt x="856615" y="699262"/>
                  </a:lnTo>
                  <a:lnTo>
                    <a:pt x="892048" y="664210"/>
                  </a:lnTo>
                  <a:lnTo>
                    <a:pt x="927862" y="629665"/>
                  </a:lnTo>
                  <a:lnTo>
                    <a:pt x="964057" y="595629"/>
                  </a:lnTo>
                  <a:lnTo>
                    <a:pt x="1000760" y="562101"/>
                  </a:lnTo>
                  <a:lnTo>
                    <a:pt x="1037844" y="528954"/>
                  </a:lnTo>
                  <a:lnTo>
                    <a:pt x="1075309" y="496315"/>
                  </a:lnTo>
                  <a:lnTo>
                    <a:pt x="1113155" y="464185"/>
                  </a:lnTo>
                  <a:lnTo>
                    <a:pt x="1151509" y="432562"/>
                  </a:lnTo>
                  <a:lnTo>
                    <a:pt x="1190244" y="401447"/>
                  </a:lnTo>
                  <a:lnTo>
                    <a:pt x="1229233" y="370839"/>
                  </a:lnTo>
                  <a:lnTo>
                    <a:pt x="1268730" y="340740"/>
                  </a:lnTo>
                  <a:lnTo>
                    <a:pt x="1308481" y="311276"/>
                  </a:lnTo>
                  <a:lnTo>
                    <a:pt x="1348613" y="282193"/>
                  </a:lnTo>
                  <a:lnTo>
                    <a:pt x="1389126" y="253746"/>
                  </a:lnTo>
                  <a:lnTo>
                    <a:pt x="1430020" y="225805"/>
                  </a:lnTo>
                  <a:lnTo>
                    <a:pt x="1471168" y="198374"/>
                  </a:lnTo>
                  <a:lnTo>
                    <a:pt x="1512696" y="171576"/>
                  </a:lnTo>
                  <a:lnTo>
                    <a:pt x="1554480" y="145287"/>
                  </a:lnTo>
                  <a:lnTo>
                    <a:pt x="1596644" y="119634"/>
                  </a:lnTo>
                  <a:lnTo>
                    <a:pt x="1639189" y="94487"/>
                  </a:lnTo>
                  <a:lnTo>
                    <a:pt x="1681860" y="69976"/>
                  </a:lnTo>
                  <a:lnTo>
                    <a:pt x="1724914" y="46100"/>
                  </a:lnTo>
                  <a:lnTo>
                    <a:pt x="1768347" y="22733"/>
                  </a:lnTo>
                  <a:lnTo>
                    <a:pt x="1811908" y="0"/>
                  </a:lnTo>
                </a:path>
              </a:pathLst>
            </a:custGeom>
            <a:ln w="9143">
              <a:solidFill>
                <a:srgbClr val="D644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365248" y="2926079"/>
              <a:ext cx="280670" cy="280670"/>
            </a:xfrm>
            <a:custGeom>
              <a:avLst/>
              <a:gdLst/>
              <a:ahLst/>
              <a:cxnLst/>
              <a:rect l="l" t="t" r="r" b="b"/>
              <a:pathLst>
                <a:path w="280669" h="280669">
                  <a:moveTo>
                    <a:pt x="140081" y="0"/>
                  </a:moveTo>
                  <a:lnTo>
                    <a:pt x="95757" y="7112"/>
                  </a:lnTo>
                  <a:lnTo>
                    <a:pt x="57276" y="27050"/>
                  </a:lnTo>
                  <a:lnTo>
                    <a:pt x="27050" y="57277"/>
                  </a:lnTo>
                  <a:lnTo>
                    <a:pt x="7112" y="95758"/>
                  </a:lnTo>
                  <a:lnTo>
                    <a:pt x="0" y="140081"/>
                  </a:lnTo>
                  <a:lnTo>
                    <a:pt x="7112" y="184404"/>
                  </a:lnTo>
                  <a:lnTo>
                    <a:pt x="27050" y="222885"/>
                  </a:lnTo>
                  <a:lnTo>
                    <a:pt x="57276" y="253111"/>
                  </a:lnTo>
                  <a:lnTo>
                    <a:pt x="95757" y="273050"/>
                  </a:lnTo>
                  <a:lnTo>
                    <a:pt x="140081" y="280162"/>
                  </a:lnTo>
                  <a:lnTo>
                    <a:pt x="184403" y="273050"/>
                  </a:lnTo>
                  <a:lnTo>
                    <a:pt x="222884" y="253111"/>
                  </a:lnTo>
                  <a:lnTo>
                    <a:pt x="253110" y="222885"/>
                  </a:lnTo>
                  <a:lnTo>
                    <a:pt x="273050" y="184404"/>
                  </a:lnTo>
                  <a:lnTo>
                    <a:pt x="280162" y="140081"/>
                  </a:lnTo>
                  <a:lnTo>
                    <a:pt x="273050" y="95758"/>
                  </a:lnTo>
                  <a:lnTo>
                    <a:pt x="253110" y="57277"/>
                  </a:lnTo>
                  <a:lnTo>
                    <a:pt x="222884" y="27050"/>
                  </a:lnTo>
                  <a:lnTo>
                    <a:pt x="184403" y="7112"/>
                  </a:lnTo>
                  <a:lnTo>
                    <a:pt x="1400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365248" y="2926079"/>
              <a:ext cx="280670" cy="280670"/>
            </a:xfrm>
            <a:custGeom>
              <a:avLst/>
              <a:gdLst/>
              <a:ahLst/>
              <a:cxnLst/>
              <a:rect l="l" t="t" r="r" b="b"/>
              <a:pathLst>
                <a:path w="280669" h="280669">
                  <a:moveTo>
                    <a:pt x="0" y="140081"/>
                  </a:moveTo>
                  <a:lnTo>
                    <a:pt x="7112" y="95758"/>
                  </a:lnTo>
                  <a:lnTo>
                    <a:pt x="27050" y="57277"/>
                  </a:lnTo>
                  <a:lnTo>
                    <a:pt x="57276" y="27050"/>
                  </a:lnTo>
                  <a:lnTo>
                    <a:pt x="95757" y="7112"/>
                  </a:lnTo>
                  <a:lnTo>
                    <a:pt x="140081" y="0"/>
                  </a:lnTo>
                  <a:lnTo>
                    <a:pt x="184403" y="7112"/>
                  </a:lnTo>
                  <a:lnTo>
                    <a:pt x="222884" y="27050"/>
                  </a:lnTo>
                  <a:lnTo>
                    <a:pt x="253110" y="57277"/>
                  </a:lnTo>
                  <a:lnTo>
                    <a:pt x="273050" y="95758"/>
                  </a:lnTo>
                  <a:lnTo>
                    <a:pt x="280162" y="140081"/>
                  </a:lnTo>
                  <a:lnTo>
                    <a:pt x="273050" y="184404"/>
                  </a:lnTo>
                  <a:lnTo>
                    <a:pt x="253110" y="222885"/>
                  </a:lnTo>
                  <a:lnTo>
                    <a:pt x="222884" y="253111"/>
                  </a:lnTo>
                  <a:lnTo>
                    <a:pt x="184403" y="273050"/>
                  </a:lnTo>
                  <a:lnTo>
                    <a:pt x="140081" y="280162"/>
                  </a:lnTo>
                  <a:lnTo>
                    <a:pt x="95757" y="273050"/>
                  </a:lnTo>
                  <a:lnTo>
                    <a:pt x="57276" y="253111"/>
                  </a:lnTo>
                  <a:lnTo>
                    <a:pt x="27050" y="222885"/>
                  </a:lnTo>
                  <a:lnTo>
                    <a:pt x="7112" y="184404"/>
                  </a:lnTo>
                  <a:lnTo>
                    <a:pt x="0" y="140081"/>
                  </a:lnTo>
                  <a:close/>
                </a:path>
              </a:pathLst>
            </a:custGeom>
            <a:ln w="9144">
              <a:solidFill>
                <a:srgbClr val="D644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2430272" y="287616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D64437"/>
                </a:solidFill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2000821" y="2363533"/>
            <a:ext cx="1663064" cy="1817370"/>
            <a:chOff x="2000821" y="2363533"/>
            <a:chExt cx="1663064" cy="1817370"/>
          </a:xfrm>
        </p:grpSpPr>
        <p:sp>
          <p:nvSpPr>
            <p:cNvPr id="87" name="object 87"/>
            <p:cNvSpPr/>
            <p:nvPr/>
          </p:nvSpPr>
          <p:spPr>
            <a:xfrm>
              <a:off x="2005583" y="2368295"/>
              <a:ext cx="1644014" cy="1807845"/>
            </a:xfrm>
            <a:custGeom>
              <a:avLst/>
              <a:gdLst/>
              <a:ahLst/>
              <a:cxnLst/>
              <a:rect l="l" t="t" r="r" b="b"/>
              <a:pathLst>
                <a:path w="1644014" h="1807845">
                  <a:moveTo>
                    <a:pt x="0" y="1807336"/>
                  </a:moveTo>
                  <a:lnTo>
                    <a:pt x="21336" y="1762886"/>
                  </a:lnTo>
                  <a:lnTo>
                    <a:pt x="43307" y="1718690"/>
                  </a:lnTo>
                  <a:lnTo>
                    <a:pt x="65913" y="1674621"/>
                  </a:lnTo>
                  <a:lnTo>
                    <a:pt x="89281" y="1630679"/>
                  </a:lnTo>
                  <a:lnTo>
                    <a:pt x="113157" y="1586991"/>
                  </a:lnTo>
                  <a:lnTo>
                    <a:pt x="137668" y="1543558"/>
                  </a:lnTo>
                  <a:lnTo>
                    <a:pt x="162814" y="1500251"/>
                  </a:lnTo>
                  <a:lnTo>
                    <a:pt x="188595" y="1457197"/>
                  </a:lnTo>
                  <a:lnTo>
                    <a:pt x="214884" y="1414526"/>
                  </a:lnTo>
                  <a:lnTo>
                    <a:pt x="241808" y="1371980"/>
                  </a:lnTo>
                  <a:lnTo>
                    <a:pt x="269367" y="1329689"/>
                  </a:lnTo>
                  <a:lnTo>
                    <a:pt x="297307" y="1287652"/>
                  </a:lnTo>
                  <a:lnTo>
                    <a:pt x="326009" y="1245870"/>
                  </a:lnTo>
                  <a:lnTo>
                    <a:pt x="355092" y="1204467"/>
                  </a:lnTo>
                  <a:lnTo>
                    <a:pt x="384810" y="1163192"/>
                  </a:lnTo>
                  <a:lnTo>
                    <a:pt x="415036" y="1122426"/>
                  </a:lnTo>
                  <a:lnTo>
                    <a:pt x="445770" y="1081786"/>
                  </a:lnTo>
                  <a:lnTo>
                    <a:pt x="477012" y="1041526"/>
                  </a:lnTo>
                  <a:lnTo>
                    <a:pt x="508762" y="1001649"/>
                  </a:lnTo>
                  <a:lnTo>
                    <a:pt x="541020" y="962025"/>
                  </a:lnTo>
                  <a:lnTo>
                    <a:pt x="573659" y="922781"/>
                  </a:lnTo>
                  <a:lnTo>
                    <a:pt x="606806" y="883919"/>
                  </a:lnTo>
                  <a:lnTo>
                    <a:pt x="640461" y="845438"/>
                  </a:lnTo>
                  <a:lnTo>
                    <a:pt x="674624" y="807212"/>
                  </a:lnTo>
                  <a:lnTo>
                    <a:pt x="709041" y="769492"/>
                  </a:lnTo>
                  <a:lnTo>
                    <a:pt x="743966" y="732027"/>
                  </a:lnTo>
                  <a:lnTo>
                    <a:pt x="779399" y="695070"/>
                  </a:lnTo>
                  <a:lnTo>
                    <a:pt x="815213" y="658494"/>
                  </a:lnTo>
                  <a:lnTo>
                    <a:pt x="851281" y="622300"/>
                  </a:lnTo>
                  <a:lnTo>
                    <a:pt x="887857" y="586613"/>
                  </a:lnTo>
                  <a:lnTo>
                    <a:pt x="924814" y="551306"/>
                  </a:lnTo>
                  <a:lnTo>
                    <a:pt x="962152" y="516381"/>
                  </a:lnTo>
                  <a:lnTo>
                    <a:pt x="999871" y="481964"/>
                  </a:lnTo>
                  <a:lnTo>
                    <a:pt x="1037844" y="448055"/>
                  </a:lnTo>
                  <a:lnTo>
                    <a:pt x="1076198" y="414527"/>
                  </a:lnTo>
                  <a:lnTo>
                    <a:pt x="1114933" y="381507"/>
                  </a:lnTo>
                  <a:lnTo>
                    <a:pt x="1153922" y="348995"/>
                  </a:lnTo>
                  <a:lnTo>
                    <a:pt x="1193292" y="316991"/>
                  </a:lnTo>
                  <a:lnTo>
                    <a:pt x="1232916" y="285495"/>
                  </a:lnTo>
                  <a:lnTo>
                    <a:pt x="1272920" y="254507"/>
                  </a:lnTo>
                  <a:lnTo>
                    <a:pt x="1313180" y="224027"/>
                  </a:lnTo>
                  <a:lnTo>
                    <a:pt x="1353566" y="194055"/>
                  </a:lnTo>
                  <a:lnTo>
                    <a:pt x="1394333" y="164591"/>
                  </a:lnTo>
                  <a:lnTo>
                    <a:pt x="1435354" y="135762"/>
                  </a:lnTo>
                  <a:lnTo>
                    <a:pt x="1476629" y="107441"/>
                  </a:lnTo>
                  <a:lnTo>
                    <a:pt x="1518158" y="79755"/>
                  </a:lnTo>
                  <a:lnTo>
                    <a:pt x="1559941" y="52577"/>
                  </a:lnTo>
                  <a:lnTo>
                    <a:pt x="1601851" y="26034"/>
                  </a:lnTo>
                  <a:lnTo>
                    <a:pt x="1644015" y="0"/>
                  </a:lnTo>
                </a:path>
              </a:pathLst>
            </a:custGeom>
            <a:ln w="9144">
              <a:solidFill>
                <a:srgbClr val="D644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517647" y="3078479"/>
              <a:ext cx="280670" cy="280670"/>
            </a:xfrm>
            <a:custGeom>
              <a:avLst/>
              <a:gdLst/>
              <a:ahLst/>
              <a:cxnLst/>
              <a:rect l="l" t="t" r="r" b="b"/>
              <a:pathLst>
                <a:path w="280669" h="280670">
                  <a:moveTo>
                    <a:pt x="140081" y="0"/>
                  </a:moveTo>
                  <a:lnTo>
                    <a:pt x="95757" y="7112"/>
                  </a:lnTo>
                  <a:lnTo>
                    <a:pt x="57276" y="27050"/>
                  </a:lnTo>
                  <a:lnTo>
                    <a:pt x="27050" y="57277"/>
                  </a:lnTo>
                  <a:lnTo>
                    <a:pt x="7112" y="95758"/>
                  </a:lnTo>
                  <a:lnTo>
                    <a:pt x="0" y="140081"/>
                  </a:lnTo>
                  <a:lnTo>
                    <a:pt x="7112" y="184404"/>
                  </a:lnTo>
                  <a:lnTo>
                    <a:pt x="27050" y="222885"/>
                  </a:lnTo>
                  <a:lnTo>
                    <a:pt x="57276" y="253111"/>
                  </a:lnTo>
                  <a:lnTo>
                    <a:pt x="95757" y="273050"/>
                  </a:lnTo>
                  <a:lnTo>
                    <a:pt x="140081" y="280162"/>
                  </a:lnTo>
                  <a:lnTo>
                    <a:pt x="184403" y="273050"/>
                  </a:lnTo>
                  <a:lnTo>
                    <a:pt x="222884" y="253111"/>
                  </a:lnTo>
                  <a:lnTo>
                    <a:pt x="253110" y="222885"/>
                  </a:lnTo>
                  <a:lnTo>
                    <a:pt x="273050" y="184404"/>
                  </a:lnTo>
                  <a:lnTo>
                    <a:pt x="280162" y="140081"/>
                  </a:lnTo>
                  <a:lnTo>
                    <a:pt x="273050" y="95758"/>
                  </a:lnTo>
                  <a:lnTo>
                    <a:pt x="253110" y="57277"/>
                  </a:lnTo>
                  <a:lnTo>
                    <a:pt x="222884" y="27050"/>
                  </a:lnTo>
                  <a:lnTo>
                    <a:pt x="184403" y="7112"/>
                  </a:lnTo>
                  <a:lnTo>
                    <a:pt x="1400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176271" y="2577083"/>
              <a:ext cx="1482725" cy="1598930"/>
            </a:xfrm>
            <a:custGeom>
              <a:avLst/>
              <a:gdLst/>
              <a:ahLst/>
              <a:cxnLst/>
              <a:rect l="l" t="t" r="r" b="b"/>
              <a:pathLst>
                <a:path w="1482725" h="1598929">
                  <a:moveTo>
                    <a:pt x="341375" y="641476"/>
                  </a:moveTo>
                  <a:lnTo>
                    <a:pt x="348488" y="597153"/>
                  </a:lnTo>
                  <a:lnTo>
                    <a:pt x="368426" y="558673"/>
                  </a:lnTo>
                  <a:lnTo>
                    <a:pt x="398652" y="528446"/>
                  </a:lnTo>
                  <a:lnTo>
                    <a:pt x="437133" y="508507"/>
                  </a:lnTo>
                  <a:lnTo>
                    <a:pt x="481456" y="501395"/>
                  </a:lnTo>
                  <a:lnTo>
                    <a:pt x="525779" y="508507"/>
                  </a:lnTo>
                  <a:lnTo>
                    <a:pt x="564260" y="528446"/>
                  </a:lnTo>
                  <a:lnTo>
                    <a:pt x="594486" y="558673"/>
                  </a:lnTo>
                  <a:lnTo>
                    <a:pt x="614426" y="597153"/>
                  </a:lnTo>
                  <a:lnTo>
                    <a:pt x="621538" y="641476"/>
                  </a:lnTo>
                  <a:lnTo>
                    <a:pt x="614426" y="685800"/>
                  </a:lnTo>
                  <a:lnTo>
                    <a:pt x="594486" y="724280"/>
                  </a:lnTo>
                  <a:lnTo>
                    <a:pt x="564260" y="754506"/>
                  </a:lnTo>
                  <a:lnTo>
                    <a:pt x="525779" y="774445"/>
                  </a:lnTo>
                  <a:lnTo>
                    <a:pt x="481456" y="781557"/>
                  </a:lnTo>
                  <a:lnTo>
                    <a:pt x="437133" y="774445"/>
                  </a:lnTo>
                  <a:lnTo>
                    <a:pt x="398652" y="754506"/>
                  </a:lnTo>
                  <a:lnTo>
                    <a:pt x="368426" y="724280"/>
                  </a:lnTo>
                  <a:lnTo>
                    <a:pt x="348488" y="685800"/>
                  </a:lnTo>
                  <a:lnTo>
                    <a:pt x="341375" y="641476"/>
                  </a:lnTo>
                  <a:close/>
                </a:path>
                <a:path w="1482725" h="1598929">
                  <a:moveTo>
                    <a:pt x="0" y="1598548"/>
                  </a:moveTo>
                  <a:lnTo>
                    <a:pt x="25907" y="1557401"/>
                  </a:lnTo>
                  <a:lnTo>
                    <a:pt x="52450" y="1516252"/>
                  </a:lnTo>
                  <a:lnTo>
                    <a:pt x="79628" y="1475232"/>
                  </a:lnTo>
                  <a:lnTo>
                    <a:pt x="107187" y="1434210"/>
                  </a:lnTo>
                  <a:lnTo>
                    <a:pt x="135381" y="1393189"/>
                  </a:lnTo>
                  <a:lnTo>
                    <a:pt x="164083" y="1352295"/>
                  </a:lnTo>
                  <a:lnTo>
                    <a:pt x="193294" y="1311528"/>
                  </a:lnTo>
                  <a:lnTo>
                    <a:pt x="223138" y="1270761"/>
                  </a:lnTo>
                  <a:lnTo>
                    <a:pt x="253237" y="1230248"/>
                  </a:lnTo>
                  <a:lnTo>
                    <a:pt x="283971" y="1189735"/>
                  </a:lnTo>
                  <a:lnTo>
                    <a:pt x="315086" y="1149349"/>
                  </a:lnTo>
                  <a:lnTo>
                    <a:pt x="346709" y="1109217"/>
                  </a:lnTo>
                  <a:lnTo>
                    <a:pt x="378840" y="1069085"/>
                  </a:lnTo>
                  <a:lnTo>
                    <a:pt x="411225" y="1029207"/>
                  </a:lnTo>
                  <a:lnTo>
                    <a:pt x="444119" y="989583"/>
                  </a:lnTo>
                  <a:lnTo>
                    <a:pt x="477392" y="949960"/>
                  </a:lnTo>
                  <a:lnTo>
                    <a:pt x="511175" y="910716"/>
                  </a:lnTo>
                  <a:lnTo>
                    <a:pt x="545210" y="871601"/>
                  </a:lnTo>
                  <a:lnTo>
                    <a:pt x="579627" y="832738"/>
                  </a:lnTo>
                  <a:lnTo>
                    <a:pt x="614298" y="794130"/>
                  </a:lnTo>
                  <a:lnTo>
                    <a:pt x="649477" y="755776"/>
                  </a:lnTo>
                  <a:lnTo>
                    <a:pt x="684910" y="717676"/>
                  </a:lnTo>
                  <a:lnTo>
                    <a:pt x="720597" y="679830"/>
                  </a:lnTo>
                  <a:lnTo>
                    <a:pt x="756665" y="642238"/>
                  </a:lnTo>
                  <a:lnTo>
                    <a:pt x="792988" y="605027"/>
                  </a:lnTo>
                  <a:lnTo>
                    <a:pt x="829690" y="568198"/>
                  </a:lnTo>
                  <a:lnTo>
                    <a:pt x="866520" y="531494"/>
                  </a:lnTo>
                  <a:lnTo>
                    <a:pt x="903732" y="495300"/>
                  </a:lnTo>
                  <a:lnTo>
                    <a:pt x="941069" y="459358"/>
                  </a:lnTo>
                  <a:lnTo>
                    <a:pt x="978661" y="423799"/>
                  </a:lnTo>
                  <a:lnTo>
                    <a:pt x="1016507" y="388619"/>
                  </a:lnTo>
                  <a:lnTo>
                    <a:pt x="1054480" y="353821"/>
                  </a:lnTo>
                  <a:lnTo>
                    <a:pt x="1092707" y="319404"/>
                  </a:lnTo>
                  <a:lnTo>
                    <a:pt x="1131062" y="285495"/>
                  </a:lnTo>
                  <a:lnTo>
                    <a:pt x="1169669" y="251840"/>
                  </a:lnTo>
                  <a:lnTo>
                    <a:pt x="1208277" y="218820"/>
                  </a:lnTo>
                  <a:lnTo>
                    <a:pt x="1247139" y="186054"/>
                  </a:lnTo>
                  <a:lnTo>
                    <a:pt x="1286128" y="153796"/>
                  </a:lnTo>
                  <a:lnTo>
                    <a:pt x="1325244" y="122046"/>
                  </a:lnTo>
                  <a:lnTo>
                    <a:pt x="1364361" y="90804"/>
                  </a:lnTo>
                  <a:lnTo>
                    <a:pt x="1403730" y="60070"/>
                  </a:lnTo>
                  <a:lnTo>
                    <a:pt x="1443101" y="29717"/>
                  </a:lnTo>
                  <a:lnTo>
                    <a:pt x="1482470" y="0"/>
                  </a:lnTo>
                </a:path>
              </a:pathLst>
            </a:custGeom>
            <a:ln w="9144">
              <a:solidFill>
                <a:srgbClr val="D644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2670047" y="3230879"/>
              <a:ext cx="280670" cy="280670"/>
            </a:xfrm>
            <a:custGeom>
              <a:avLst/>
              <a:gdLst/>
              <a:ahLst/>
              <a:cxnLst/>
              <a:rect l="l" t="t" r="r" b="b"/>
              <a:pathLst>
                <a:path w="280669" h="280670">
                  <a:moveTo>
                    <a:pt x="140081" y="0"/>
                  </a:moveTo>
                  <a:lnTo>
                    <a:pt x="95757" y="7112"/>
                  </a:lnTo>
                  <a:lnTo>
                    <a:pt x="57276" y="27050"/>
                  </a:lnTo>
                  <a:lnTo>
                    <a:pt x="27050" y="57277"/>
                  </a:lnTo>
                  <a:lnTo>
                    <a:pt x="7112" y="95758"/>
                  </a:lnTo>
                  <a:lnTo>
                    <a:pt x="0" y="140081"/>
                  </a:lnTo>
                  <a:lnTo>
                    <a:pt x="7112" y="184404"/>
                  </a:lnTo>
                  <a:lnTo>
                    <a:pt x="27050" y="222885"/>
                  </a:lnTo>
                  <a:lnTo>
                    <a:pt x="57276" y="253111"/>
                  </a:lnTo>
                  <a:lnTo>
                    <a:pt x="95757" y="273050"/>
                  </a:lnTo>
                  <a:lnTo>
                    <a:pt x="140081" y="280162"/>
                  </a:lnTo>
                  <a:lnTo>
                    <a:pt x="184403" y="273050"/>
                  </a:lnTo>
                  <a:lnTo>
                    <a:pt x="222884" y="253111"/>
                  </a:lnTo>
                  <a:lnTo>
                    <a:pt x="253110" y="222885"/>
                  </a:lnTo>
                  <a:lnTo>
                    <a:pt x="273050" y="184404"/>
                  </a:lnTo>
                  <a:lnTo>
                    <a:pt x="280162" y="140081"/>
                  </a:lnTo>
                  <a:lnTo>
                    <a:pt x="273050" y="95758"/>
                  </a:lnTo>
                  <a:lnTo>
                    <a:pt x="253110" y="57277"/>
                  </a:lnTo>
                  <a:lnTo>
                    <a:pt x="222884" y="27050"/>
                  </a:lnTo>
                  <a:lnTo>
                    <a:pt x="184403" y="7112"/>
                  </a:lnTo>
                  <a:lnTo>
                    <a:pt x="1400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670047" y="3230879"/>
              <a:ext cx="280670" cy="280670"/>
            </a:xfrm>
            <a:custGeom>
              <a:avLst/>
              <a:gdLst/>
              <a:ahLst/>
              <a:cxnLst/>
              <a:rect l="l" t="t" r="r" b="b"/>
              <a:pathLst>
                <a:path w="280669" h="280670">
                  <a:moveTo>
                    <a:pt x="0" y="140081"/>
                  </a:moveTo>
                  <a:lnTo>
                    <a:pt x="7112" y="95758"/>
                  </a:lnTo>
                  <a:lnTo>
                    <a:pt x="27050" y="57277"/>
                  </a:lnTo>
                  <a:lnTo>
                    <a:pt x="57276" y="27050"/>
                  </a:lnTo>
                  <a:lnTo>
                    <a:pt x="95757" y="7112"/>
                  </a:lnTo>
                  <a:lnTo>
                    <a:pt x="140081" y="0"/>
                  </a:lnTo>
                  <a:lnTo>
                    <a:pt x="184403" y="7112"/>
                  </a:lnTo>
                  <a:lnTo>
                    <a:pt x="222884" y="27050"/>
                  </a:lnTo>
                  <a:lnTo>
                    <a:pt x="253110" y="57277"/>
                  </a:lnTo>
                  <a:lnTo>
                    <a:pt x="273050" y="95758"/>
                  </a:lnTo>
                  <a:lnTo>
                    <a:pt x="280162" y="140081"/>
                  </a:lnTo>
                  <a:lnTo>
                    <a:pt x="273050" y="184404"/>
                  </a:lnTo>
                  <a:lnTo>
                    <a:pt x="253110" y="222885"/>
                  </a:lnTo>
                  <a:lnTo>
                    <a:pt x="222884" y="253111"/>
                  </a:lnTo>
                  <a:lnTo>
                    <a:pt x="184403" y="273050"/>
                  </a:lnTo>
                  <a:lnTo>
                    <a:pt x="140081" y="280162"/>
                  </a:lnTo>
                  <a:lnTo>
                    <a:pt x="95757" y="273050"/>
                  </a:lnTo>
                  <a:lnTo>
                    <a:pt x="57276" y="253111"/>
                  </a:lnTo>
                  <a:lnTo>
                    <a:pt x="27050" y="222885"/>
                  </a:lnTo>
                  <a:lnTo>
                    <a:pt x="7112" y="184404"/>
                  </a:lnTo>
                  <a:lnTo>
                    <a:pt x="0" y="140081"/>
                  </a:lnTo>
                  <a:close/>
                </a:path>
              </a:pathLst>
            </a:custGeom>
            <a:ln w="9144">
              <a:solidFill>
                <a:srgbClr val="D644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2557272" y="3028569"/>
            <a:ext cx="334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D64437"/>
                </a:solidFill>
                <a:latin typeface="Arial"/>
                <a:cs typeface="Arial"/>
              </a:rPr>
              <a:t>x</a:t>
            </a:r>
            <a:r>
              <a:rPr sz="1800" spc="-320" dirty="0">
                <a:solidFill>
                  <a:srgbClr val="D64437"/>
                </a:solidFill>
                <a:latin typeface="Arial"/>
                <a:cs typeface="Arial"/>
              </a:rPr>
              <a:t> </a:t>
            </a:r>
            <a:r>
              <a:rPr sz="2700" baseline="-30864" dirty="0">
                <a:solidFill>
                  <a:srgbClr val="D64437"/>
                </a:solidFill>
                <a:latin typeface="Arial"/>
                <a:cs typeface="Arial"/>
              </a:rPr>
              <a:t>x</a:t>
            </a:r>
            <a:endParaRPr sz="2700" baseline="-30864">
              <a:latin typeface="Arial"/>
              <a:cs typeface="Arial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2355913" y="2802445"/>
            <a:ext cx="1310005" cy="1386205"/>
            <a:chOff x="2355913" y="2802445"/>
            <a:chExt cx="1310005" cy="1386205"/>
          </a:xfrm>
        </p:grpSpPr>
        <p:sp>
          <p:nvSpPr>
            <p:cNvPr id="94" name="object 94"/>
            <p:cNvSpPr/>
            <p:nvPr/>
          </p:nvSpPr>
          <p:spPr>
            <a:xfrm>
              <a:off x="2360676" y="2807207"/>
              <a:ext cx="1300480" cy="1376680"/>
            </a:xfrm>
            <a:custGeom>
              <a:avLst/>
              <a:gdLst/>
              <a:ahLst/>
              <a:cxnLst/>
              <a:rect l="l" t="t" r="r" b="b"/>
              <a:pathLst>
                <a:path w="1300479" h="1376679">
                  <a:moveTo>
                    <a:pt x="0" y="1376171"/>
                  </a:moveTo>
                  <a:lnTo>
                    <a:pt x="30480" y="1338706"/>
                  </a:lnTo>
                  <a:lnTo>
                    <a:pt x="61468" y="1301114"/>
                  </a:lnTo>
                  <a:lnTo>
                    <a:pt x="92837" y="1263268"/>
                  </a:lnTo>
                  <a:lnTo>
                    <a:pt x="124713" y="1225422"/>
                  </a:lnTo>
                  <a:lnTo>
                    <a:pt x="156844" y="1187322"/>
                  </a:lnTo>
                  <a:lnTo>
                    <a:pt x="189484" y="1149095"/>
                  </a:lnTo>
                  <a:lnTo>
                    <a:pt x="222376" y="1110868"/>
                  </a:lnTo>
                  <a:lnTo>
                    <a:pt x="255778" y="1072514"/>
                  </a:lnTo>
                  <a:lnTo>
                    <a:pt x="289432" y="1034033"/>
                  </a:lnTo>
                  <a:lnTo>
                    <a:pt x="323342" y="995552"/>
                  </a:lnTo>
                  <a:lnTo>
                    <a:pt x="357631" y="957071"/>
                  </a:lnTo>
                  <a:lnTo>
                    <a:pt x="392175" y="918590"/>
                  </a:lnTo>
                  <a:lnTo>
                    <a:pt x="426974" y="879982"/>
                  </a:lnTo>
                  <a:lnTo>
                    <a:pt x="462025" y="841501"/>
                  </a:lnTo>
                  <a:lnTo>
                    <a:pt x="497331" y="803020"/>
                  </a:lnTo>
                  <a:lnTo>
                    <a:pt x="532892" y="764666"/>
                  </a:lnTo>
                  <a:lnTo>
                    <a:pt x="568579" y="726313"/>
                  </a:lnTo>
                  <a:lnTo>
                    <a:pt x="604519" y="688086"/>
                  </a:lnTo>
                  <a:lnTo>
                    <a:pt x="640588" y="649858"/>
                  </a:lnTo>
                  <a:lnTo>
                    <a:pt x="676782" y="611886"/>
                  </a:lnTo>
                  <a:lnTo>
                    <a:pt x="713232" y="573913"/>
                  </a:lnTo>
                  <a:lnTo>
                    <a:pt x="749681" y="536193"/>
                  </a:lnTo>
                  <a:lnTo>
                    <a:pt x="786257" y="498601"/>
                  </a:lnTo>
                  <a:lnTo>
                    <a:pt x="822960" y="461263"/>
                  </a:lnTo>
                  <a:lnTo>
                    <a:pt x="859663" y="424052"/>
                  </a:lnTo>
                  <a:lnTo>
                    <a:pt x="896493" y="387095"/>
                  </a:lnTo>
                  <a:lnTo>
                    <a:pt x="933323" y="350392"/>
                  </a:lnTo>
                  <a:lnTo>
                    <a:pt x="970152" y="313943"/>
                  </a:lnTo>
                  <a:lnTo>
                    <a:pt x="1006983" y="277749"/>
                  </a:lnTo>
                  <a:lnTo>
                    <a:pt x="1043813" y="241807"/>
                  </a:lnTo>
                  <a:lnTo>
                    <a:pt x="1080643" y="206247"/>
                  </a:lnTo>
                  <a:lnTo>
                    <a:pt x="1117473" y="170941"/>
                  </a:lnTo>
                  <a:lnTo>
                    <a:pt x="1154176" y="136016"/>
                  </a:lnTo>
                  <a:lnTo>
                    <a:pt x="1190752" y="101472"/>
                  </a:lnTo>
                  <a:lnTo>
                    <a:pt x="1227327" y="67182"/>
                  </a:lnTo>
                  <a:lnTo>
                    <a:pt x="1263650" y="33400"/>
                  </a:lnTo>
                  <a:lnTo>
                    <a:pt x="1299972" y="0"/>
                  </a:lnTo>
                </a:path>
              </a:pathLst>
            </a:custGeom>
            <a:ln w="9144">
              <a:solidFill>
                <a:srgbClr val="D644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822448" y="3383279"/>
              <a:ext cx="280670" cy="280670"/>
            </a:xfrm>
            <a:custGeom>
              <a:avLst/>
              <a:gdLst/>
              <a:ahLst/>
              <a:cxnLst/>
              <a:rect l="l" t="t" r="r" b="b"/>
              <a:pathLst>
                <a:path w="280669" h="280670">
                  <a:moveTo>
                    <a:pt x="140081" y="0"/>
                  </a:moveTo>
                  <a:lnTo>
                    <a:pt x="95757" y="7112"/>
                  </a:lnTo>
                  <a:lnTo>
                    <a:pt x="57276" y="27050"/>
                  </a:lnTo>
                  <a:lnTo>
                    <a:pt x="27050" y="57277"/>
                  </a:lnTo>
                  <a:lnTo>
                    <a:pt x="7112" y="95758"/>
                  </a:lnTo>
                  <a:lnTo>
                    <a:pt x="0" y="140081"/>
                  </a:lnTo>
                  <a:lnTo>
                    <a:pt x="7112" y="184404"/>
                  </a:lnTo>
                  <a:lnTo>
                    <a:pt x="27050" y="222885"/>
                  </a:lnTo>
                  <a:lnTo>
                    <a:pt x="57276" y="253111"/>
                  </a:lnTo>
                  <a:lnTo>
                    <a:pt x="95757" y="273050"/>
                  </a:lnTo>
                  <a:lnTo>
                    <a:pt x="140081" y="280162"/>
                  </a:lnTo>
                  <a:lnTo>
                    <a:pt x="184403" y="273050"/>
                  </a:lnTo>
                  <a:lnTo>
                    <a:pt x="222884" y="253111"/>
                  </a:lnTo>
                  <a:lnTo>
                    <a:pt x="253110" y="222885"/>
                  </a:lnTo>
                  <a:lnTo>
                    <a:pt x="273050" y="184404"/>
                  </a:lnTo>
                  <a:lnTo>
                    <a:pt x="280162" y="140081"/>
                  </a:lnTo>
                  <a:lnTo>
                    <a:pt x="273050" y="95758"/>
                  </a:lnTo>
                  <a:lnTo>
                    <a:pt x="253110" y="57277"/>
                  </a:lnTo>
                  <a:lnTo>
                    <a:pt x="222884" y="27050"/>
                  </a:lnTo>
                  <a:lnTo>
                    <a:pt x="184403" y="7112"/>
                  </a:lnTo>
                  <a:lnTo>
                    <a:pt x="1400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822448" y="3383279"/>
              <a:ext cx="280670" cy="280670"/>
            </a:xfrm>
            <a:custGeom>
              <a:avLst/>
              <a:gdLst/>
              <a:ahLst/>
              <a:cxnLst/>
              <a:rect l="l" t="t" r="r" b="b"/>
              <a:pathLst>
                <a:path w="280669" h="280670">
                  <a:moveTo>
                    <a:pt x="0" y="140081"/>
                  </a:moveTo>
                  <a:lnTo>
                    <a:pt x="7112" y="95758"/>
                  </a:lnTo>
                  <a:lnTo>
                    <a:pt x="27050" y="57277"/>
                  </a:lnTo>
                  <a:lnTo>
                    <a:pt x="57276" y="27050"/>
                  </a:lnTo>
                  <a:lnTo>
                    <a:pt x="95757" y="7112"/>
                  </a:lnTo>
                  <a:lnTo>
                    <a:pt x="140081" y="0"/>
                  </a:lnTo>
                  <a:lnTo>
                    <a:pt x="184403" y="7112"/>
                  </a:lnTo>
                  <a:lnTo>
                    <a:pt x="222884" y="27050"/>
                  </a:lnTo>
                  <a:lnTo>
                    <a:pt x="253110" y="57277"/>
                  </a:lnTo>
                  <a:lnTo>
                    <a:pt x="273050" y="95758"/>
                  </a:lnTo>
                  <a:lnTo>
                    <a:pt x="280162" y="140081"/>
                  </a:lnTo>
                  <a:lnTo>
                    <a:pt x="273050" y="184404"/>
                  </a:lnTo>
                  <a:lnTo>
                    <a:pt x="253110" y="222885"/>
                  </a:lnTo>
                  <a:lnTo>
                    <a:pt x="222884" y="253111"/>
                  </a:lnTo>
                  <a:lnTo>
                    <a:pt x="184403" y="273050"/>
                  </a:lnTo>
                  <a:lnTo>
                    <a:pt x="140081" y="280162"/>
                  </a:lnTo>
                  <a:lnTo>
                    <a:pt x="95757" y="273050"/>
                  </a:lnTo>
                  <a:lnTo>
                    <a:pt x="57276" y="253111"/>
                  </a:lnTo>
                  <a:lnTo>
                    <a:pt x="27050" y="222885"/>
                  </a:lnTo>
                  <a:lnTo>
                    <a:pt x="7112" y="184404"/>
                  </a:lnTo>
                  <a:lnTo>
                    <a:pt x="0" y="140081"/>
                  </a:lnTo>
                  <a:close/>
                </a:path>
              </a:pathLst>
            </a:custGeom>
            <a:ln w="9144">
              <a:solidFill>
                <a:srgbClr val="D644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2887726" y="333336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D64437"/>
                </a:solidFill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2695765" y="3180397"/>
            <a:ext cx="931544" cy="1000125"/>
            <a:chOff x="2695765" y="3180397"/>
            <a:chExt cx="931544" cy="1000125"/>
          </a:xfrm>
        </p:grpSpPr>
        <p:sp>
          <p:nvSpPr>
            <p:cNvPr id="99" name="object 99"/>
            <p:cNvSpPr/>
            <p:nvPr/>
          </p:nvSpPr>
          <p:spPr>
            <a:xfrm>
              <a:off x="2700527" y="3185160"/>
              <a:ext cx="922019" cy="990600"/>
            </a:xfrm>
            <a:custGeom>
              <a:avLst/>
              <a:gdLst/>
              <a:ahLst/>
              <a:cxnLst/>
              <a:rect l="l" t="t" r="r" b="b"/>
              <a:pathLst>
                <a:path w="922020" h="990600">
                  <a:moveTo>
                    <a:pt x="0" y="990472"/>
                  </a:moveTo>
                  <a:lnTo>
                    <a:pt x="26543" y="950467"/>
                  </a:lnTo>
                  <a:lnTo>
                    <a:pt x="53848" y="910463"/>
                  </a:lnTo>
                  <a:lnTo>
                    <a:pt x="82042" y="870584"/>
                  </a:lnTo>
                  <a:lnTo>
                    <a:pt x="110998" y="830707"/>
                  </a:lnTo>
                  <a:lnTo>
                    <a:pt x="140843" y="790956"/>
                  </a:lnTo>
                  <a:lnTo>
                    <a:pt x="171196" y="751204"/>
                  </a:lnTo>
                  <a:lnTo>
                    <a:pt x="202311" y="711707"/>
                  </a:lnTo>
                  <a:lnTo>
                    <a:pt x="234188" y="672338"/>
                  </a:lnTo>
                  <a:lnTo>
                    <a:pt x="266573" y="633221"/>
                  </a:lnTo>
                  <a:lnTo>
                    <a:pt x="299593" y="594359"/>
                  </a:lnTo>
                  <a:lnTo>
                    <a:pt x="333121" y="555751"/>
                  </a:lnTo>
                  <a:lnTo>
                    <a:pt x="367284" y="517397"/>
                  </a:lnTo>
                  <a:lnTo>
                    <a:pt x="401828" y="479425"/>
                  </a:lnTo>
                  <a:lnTo>
                    <a:pt x="437007" y="441832"/>
                  </a:lnTo>
                  <a:lnTo>
                    <a:pt x="472440" y="404622"/>
                  </a:lnTo>
                  <a:lnTo>
                    <a:pt x="508381" y="367918"/>
                  </a:lnTo>
                  <a:lnTo>
                    <a:pt x="544703" y="331597"/>
                  </a:lnTo>
                  <a:lnTo>
                    <a:pt x="581406" y="295655"/>
                  </a:lnTo>
                  <a:lnTo>
                    <a:pt x="618363" y="260350"/>
                  </a:lnTo>
                  <a:lnTo>
                    <a:pt x="655574" y="225551"/>
                  </a:lnTo>
                  <a:lnTo>
                    <a:pt x="693166" y="191388"/>
                  </a:lnTo>
                  <a:lnTo>
                    <a:pt x="730885" y="157861"/>
                  </a:lnTo>
                  <a:lnTo>
                    <a:pt x="768858" y="124840"/>
                  </a:lnTo>
                  <a:lnTo>
                    <a:pt x="806831" y="92582"/>
                  </a:lnTo>
                  <a:lnTo>
                    <a:pt x="845058" y="60960"/>
                  </a:lnTo>
                  <a:lnTo>
                    <a:pt x="883412" y="30099"/>
                  </a:lnTo>
                  <a:lnTo>
                    <a:pt x="921766" y="0"/>
                  </a:lnTo>
                </a:path>
              </a:pathLst>
            </a:custGeom>
            <a:ln w="9143">
              <a:solidFill>
                <a:srgbClr val="D644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974847" y="3535680"/>
              <a:ext cx="280670" cy="280670"/>
            </a:xfrm>
            <a:custGeom>
              <a:avLst/>
              <a:gdLst/>
              <a:ahLst/>
              <a:cxnLst/>
              <a:rect l="l" t="t" r="r" b="b"/>
              <a:pathLst>
                <a:path w="280670" h="280670">
                  <a:moveTo>
                    <a:pt x="140081" y="0"/>
                  </a:moveTo>
                  <a:lnTo>
                    <a:pt x="95757" y="7112"/>
                  </a:lnTo>
                  <a:lnTo>
                    <a:pt x="57276" y="27050"/>
                  </a:lnTo>
                  <a:lnTo>
                    <a:pt x="27050" y="57277"/>
                  </a:lnTo>
                  <a:lnTo>
                    <a:pt x="7112" y="95758"/>
                  </a:lnTo>
                  <a:lnTo>
                    <a:pt x="0" y="140081"/>
                  </a:lnTo>
                  <a:lnTo>
                    <a:pt x="7112" y="184404"/>
                  </a:lnTo>
                  <a:lnTo>
                    <a:pt x="27050" y="222885"/>
                  </a:lnTo>
                  <a:lnTo>
                    <a:pt x="57276" y="253111"/>
                  </a:lnTo>
                  <a:lnTo>
                    <a:pt x="95757" y="273050"/>
                  </a:lnTo>
                  <a:lnTo>
                    <a:pt x="140081" y="280162"/>
                  </a:lnTo>
                  <a:lnTo>
                    <a:pt x="184403" y="273050"/>
                  </a:lnTo>
                  <a:lnTo>
                    <a:pt x="222884" y="253111"/>
                  </a:lnTo>
                  <a:lnTo>
                    <a:pt x="253110" y="222885"/>
                  </a:lnTo>
                  <a:lnTo>
                    <a:pt x="273050" y="184404"/>
                  </a:lnTo>
                  <a:lnTo>
                    <a:pt x="280162" y="140081"/>
                  </a:lnTo>
                  <a:lnTo>
                    <a:pt x="273050" y="95758"/>
                  </a:lnTo>
                  <a:lnTo>
                    <a:pt x="253110" y="57277"/>
                  </a:lnTo>
                  <a:lnTo>
                    <a:pt x="222884" y="27050"/>
                  </a:lnTo>
                  <a:lnTo>
                    <a:pt x="184403" y="7112"/>
                  </a:lnTo>
                  <a:lnTo>
                    <a:pt x="1400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2974847" y="3535680"/>
              <a:ext cx="280670" cy="280670"/>
            </a:xfrm>
            <a:custGeom>
              <a:avLst/>
              <a:gdLst/>
              <a:ahLst/>
              <a:cxnLst/>
              <a:rect l="l" t="t" r="r" b="b"/>
              <a:pathLst>
                <a:path w="280670" h="280670">
                  <a:moveTo>
                    <a:pt x="0" y="140081"/>
                  </a:moveTo>
                  <a:lnTo>
                    <a:pt x="7112" y="95758"/>
                  </a:lnTo>
                  <a:lnTo>
                    <a:pt x="27050" y="57277"/>
                  </a:lnTo>
                  <a:lnTo>
                    <a:pt x="57276" y="27050"/>
                  </a:lnTo>
                  <a:lnTo>
                    <a:pt x="95757" y="7112"/>
                  </a:lnTo>
                  <a:lnTo>
                    <a:pt x="140081" y="0"/>
                  </a:lnTo>
                  <a:lnTo>
                    <a:pt x="184403" y="7112"/>
                  </a:lnTo>
                  <a:lnTo>
                    <a:pt x="222884" y="27050"/>
                  </a:lnTo>
                  <a:lnTo>
                    <a:pt x="253110" y="57277"/>
                  </a:lnTo>
                  <a:lnTo>
                    <a:pt x="273050" y="95758"/>
                  </a:lnTo>
                  <a:lnTo>
                    <a:pt x="280162" y="140081"/>
                  </a:lnTo>
                  <a:lnTo>
                    <a:pt x="273050" y="184404"/>
                  </a:lnTo>
                  <a:lnTo>
                    <a:pt x="253110" y="222885"/>
                  </a:lnTo>
                  <a:lnTo>
                    <a:pt x="222884" y="253111"/>
                  </a:lnTo>
                  <a:lnTo>
                    <a:pt x="184403" y="273050"/>
                  </a:lnTo>
                  <a:lnTo>
                    <a:pt x="140081" y="280162"/>
                  </a:lnTo>
                  <a:lnTo>
                    <a:pt x="95757" y="273050"/>
                  </a:lnTo>
                  <a:lnTo>
                    <a:pt x="57276" y="253111"/>
                  </a:lnTo>
                  <a:lnTo>
                    <a:pt x="27050" y="222885"/>
                  </a:lnTo>
                  <a:lnTo>
                    <a:pt x="7112" y="184404"/>
                  </a:lnTo>
                  <a:lnTo>
                    <a:pt x="0" y="140081"/>
                  </a:lnTo>
                  <a:close/>
                </a:path>
              </a:pathLst>
            </a:custGeom>
            <a:ln w="9144">
              <a:solidFill>
                <a:srgbClr val="D644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3040126" y="348551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D64437"/>
                </a:solidFill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3197161" y="3751897"/>
            <a:ext cx="373380" cy="436245"/>
            <a:chOff x="3197161" y="3751897"/>
            <a:chExt cx="373380" cy="436245"/>
          </a:xfrm>
        </p:grpSpPr>
        <p:sp>
          <p:nvSpPr>
            <p:cNvPr id="104" name="object 104"/>
            <p:cNvSpPr/>
            <p:nvPr/>
          </p:nvSpPr>
          <p:spPr>
            <a:xfrm>
              <a:off x="3201923" y="3756659"/>
              <a:ext cx="363855" cy="426720"/>
            </a:xfrm>
            <a:custGeom>
              <a:avLst/>
              <a:gdLst/>
              <a:ahLst/>
              <a:cxnLst/>
              <a:rect l="l" t="t" r="r" b="b"/>
              <a:pathLst>
                <a:path w="363854" h="426720">
                  <a:moveTo>
                    <a:pt x="0" y="426338"/>
                  </a:moveTo>
                  <a:lnTo>
                    <a:pt x="8508" y="373125"/>
                  </a:lnTo>
                  <a:lnTo>
                    <a:pt x="21462" y="322833"/>
                  </a:lnTo>
                  <a:lnTo>
                    <a:pt x="38734" y="275335"/>
                  </a:lnTo>
                  <a:lnTo>
                    <a:pt x="60198" y="230885"/>
                  </a:lnTo>
                  <a:lnTo>
                    <a:pt x="85725" y="189610"/>
                  </a:lnTo>
                  <a:lnTo>
                    <a:pt x="115188" y="151637"/>
                  </a:lnTo>
                  <a:lnTo>
                    <a:pt x="148336" y="116966"/>
                  </a:lnTo>
                  <a:lnTo>
                    <a:pt x="184912" y="85978"/>
                  </a:lnTo>
                  <a:lnTo>
                    <a:pt x="224916" y="58673"/>
                  </a:lnTo>
                  <a:lnTo>
                    <a:pt x="268224" y="35178"/>
                  </a:lnTo>
                  <a:lnTo>
                    <a:pt x="314578" y="15493"/>
                  </a:lnTo>
                  <a:lnTo>
                    <a:pt x="363727" y="0"/>
                  </a:lnTo>
                </a:path>
              </a:pathLst>
            </a:custGeom>
            <a:ln w="9144">
              <a:solidFill>
                <a:srgbClr val="D644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203447" y="3764279"/>
              <a:ext cx="280670" cy="280670"/>
            </a:xfrm>
            <a:custGeom>
              <a:avLst/>
              <a:gdLst/>
              <a:ahLst/>
              <a:cxnLst/>
              <a:rect l="l" t="t" r="r" b="b"/>
              <a:pathLst>
                <a:path w="280670" h="280670">
                  <a:moveTo>
                    <a:pt x="140080" y="0"/>
                  </a:moveTo>
                  <a:lnTo>
                    <a:pt x="95757" y="7112"/>
                  </a:lnTo>
                  <a:lnTo>
                    <a:pt x="57276" y="27051"/>
                  </a:lnTo>
                  <a:lnTo>
                    <a:pt x="27050" y="57277"/>
                  </a:lnTo>
                  <a:lnTo>
                    <a:pt x="7112" y="95758"/>
                  </a:lnTo>
                  <a:lnTo>
                    <a:pt x="0" y="140081"/>
                  </a:lnTo>
                  <a:lnTo>
                    <a:pt x="7112" y="184404"/>
                  </a:lnTo>
                  <a:lnTo>
                    <a:pt x="27050" y="222885"/>
                  </a:lnTo>
                  <a:lnTo>
                    <a:pt x="57276" y="253111"/>
                  </a:lnTo>
                  <a:lnTo>
                    <a:pt x="95757" y="273050"/>
                  </a:lnTo>
                  <a:lnTo>
                    <a:pt x="140080" y="280162"/>
                  </a:lnTo>
                  <a:lnTo>
                    <a:pt x="184403" y="273050"/>
                  </a:lnTo>
                  <a:lnTo>
                    <a:pt x="222885" y="253111"/>
                  </a:lnTo>
                  <a:lnTo>
                    <a:pt x="253111" y="222885"/>
                  </a:lnTo>
                  <a:lnTo>
                    <a:pt x="273050" y="184404"/>
                  </a:lnTo>
                  <a:lnTo>
                    <a:pt x="280162" y="140081"/>
                  </a:lnTo>
                  <a:lnTo>
                    <a:pt x="273050" y="95758"/>
                  </a:lnTo>
                  <a:lnTo>
                    <a:pt x="253111" y="57277"/>
                  </a:lnTo>
                  <a:lnTo>
                    <a:pt x="222885" y="27051"/>
                  </a:lnTo>
                  <a:lnTo>
                    <a:pt x="184403" y="7112"/>
                  </a:lnTo>
                  <a:lnTo>
                    <a:pt x="1400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203447" y="3764279"/>
              <a:ext cx="280670" cy="280670"/>
            </a:xfrm>
            <a:custGeom>
              <a:avLst/>
              <a:gdLst/>
              <a:ahLst/>
              <a:cxnLst/>
              <a:rect l="l" t="t" r="r" b="b"/>
              <a:pathLst>
                <a:path w="280670" h="280670">
                  <a:moveTo>
                    <a:pt x="0" y="140081"/>
                  </a:moveTo>
                  <a:lnTo>
                    <a:pt x="7112" y="95758"/>
                  </a:lnTo>
                  <a:lnTo>
                    <a:pt x="27050" y="57277"/>
                  </a:lnTo>
                  <a:lnTo>
                    <a:pt x="57276" y="27051"/>
                  </a:lnTo>
                  <a:lnTo>
                    <a:pt x="95757" y="7112"/>
                  </a:lnTo>
                  <a:lnTo>
                    <a:pt x="140080" y="0"/>
                  </a:lnTo>
                  <a:lnTo>
                    <a:pt x="184403" y="7112"/>
                  </a:lnTo>
                  <a:lnTo>
                    <a:pt x="222885" y="27051"/>
                  </a:lnTo>
                  <a:lnTo>
                    <a:pt x="253111" y="57277"/>
                  </a:lnTo>
                  <a:lnTo>
                    <a:pt x="273050" y="95758"/>
                  </a:lnTo>
                  <a:lnTo>
                    <a:pt x="280162" y="140081"/>
                  </a:lnTo>
                  <a:lnTo>
                    <a:pt x="273050" y="184404"/>
                  </a:lnTo>
                  <a:lnTo>
                    <a:pt x="253111" y="222885"/>
                  </a:lnTo>
                  <a:lnTo>
                    <a:pt x="222885" y="253111"/>
                  </a:lnTo>
                  <a:lnTo>
                    <a:pt x="184403" y="273050"/>
                  </a:lnTo>
                  <a:lnTo>
                    <a:pt x="140080" y="280162"/>
                  </a:lnTo>
                  <a:lnTo>
                    <a:pt x="95757" y="273050"/>
                  </a:lnTo>
                  <a:lnTo>
                    <a:pt x="57276" y="253111"/>
                  </a:lnTo>
                  <a:lnTo>
                    <a:pt x="27050" y="222885"/>
                  </a:lnTo>
                  <a:lnTo>
                    <a:pt x="7112" y="184404"/>
                  </a:lnTo>
                  <a:lnTo>
                    <a:pt x="0" y="140081"/>
                  </a:lnTo>
                  <a:close/>
                </a:path>
              </a:pathLst>
            </a:custGeom>
            <a:ln w="9144">
              <a:solidFill>
                <a:srgbClr val="D644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3268726" y="371475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D64437"/>
                </a:solidFill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3486911" y="4096511"/>
            <a:ext cx="179832" cy="1783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 txBox="1"/>
          <p:nvPr/>
        </p:nvSpPr>
        <p:spPr>
          <a:xfrm>
            <a:off x="6201536" y="2589022"/>
            <a:ext cx="287020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i="1" spc="-5" dirty="0">
                <a:latin typeface="Times New Roman"/>
                <a:cs typeface="Times New Roman"/>
              </a:rPr>
              <a:t>Y </a:t>
            </a:r>
            <a:r>
              <a:rPr sz="2450" spc="-5" dirty="0">
                <a:latin typeface="Symbol"/>
                <a:cs typeface="Symbol"/>
              </a:rPr>
              <a:t></a:t>
            </a:r>
            <a:r>
              <a:rPr sz="2450" spc="-5" dirty="0">
                <a:latin typeface="Times New Roman"/>
                <a:cs typeface="Times New Roman"/>
              </a:rPr>
              <a:t> softmax( </a:t>
            </a:r>
            <a:r>
              <a:rPr sz="2450" i="1" spc="-5" dirty="0">
                <a:latin typeface="Times New Roman"/>
                <a:cs typeface="Times New Roman"/>
              </a:rPr>
              <a:t>X </a:t>
            </a:r>
            <a:r>
              <a:rPr sz="2450" spc="25" dirty="0">
                <a:latin typeface="Symbol"/>
                <a:cs typeface="Symbol"/>
              </a:rPr>
              <a:t></a:t>
            </a:r>
            <a:r>
              <a:rPr sz="2450" i="1" spc="25" dirty="0">
                <a:latin typeface="Times New Roman"/>
                <a:cs typeface="Times New Roman"/>
              </a:rPr>
              <a:t>W </a:t>
            </a:r>
            <a:r>
              <a:rPr sz="2450" spc="-5" dirty="0">
                <a:latin typeface="Symbol"/>
                <a:cs typeface="Symbol"/>
              </a:rPr>
              <a:t></a:t>
            </a:r>
            <a:r>
              <a:rPr sz="2450" spc="-360" dirty="0">
                <a:latin typeface="Times New Roman"/>
                <a:cs typeface="Times New Roman"/>
              </a:rPr>
              <a:t> </a:t>
            </a:r>
            <a:r>
              <a:rPr sz="2450" i="1" spc="5" dirty="0">
                <a:latin typeface="Times New Roman"/>
                <a:cs typeface="Times New Roman"/>
              </a:rPr>
              <a:t>b</a:t>
            </a:r>
            <a:r>
              <a:rPr sz="2450" spc="5" dirty="0">
                <a:latin typeface="Times New Roman"/>
                <a:cs typeface="Times New Roman"/>
              </a:rPr>
              <a:t>)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110" name="object 110"/>
          <p:cNvSpPr txBox="1"/>
          <p:nvPr/>
        </p:nvSpPr>
        <p:spPr>
          <a:xfrm>
            <a:off x="4165853" y="4998466"/>
            <a:ext cx="3721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What </a:t>
            </a:r>
            <a:r>
              <a:rPr sz="1800" spc="-5" dirty="0">
                <a:solidFill>
                  <a:srgbClr val="0000FF"/>
                </a:solidFill>
                <a:latin typeface="Arial"/>
                <a:cs typeface="Arial"/>
              </a:rPr>
              <a:t>is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0000FF"/>
                </a:solidFill>
                <a:latin typeface="Arial"/>
                <a:cs typeface="Arial"/>
              </a:rPr>
              <a:t>final dimension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1800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0000FF"/>
                </a:solidFill>
                <a:latin typeface="Arial"/>
                <a:cs typeface="Arial"/>
              </a:rPr>
              <a:t>X*W</a:t>
            </a:r>
            <a:r>
              <a:rPr sz="1800" spc="-5" dirty="0">
                <a:solidFill>
                  <a:srgbClr val="0000FF"/>
                </a:solidFill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7898" y="383794"/>
            <a:ext cx="7861934" cy="265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5849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C000"/>
                </a:solidFill>
                <a:latin typeface="Arial"/>
                <a:cs typeface="Arial"/>
              </a:rPr>
              <a:t>2 steps in softmax regression - Step</a:t>
            </a:r>
            <a:r>
              <a:rPr sz="3200" spc="-32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000"/>
                </a:solidFill>
                <a:latin typeface="Arial"/>
                <a:cs typeface="Arial"/>
              </a:rPr>
              <a:t>2</a:t>
            </a:r>
          </a:p>
          <a:p>
            <a:pPr marL="393700" marR="823594" indent="-342900">
              <a:lnSpc>
                <a:spcPct val="100000"/>
              </a:lnSpc>
              <a:spcBef>
                <a:spcPts val="2140"/>
              </a:spcBef>
              <a:buFont typeface="Wingdings"/>
              <a:buChar char=""/>
              <a:tabLst>
                <a:tab pos="393065" algn="l"/>
                <a:tab pos="393700" algn="l"/>
              </a:tabLst>
            </a:pPr>
            <a:r>
              <a:rPr sz="1800" b="1" dirty="0">
                <a:latin typeface="Arial"/>
                <a:cs typeface="Arial"/>
              </a:rPr>
              <a:t>Step </a:t>
            </a:r>
            <a:r>
              <a:rPr sz="1800" b="1" spc="-5" dirty="0">
                <a:latin typeface="Arial"/>
                <a:cs typeface="Arial"/>
              </a:rPr>
              <a:t>2: </a:t>
            </a:r>
            <a:r>
              <a:rPr sz="1800" b="1" spc="-20" dirty="0">
                <a:latin typeface="Arial"/>
                <a:cs typeface="Arial"/>
              </a:rPr>
              <a:t>Convert </a:t>
            </a: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-10" dirty="0">
                <a:latin typeface="Arial"/>
                <a:cs typeface="Arial"/>
              </a:rPr>
              <a:t>inputs </a:t>
            </a:r>
            <a:r>
              <a:rPr sz="1800" b="1" spc="-5" dirty="0">
                <a:latin typeface="Arial"/>
                <a:cs typeface="Arial"/>
              </a:rPr>
              <a:t>of </a:t>
            </a:r>
            <a:r>
              <a:rPr sz="1800" b="1" spc="-15" dirty="0">
                <a:latin typeface="Arial"/>
                <a:cs typeface="Arial"/>
              </a:rPr>
              <a:t>final </a:t>
            </a:r>
            <a:r>
              <a:rPr sz="1800" b="1" spc="-20" dirty="0">
                <a:latin typeface="Arial"/>
                <a:cs typeface="Arial"/>
              </a:rPr>
              <a:t>layer </a:t>
            </a:r>
            <a:r>
              <a:rPr sz="1800" b="1" dirty="0">
                <a:latin typeface="Arial"/>
                <a:cs typeface="Arial"/>
              </a:rPr>
              <a:t>into "probabilities" </a:t>
            </a:r>
            <a:r>
              <a:rPr sz="1800" b="1" spc="-5" dirty="0">
                <a:latin typeface="Arial"/>
                <a:cs typeface="Arial"/>
              </a:rPr>
              <a:t>or  “weights” </a:t>
            </a:r>
            <a:r>
              <a:rPr sz="1800" b="1" dirty="0">
                <a:latin typeface="Arial"/>
                <a:cs typeface="Arial"/>
              </a:rPr>
              <a:t>using </a:t>
            </a:r>
            <a:r>
              <a:rPr sz="1800" b="1" spc="-5" dirty="0">
                <a:latin typeface="Arial"/>
                <a:cs typeface="Arial"/>
              </a:rPr>
              <a:t>the softmax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function:</a:t>
            </a:r>
            <a:endParaRPr sz="1800" dirty="0">
              <a:latin typeface="Arial"/>
              <a:cs typeface="Arial"/>
            </a:endParaRPr>
          </a:p>
          <a:p>
            <a:pPr marL="74930" algn="ctr">
              <a:lnSpc>
                <a:spcPts val="4985"/>
              </a:lnSpc>
            </a:pPr>
            <a:r>
              <a:rPr sz="2350" i="1" spc="220" dirty="0">
                <a:latin typeface="Times New Roman"/>
                <a:cs typeface="Times New Roman"/>
              </a:rPr>
              <a:t>P</a:t>
            </a:r>
            <a:r>
              <a:rPr sz="2400" i="1" spc="-7" baseline="-20833" dirty="0">
                <a:latin typeface="Times New Roman"/>
                <a:cs typeface="Times New Roman"/>
              </a:rPr>
              <a:t>i</a:t>
            </a:r>
            <a:r>
              <a:rPr sz="2400" i="1" spc="135" baseline="-20833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spc="-10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soft</a:t>
            </a:r>
            <a:r>
              <a:rPr sz="2350" spc="-55" dirty="0">
                <a:latin typeface="Times New Roman"/>
                <a:cs typeface="Times New Roman"/>
              </a:rPr>
              <a:t>m</a:t>
            </a:r>
            <a:r>
              <a:rPr sz="2350" spc="-15" dirty="0">
                <a:latin typeface="Times New Roman"/>
                <a:cs typeface="Times New Roman"/>
              </a:rPr>
              <a:t>a</a:t>
            </a:r>
            <a:r>
              <a:rPr sz="2350" dirty="0">
                <a:latin typeface="Times New Roman"/>
                <a:cs typeface="Times New Roman"/>
              </a:rPr>
              <a:t>x</a:t>
            </a:r>
            <a:r>
              <a:rPr sz="2350" spc="-240" dirty="0">
                <a:latin typeface="Times New Roman"/>
                <a:cs typeface="Times New Roman"/>
              </a:rPr>
              <a:t> </a:t>
            </a:r>
            <a:r>
              <a:rPr sz="4575" spc="-22" baseline="-1821" dirty="0">
                <a:latin typeface="Symbol"/>
                <a:cs typeface="Symbol"/>
              </a:rPr>
              <a:t></a:t>
            </a:r>
            <a:r>
              <a:rPr sz="2350" i="1" spc="-5" dirty="0">
                <a:latin typeface="Times New Roman"/>
                <a:cs typeface="Times New Roman"/>
              </a:rPr>
              <a:t>z</a:t>
            </a:r>
            <a:r>
              <a:rPr sz="2025" i="1" baseline="-20576" dirty="0">
                <a:latin typeface="Times New Roman"/>
                <a:cs typeface="Times New Roman"/>
              </a:rPr>
              <a:t>i</a:t>
            </a:r>
            <a:r>
              <a:rPr sz="2025" i="1" spc="112" baseline="-20576" dirty="0">
                <a:latin typeface="Times New Roman"/>
                <a:cs typeface="Times New Roman"/>
              </a:rPr>
              <a:t> </a:t>
            </a:r>
            <a:r>
              <a:rPr sz="4575" spc="195" baseline="-1821" dirty="0">
                <a:latin typeface="Symbol"/>
                <a:cs typeface="Symbol"/>
              </a:rPr>
              <a:t>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spc="-10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soft</a:t>
            </a:r>
            <a:r>
              <a:rPr sz="2350" spc="-55" dirty="0">
                <a:latin typeface="Times New Roman"/>
                <a:cs typeface="Times New Roman"/>
              </a:rPr>
              <a:t>m</a:t>
            </a:r>
            <a:r>
              <a:rPr sz="2350" spc="-15" dirty="0">
                <a:latin typeface="Times New Roman"/>
                <a:cs typeface="Times New Roman"/>
              </a:rPr>
              <a:t>a</a:t>
            </a:r>
            <a:r>
              <a:rPr sz="2350" dirty="0">
                <a:latin typeface="Times New Roman"/>
                <a:cs typeface="Times New Roman"/>
              </a:rPr>
              <a:t>x</a:t>
            </a:r>
            <a:r>
              <a:rPr sz="2350" spc="-240" dirty="0">
                <a:latin typeface="Times New Roman"/>
                <a:cs typeface="Times New Roman"/>
              </a:rPr>
              <a:t> </a:t>
            </a:r>
            <a:r>
              <a:rPr sz="6750" spc="-952" baseline="-4938" dirty="0">
                <a:latin typeface="Symbol"/>
                <a:cs typeface="Symbol"/>
              </a:rPr>
              <a:t></a:t>
            </a:r>
            <a:r>
              <a:rPr sz="5250" baseline="-7142" dirty="0">
                <a:latin typeface="Symbol"/>
                <a:cs typeface="Symbol"/>
              </a:rPr>
              <a:t></a:t>
            </a:r>
            <a:r>
              <a:rPr sz="5250" spc="-615" baseline="-7142" dirty="0">
                <a:latin typeface="Times New Roman"/>
                <a:cs typeface="Times New Roman"/>
              </a:rPr>
              <a:t> </a:t>
            </a:r>
            <a:r>
              <a:rPr sz="2025" i="1" baseline="-32921" dirty="0">
                <a:latin typeface="Times New Roman"/>
                <a:cs typeface="Times New Roman"/>
              </a:rPr>
              <a:t>j</a:t>
            </a:r>
            <a:r>
              <a:rPr sz="2025" i="1" spc="-225" baseline="-32921" dirty="0">
                <a:latin typeface="Times New Roman"/>
                <a:cs typeface="Times New Roman"/>
              </a:rPr>
              <a:t> </a:t>
            </a:r>
            <a:r>
              <a:rPr sz="2350" i="1" spc="-125" dirty="0">
                <a:latin typeface="Times New Roman"/>
                <a:cs typeface="Times New Roman"/>
              </a:rPr>
              <a:t>W</a:t>
            </a:r>
            <a:r>
              <a:rPr sz="2025" i="1" spc="135" baseline="-20576" dirty="0">
                <a:latin typeface="Times New Roman"/>
                <a:cs typeface="Times New Roman"/>
              </a:rPr>
              <a:t>i</a:t>
            </a:r>
            <a:r>
              <a:rPr sz="2025" baseline="-20576" dirty="0">
                <a:latin typeface="Times New Roman"/>
                <a:cs typeface="Times New Roman"/>
              </a:rPr>
              <a:t>,</a:t>
            </a:r>
            <a:r>
              <a:rPr sz="2025" spc="-30" baseline="-20576" dirty="0">
                <a:latin typeface="Times New Roman"/>
                <a:cs typeface="Times New Roman"/>
              </a:rPr>
              <a:t> </a:t>
            </a:r>
            <a:r>
              <a:rPr sz="2025" i="1" baseline="-20576" dirty="0">
                <a:latin typeface="Times New Roman"/>
                <a:cs typeface="Times New Roman"/>
              </a:rPr>
              <a:t>j</a:t>
            </a:r>
            <a:r>
              <a:rPr sz="2025" i="1" spc="-67" baseline="-20576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x</a:t>
            </a:r>
            <a:r>
              <a:rPr sz="2350" i="1" spc="-360" dirty="0">
                <a:latin typeface="Times New Roman"/>
                <a:cs typeface="Times New Roman"/>
              </a:rPr>
              <a:t> </a:t>
            </a:r>
            <a:r>
              <a:rPr sz="2025" i="1" baseline="-20576" dirty="0">
                <a:latin typeface="Times New Roman"/>
                <a:cs typeface="Times New Roman"/>
              </a:rPr>
              <a:t>j </a:t>
            </a:r>
            <a:r>
              <a:rPr sz="2025" i="1" spc="22" baseline="-20576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</a:t>
            </a:r>
            <a:r>
              <a:rPr sz="2350" spc="-225" dirty="0">
                <a:latin typeface="Times New Roman"/>
                <a:cs typeface="Times New Roman"/>
              </a:rPr>
              <a:t> </a:t>
            </a:r>
            <a:r>
              <a:rPr sz="2350" i="1" spc="-160" dirty="0">
                <a:latin typeface="Times New Roman"/>
                <a:cs typeface="Times New Roman"/>
              </a:rPr>
              <a:t>b</a:t>
            </a:r>
            <a:r>
              <a:rPr sz="2025" i="1" baseline="-20576" dirty="0">
                <a:latin typeface="Times New Roman"/>
                <a:cs typeface="Times New Roman"/>
              </a:rPr>
              <a:t>i</a:t>
            </a:r>
            <a:r>
              <a:rPr sz="2025" i="1" spc="127" baseline="-20576" dirty="0">
                <a:latin typeface="Times New Roman"/>
                <a:cs typeface="Times New Roman"/>
              </a:rPr>
              <a:t> </a:t>
            </a:r>
            <a:r>
              <a:rPr sz="6750" baseline="-4938" dirty="0">
                <a:latin typeface="Symbol"/>
                <a:cs typeface="Symbol"/>
              </a:rPr>
              <a:t></a:t>
            </a:r>
          </a:p>
          <a:p>
            <a:pPr marL="393700" indent="-342900">
              <a:lnSpc>
                <a:spcPct val="100000"/>
              </a:lnSpc>
              <a:spcBef>
                <a:spcPts val="1120"/>
              </a:spcBef>
              <a:buFont typeface="Wingdings"/>
              <a:buChar char=""/>
              <a:tabLst>
                <a:tab pos="393065" algn="l"/>
                <a:tab pos="393700" algn="l"/>
              </a:tabLst>
            </a:pPr>
            <a:r>
              <a:rPr sz="1800" b="1" spc="-5" dirty="0">
                <a:latin typeface="Arial"/>
                <a:cs typeface="Arial"/>
              </a:rPr>
              <a:t>Here softmax is </a:t>
            </a:r>
            <a:r>
              <a:rPr sz="1800" b="1" spc="-20" dirty="0">
                <a:latin typeface="Arial"/>
                <a:cs typeface="Arial"/>
              </a:rPr>
              <a:t>serving </a:t>
            </a:r>
            <a:r>
              <a:rPr sz="1800" b="1" spc="-5" dirty="0">
                <a:latin typeface="Arial"/>
                <a:cs typeface="Arial"/>
              </a:rPr>
              <a:t>as an "activation" </a:t>
            </a:r>
            <a:r>
              <a:rPr sz="1800" b="1" dirty="0">
                <a:latin typeface="Arial"/>
                <a:cs typeface="Arial"/>
              </a:rPr>
              <a:t>function, which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-1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defined</a:t>
            </a:r>
            <a:endParaRPr sz="1800" dirty="0">
              <a:latin typeface="Arial"/>
              <a:cs typeface="Arial"/>
            </a:endParaRPr>
          </a:p>
          <a:p>
            <a:pPr marL="393700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as: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FD643C5-71E7-81B9-36F8-E7FC11327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442317"/>
            <a:ext cx="4238625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75232" y="2220467"/>
            <a:ext cx="760476" cy="12633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377439" y="2801111"/>
            <a:ext cx="592455" cy="128270"/>
            <a:chOff x="2377439" y="2801111"/>
            <a:chExt cx="592455" cy="128270"/>
          </a:xfrm>
        </p:grpSpPr>
        <p:sp>
          <p:nvSpPr>
            <p:cNvPr id="4" name="object 4"/>
            <p:cNvSpPr/>
            <p:nvPr/>
          </p:nvSpPr>
          <p:spPr>
            <a:xfrm>
              <a:off x="2849117" y="2801111"/>
              <a:ext cx="114300" cy="1280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77440" y="2858680"/>
              <a:ext cx="592455" cy="13335"/>
            </a:xfrm>
            <a:custGeom>
              <a:avLst/>
              <a:gdLst/>
              <a:ahLst/>
              <a:cxnLst/>
              <a:rect l="l" t="t" r="r" b="b"/>
              <a:pathLst>
                <a:path w="592455" h="13335">
                  <a:moveTo>
                    <a:pt x="471652" y="0"/>
                  </a:moveTo>
                  <a:lnTo>
                    <a:pt x="0" y="0"/>
                  </a:lnTo>
                  <a:lnTo>
                    <a:pt x="0" y="12788"/>
                  </a:lnTo>
                  <a:lnTo>
                    <a:pt x="471652" y="12788"/>
                  </a:lnTo>
                  <a:lnTo>
                    <a:pt x="471652" y="0"/>
                  </a:lnTo>
                  <a:close/>
                </a:path>
                <a:path w="592455" h="13335">
                  <a:moveTo>
                    <a:pt x="592328" y="6438"/>
                  </a:moveTo>
                  <a:lnTo>
                    <a:pt x="592315" y="88"/>
                  </a:lnTo>
                  <a:lnTo>
                    <a:pt x="484378" y="88"/>
                  </a:lnTo>
                  <a:lnTo>
                    <a:pt x="484378" y="6438"/>
                  </a:lnTo>
                  <a:lnTo>
                    <a:pt x="484378" y="12788"/>
                  </a:lnTo>
                  <a:lnTo>
                    <a:pt x="592328" y="12788"/>
                  </a:lnTo>
                  <a:lnTo>
                    <a:pt x="592328" y="6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456433" y="2431160"/>
            <a:ext cx="440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28x28</a:t>
            </a:r>
            <a:endParaRPr sz="120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pixels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46019" y="3988689"/>
            <a:ext cx="5632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so</a:t>
            </a:r>
            <a:r>
              <a:rPr sz="1200" spc="10" dirty="0">
                <a:latin typeface="Arial"/>
                <a:cs typeface="Arial"/>
              </a:rPr>
              <a:t>f</a:t>
            </a:r>
            <a:r>
              <a:rPr sz="1200" dirty="0">
                <a:latin typeface="Arial"/>
                <a:cs typeface="Arial"/>
              </a:rPr>
              <a:t>t</a:t>
            </a:r>
            <a:r>
              <a:rPr sz="1200" spc="5" dirty="0">
                <a:latin typeface="Arial"/>
                <a:cs typeface="Arial"/>
              </a:rPr>
              <a:t>m</a:t>
            </a:r>
            <a:r>
              <a:rPr sz="1200" spc="-5" dirty="0">
                <a:latin typeface="Arial"/>
                <a:cs typeface="Arial"/>
              </a:rPr>
              <a:t>a</a:t>
            </a:r>
            <a:r>
              <a:rPr sz="1200" dirty="0">
                <a:latin typeface="Arial"/>
                <a:cs typeface="Arial"/>
              </a:rPr>
              <a:t>x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84576" y="2709672"/>
            <a:ext cx="3649979" cy="1951989"/>
            <a:chOff x="3084576" y="2709672"/>
            <a:chExt cx="3649979" cy="1951989"/>
          </a:xfrm>
        </p:grpSpPr>
        <p:sp>
          <p:nvSpPr>
            <p:cNvPr id="9" name="object 9"/>
            <p:cNvSpPr/>
            <p:nvPr/>
          </p:nvSpPr>
          <p:spPr>
            <a:xfrm>
              <a:off x="6417564" y="2709672"/>
              <a:ext cx="316865" cy="315595"/>
            </a:xfrm>
            <a:custGeom>
              <a:avLst/>
              <a:gdLst/>
              <a:ahLst/>
              <a:cxnLst/>
              <a:rect l="l" t="t" r="r" b="b"/>
              <a:pathLst>
                <a:path w="316865" h="315594">
                  <a:moveTo>
                    <a:pt x="316484" y="0"/>
                  </a:moveTo>
                  <a:lnTo>
                    <a:pt x="0" y="0"/>
                  </a:lnTo>
                  <a:lnTo>
                    <a:pt x="0" y="315340"/>
                  </a:lnTo>
                  <a:lnTo>
                    <a:pt x="316484" y="315340"/>
                  </a:lnTo>
                  <a:lnTo>
                    <a:pt x="316484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84576" y="2709672"/>
              <a:ext cx="315595" cy="315595"/>
            </a:xfrm>
            <a:custGeom>
              <a:avLst/>
              <a:gdLst/>
              <a:ahLst/>
              <a:cxnLst/>
              <a:rect l="l" t="t" r="r" b="b"/>
              <a:pathLst>
                <a:path w="315595" h="315594">
                  <a:moveTo>
                    <a:pt x="315340" y="0"/>
                  </a:moveTo>
                  <a:lnTo>
                    <a:pt x="0" y="0"/>
                  </a:lnTo>
                  <a:lnTo>
                    <a:pt x="0" y="315340"/>
                  </a:lnTo>
                  <a:lnTo>
                    <a:pt x="315340" y="315340"/>
                  </a:lnTo>
                  <a:lnTo>
                    <a:pt x="315340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00044" y="2709671"/>
              <a:ext cx="1001394" cy="314960"/>
            </a:xfrm>
            <a:custGeom>
              <a:avLst/>
              <a:gdLst/>
              <a:ahLst/>
              <a:cxnLst/>
              <a:rect l="l" t="t" r="r" b="b"/>
              <a:pathLst>
                <a:path w="1001395" h="314960">
                  <a:moveTo>
                    <a:pt x="1001395" y="0"/>
                  </a:moveTo>
                  <a:lnTo>
                    <a:pt x="667385" y="0"/>
                  </a:lnTo>
                  <a:lnTo>
                    <a:pt x="334010" y="0"/>
                  </a:lnTo>
                  <a:lnTo>
                    <a:pt x="0" y="0"/>
                  </a:lnTo>
                  <a:lnTo>
                    <a:pt x="0" y="314960"/>
                  </a:lnTo>
                  <a:lnTo>
                    <a:pt x="334010" y="314960"/>
                  </a:lnTo>
                  <a:lnTo>
                    <a:pt x="667385" y="314960"/>
                  </a:lnTo>
                  <a:lnTo>
                    <a:pt x="1001395" y="314960"/>
                  </a:lnTo>
                  <a:lnTo>
                    <a:pt x="100139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01439" y="2709672"/>
              <a:ext cx="333375" cy="314960"/>
            </a:xfrm>
            <a:custGeom>
              <a:avLst/>
              <a:gdLst/>
              <a:ahLst/>
              <a:cxnLst/>
              <a:rect l="l" t="t" r="r" b="b"/>
              <a:pathLst>
                <a:path w="333375" h="314960">
                  <a:moveTo>
                    <a:pt x="333375" y="0"/>
                  </a:moveTo>
                  <a:lnTo>
                    <a:pt x="0" y="0"/>
                  </a:lnTo>
                  <a:lnTo>
                    <a:pt x="0" y="314960"/>
                  </a:lnTo>
                  <a:lnTo>
                    <a:pt x="333375" y="31496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34814" y="2709672"/>
              <a:ext cx="334010" cy="314960"/>
            </a:xfrm>
            <a:custGeom>
              <a:avLst/>
              <a:gdLst/>
              <a:ahLst/>
              <a:cxnLst/>
              <a:rect l="l" t="t" r="r" b="b"/>
              <a:pathLst>
                <a:path w="334010" h="314960">
                  <a:moveTo>
                    <a:pt x="334010" y="0"/>
                  </a:moveTo>
                  <a:lnTo>
                    <a:pt x="0" y="0"/>
                  </a:lnTo>
                  <a:lnTo>
                    <a:pt x="0" y="314960"/>
                  </a:lnTo>
                  <a:lnTo>
                    <a:pt x="334010" y="314960"/>
                  </a:lnTo>
                  <a:lnTo>
                    <a:pt x="33401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68824" y="2709671"/>
              <a:ext cx="667385" cy="314960"/>
            </a:xfrm>
            <a:custGeom>
              <a:avLst/>
              <a:gdLst/>
              <a:ahLst/>
              <a:cxnLst/>
              <a:rect l="l" t="t" r="r" b="b"/>
              <a:pathLst>
                <a:path w="667385" h="314960">
                  <a:moveTo>
                    <a:pt x="667385" y="0"/>
                  </a:moveTo>
                  <a:lnTo>
                    <a:pt x="334010" y="0"/>
                  </a:lnTo>
                  <a:lnTo>
                    <a:pt x="0" y="0"/>
                  </a:lnTo>
                  <a:lnTo>
                    <a:pt x="0" y="314960"/>
                  </a:lnTo>
                  <a:lnTo>
                    <a:pt x="334010" y="314960"/>
                  </a:lnTo>
                  <a:lnTo>
                    <a:pt x="667385" y="314960"/>
                  </a:lnTo>
                  <a:lnTo>
                    <a:pt x="667385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36208" y="2709672"/>
              <a:ext cx="325120" cy="314960"/>
            </a:xfrm>
            <a:custGeom>
              <a:avLst/>
              <a:gdLst/>
              <a:ahLst/>
              <a:cxnLst/>
              <a:rect l="l" t="t" r="r" b="b"/>
              <a:pathLst>
                <a:path w="325120" h="314960">
                  <a:moveTo>
                    <a:pt x="325120" y="0"/>
                  </a:moveTo>
                  <a:lnTo>
                    <a:pt x="0" y="0"/>
                  </a:lnTo>
                  <a:lnTo>
                    <a:pt x="0" y="314960"/>
                  </a:lnTo>
                  <a:lnTo>
                    <a:pt x="325120" y="314960"/>
                  </a:lnTo>
                  <a:lnTo>
                    <a:pt x="32512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00044" y="2709672"/>
              <a:ext cx="2336165" cy="314960"/>
            </a:xfrm>
            <a:custGeom>
              <a:avLst/>
              <a:gdLst/>
              <a:ahLst/>
              <a:cxnLst/>
              <a:rect l="l" t="t" r="r" b="b"/>
              <a:pathLst>
                <a:path w="2336165" h="314960">
                  <a:moveTo>
                    <a:pt x="334009" y="0"/>
                  </a:moveTo>
                  <a:lnTo>
                    <a:pt x="334009" y="314960"/>
                  </a:lnTo>
                </a:path>
                <a:path w="2336165" h="314960">
                  <a:moveTo>
                    <a:pt x="667384" y="0"/>
                  </a:moveTo>
                  <a:lnTo>
                    <a:pt x="667384" y="314960"/>
                  </a:lnTo>
                </a:path>
                <a:path w="2336165" h="314960">
                  <a:moveTo>
                    <a:pt x="1001394" y="0"/>
                  </a:moveTo>
                  <a:lnTo>
                    <a:pt x="1001394" y="314960"/>
                  </a:lnTo>
                </a:path>
                <a:path w="2336165" h="314960">
                  <a:moveTo>
                    <a:pt x="1334769" y="0"/>
                  </a:moveTo>
                  <a:lnTo>
                    <a:pt x="1334769" y="314960"/>
                  </a:lnTo>
                </a:path>
                <a:path w="2336165" h="314960">
                  <a:moveTo>
                    <a:pt x="1668779" y="0"/>
                  </a:moveTo>
                  <a:lnTo>
                    <a:pt x="1668779" y="314960"/>
                  </a:lnTo>
                </a:path>
                <a:path w="2336165" h="314960">
                  <a:moveTo>
                    <a:pt x="2002789" y="0"/>
                  </a:moveTo>
                  <a:lnTo>
                    <a:pt x="2002789" y="314960"/>
                  </a:lnTo>
                </a:path>
                <a:path w="2336165" h="314960">
                  <a:moveTo>
                    <a:pt x="2336165" y="0"/>
                  </a:moveTo>
                  <a:lnTo>
                    <a:pt x="2336165" y="314960"/>
                  </a:lnTo>
                </a:path>
                <a:path w="2336165" h="314960">
                  <a:moveTo>
                    <a:pt x="0" y="0"/>
                  </a:moveTo>
                  <a:lnTo>
                    <a:pt x="0" y="31496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41548" y="3025140"/>
              <a:ext cx="3335654" cy="901065"/>
            </a:xfrm>
            <a:custGeom>
              <a:avLst/>
              <a:gdLst/>
              <a:ahLst/>
              <a:cxnLst/>
              <a:rect l="l" t="t" r="r" b="b"/>
              <a:pathLst>
                <a:path w="3335654" h="901064">
                  <a:moveTo>
                    <a:pt x="0" y="0"/>
                  </a:moveTo>
                  <a:lnTo>
                    <a:pt x="652017" y="900557"/>
                  </a:lnTo>
                </a:path>
                <a:path w="3335654" h="901064">
                  <a:moveTo>
                    <a:pt x="667257" y="0"/>
                  </a:moveTo>
                  <a:lnTo>
                    <a:pt x="652272" y="900557"/>
                  </a:lnTo>
                </a:path>
                <a:path w="3335654" h="901064">
                  <a:moveTo>
                    <a:pt x="1001013" y="0"/>
                  </a:moveTo>
                  <a:lnTo>
                    <a:pt x="652272" y="900557"/>
                  </a:lnTo>
                </a:path>
                <a:path w="3335654" h="901064">
                  <a:moveTo>
                    <a:pt x="1334897" y="0"/>
                  </a:moveTo>
                  <a:lnTo>
                    <a:pt x="652272" y="900557"/>
                  </a:lnTo>
                </a:path>
                <a:path w="3335654" h="901064">
                  <a:moveTo>
                    <a:pt x="2001012" y="0"/>
                  </a:moveTo>
                  <a:lnTo>
                    <a:pt x="652272" y="900557"/>
                  </a:lnTo>
                </a:path>
                <a:path w="3335654" h="901064">
                  <a:moveTo>
                    <a:pt x="2334767" y="0"/>
                  </a:moveTo>
                  <a:lnTo>
                    <a:pt x="652272" y="900557"/>
                  </a:lnTo>
                </a:path>
                <a:path w="3335654" h="901064">
                  <a:moveTo>
                    <a:pt x="2668142" y="0"/>
                  </a:moveTo>
                  <a:lnTo>
                    <a:pt x="652272" y="900557"/>
                  </a:lnTo>
                </a:path>
                <a:path w="3335654" h="901064">
                  <a:moveTo>
                    <a:pt x="333755" y="0"/>
                  </a:moveTo>
                  <a:lnTo>
                    <a:pt x="1182115" y="900557"/>
                  </a:lnTo>
                </a:path>
                <a:path w="3335654" h="901064">
                  <a:moveTo>
                    <a:pt x="1001267" y="0"/>
                  </a:moveTo>
                  <a:lnTo>
                    <a:pt x="1182497" y="900557"/>
                  </a:lnTo>
                </a:path>
                <a:path w="3335654" h="901064">
                  <a:moveTo>
                    <a:pt x="1333500" y="0"/>
                  </a:moveTo>
                  <a:lnTo>
                    <a:pt x="1181100" y="900557"/>
                  </a:lnTo>
                </a:path>
                <a:path w="3335654" h="901064">
                  <a:moveTo>
                    <a:pt x="1666875" y="0"/>
                  </a:moveTo>
                  <a:lnTo>
                    <a:pt x="1181100" y="900557"/>
                  </a:lnTo>
                </a:path>
                <a:path w="3335654" h="901064">
                  <a:moveTo>
                    <a:pt x="2000503" y="0"/>
                  </a:moveTo>
                  <a:lnTo>
                    <a:pt x="1181100" y="900557"/>
                  </a:lnTo>
                </a:path>
                <a:path w="3335654" h="901064">
                  <a:moveTo>
                    <a:pt x="2334514" y="0"/>
                  </a:moveTo>
                  <a:lnTo>
                    <a:pt x="1181100" y="900557"/>
                  </a:lnTo>
                </a:path>
                <a:path w="3335654" h="901064">
                  <a:moveTo>
                    <a:pt x="2666618" y="0"/>
                  </a:moveTo>
                  <a:lnTo>
                    <a:pt x="1181100" y="900557"/>
                  </a:lnTo>
                </a:path>
                <a:path w="3335654" h="901064">
                  <a:moveTo>
                    <a:pt x="3334384" y="0"/>
                  </a:moveTo>
                  <a:lnTo>
                    <a:pt x="1181100" y="900557"/>
                  </a:lnTo>
                </a:path>
                <a:path w="3335654" h="901064">
                  <a:moveTo>
                    <a:pt x="0" y="0"/>
                  </a:moveTo>
                  <a:lnTo>
                    <a:pt x="2875406" y="900557"/>
                  </a:lnTo>
                </a:path>
                <a:path w="3335654" h="901064">
                  <a:moveTo>
                    <a:pt x="1001267" y="0"/>
                  </a:moveTo>
                  <a:lnTo>
                    <a:pt x="2875661" y="900557"/>
                  </a:lnTo>
                </a:path>
                <a:path w="3335654" h="901064">
                  <a:moveTo>
                    <a:pt x="1333500" y="0"/>
                  </a:moveTo>
                  <a:lnTo>
                    <a:pt x="2874264" y="900557"/>
                  </a:lnTo>
                </a:path>
                <a:path w="3335654" h="901064">
                  <a:moveTo>
                    <a:pt x="1333500" y="0"/>
                  </a:moveTo>
                  <a:lnTo>
                    <a:pt x="1709547" y="900557"/>
                  </a:lnTo>
                </a:path>
                <a:path w="3335654" h="901064">
                  <a:moveTo>
                    <a:pt x="2668524" y="0"/>
                  </a:moveTo>
                  <a:lnTo>
                    <a:pt x="1711452" y="900557"/>
                  </a:lnTo>
                </a:path>
                <a:path w="3335654" h="901064">
                  <a:moveTo>
                    <a:pt x="3334384" y="0"/>
                  </a:moveTo>
                  <a:lnTo>
                    <a:pt x="1711452" y="900557"/>
                  </a:lnTo>
                </a:path>
                <a:path w="3335654" h="901064">
                  <a:moveTo>
                    <a:pt x="667512" y="0"/>
                  </a:moveTo>
                  <a:lnTo>
                    <a:pt x="1182115" y="900557"/>
                  </a:lnTo>
                </a:path>
                <a:path w="3335654" h="901064">
                  <a:moveTo>
                    <a:pt x="0" y="0"/>
                  </a:moveTo>
                  <a:lnTo>
                    <a:pt x="1181100" y="900557"/>
                  </a:lnTo>
                </a:path>
                <a:path w="3335654" h="901064">
                  <a:moveTo>
                    <a:pt x="333755" y="0"/>
                  </a:moveTo>
                  <a:lnTo>
                    <a:pt x="652144" y="900557"/>
                  </a:lnTo>
                </a:path>
                <a:path w="3335654" h="901064">
                  <a:moveTo>
                    <a:pt x="652272" y="900557"/>
                  </a:moveTo>
                  <a:lnTo>
                    <a:pt x="3334511" y="0"/>
                  </a:lnTo>
                </a:path>
                <a:path w="3335654" h="901064">
                  <a:moveTo>
                    <a:pt x="1667128" y="0"/>
                  </a:moveTo>
                  <a:lnTo>
                    <a:pt x="652272" y="900557"/>
                  </a:lnTo>
                </a:path>
                <a:path w="3335654" h="901064">
                  <a:moveTo>
                    <a:pt x="1711452" y="900557"/>
                  </a:moveTo>
                  <a:lnTo>
                    <a:pt x="2334641" y="0"/>
                  </a:lnTo>
                </a:path>
                <a:path w="3335654" h="901064">
                  <a:moveTo>
                    <a:pt x="1711452" y="900557"/>
                  </a:moveTo>
                  <a:lnTo>
                    <a:pt x="2000885" y="0"/>
                  </a:lnTo>
                </a:path>
                <a:path w="3335654" h="901064">
                  <a:moveTo>
                    <a:pt x="1711198" y="900557"/>
                  </a:moveTo>
                  <a:lnTo>
                    <a:pt x="1667255" y="0"/>
                  </a:lnTo>
                </a:path>
                <a:path w="3335654" h="901064">
                  <a:moveTo>
                    <a:pt x="1711198" y="900557"/>
                  </a:moveTo>
                  <a:lnTo>
                    <a:pt x="667512" y="0"/>
                  </a:lnTo>
                </a:path>
                <a:path w="3335654" h="901064">
                  <a:moveTo>
                    <a:pt x="1711198" y="900557"/>
                  </a:moveTo>
                  <a:lnTo>
                    <a:pt x="333755" y="0"/>
                  </a:lnTo>
                </a:path>
                <a:path w="3335654" h="901064">
                  <a:moveTo>
                    <a:pt x="1709801" y="900557"/>
                  </a:moveTo>
                  <a:lnTo>
                    <a:pt x="0" y="0"/>
                  </a:lnTo>
                </a:path>
                <a:path w="3335654" h="901064">
                  <a:moveTo>
                    <a:pt x="1709801" y="900557"/>
                  </a:moveTo>
                  <a:lnTo>
                    <a:pt x="999743" y="0"/>
                  </a:lnTo>
                </a:path>
                <a:path w="3335654" h="901064">
                  <a:moveTo>
                    <a:pt x="2874264" y="900557"/>
                  </a:moveTo>
                  <a:lnTo>
                    <a:pt x="333755" y="0"/>
                  </a:lnTo>
                </a:path>
                <a:path w="3335654" h="901064">
                  <a:moveTo>
                    <a:pt x="2875279" y="900557"/>
                  </a:moveTo>
                  <a:lnTo>
                    <a:pt x="667512" y="0"/>
                  </a:lnTo>
                </a:path>
                <a:path w="3335654" h="901064">
                  <a:moveTo>
                    <a:pt x="2874010" y="900557"/>
                  </a:moveTo>
                  <a:lnTo>
                    <a:pt x="1667255" y="0"/>
                  </a:lnTo>
                </a:path>
                <a:path w="3335654" h="901064">
                  <a:moveTo>
                    <a:pt x="2875534" y="900557"/>
                  </a:moveTo>
                  <a:lnTo>
                    <a:pt x="2001012" y="0"/>
                  </a:lnTo>
                </a:path>
                <a:path w="3335654" h="901064">
                  <a:moveTo>
                    <a:pt x="2875661" y="900557"/>
                  </a:moveTo>
                  <a:lnTo>
                    <a:pt x="2334767" y="0"/>
                  </a:lnTo>
                </a:path>
                <a:path w="3335654" h="901064">
                  <a:moveTo>
                    <a:pt x="2873882" y="900557"/>
                  </a:moveTo>
                  <a:lnTo>
                    <a:pt x="2667000" y="0"/>
                  </a:lnTo>
                </a:path>
                <a:path w="3335654" h="901064">
                  <a:moveTo>
                    <a:pt x="2875788" y="900557"/>
                  </a:moveTo>
                  <a:lnTo>
                    <a:pt x="3335654" y="0"/>
                  </a:lnTo>
                </a:path>
              </a:pathLst>
            </a:custGeom>
            <a:ln w="9144">
              <a:solidFill>
                <a:srgbClr val="B7B7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12336" y="3925824"/>
              <a:ext cx="2115185" cy="420370"/>
            </a:xfrm>
            <a:custGeom>
              <a:avLst/>
              <a:gdLst/>
              <a:ahLst/>
              <a:cxnLst/>
              <a:rect l="l" t="t" r="r" b="b"/>
              <a:pathLst>
                <a:path w="2115185" h="420370">
                  <a:moveTo>
                    <a:pt x="0" y="210184"/>
                  </a:moveTo>
                  <a:lnTo>
                    <a:pt x="5587" y="161925"/>
                  </a:lnTo>
                  <a:lnTo>
                    <a:pt x="21336" y="117728"/>
                  </a:lnTo>
                  <a:lnTo>
                    <a:pt x="46100" y="78739"/>
                  </a:lnTo>
                  <a:lnTo>
                    <a:pt x="78739" y="46100"/>
                  </a:lnTo>
                  <a:lnTo>
                    <a:pt x="117728" y="21336"/>
                  </a:lnTo>
                  <a:lnTo>
                    <a:pt x="161925" y="5587"/>
                  </a:lnTo>
                  <a:lnTo>
                    <a:pt x="210185" y="0"/>
                  </a:lnTo>
                  <a:lnTo>
                    <a:pt x="258317" y="5587"/>
                  </a:lnTo>
                  <a:lnTo>
                    <a:pt x="302513" y="21336"/>
                  </a:lnTo>
                  <a:lnTo>
                    <a:pt x="341502" y="46100"/>
                  </a:lnTo>
                  <a:lnTo>
                    <a:pt x="374141" y="78739"/>
                  </a:lnTo>
                  <a:lnTo>
                    <a:pt x="398906" y="117728"/>
                  </a:lnTo>
                  <a:lnTo>
                    <a:pt x="414654" y="161925"/>
                  </a:lnTo>
                  <a:lnTo>
                    <a:pt x="420242" y="210184"/>
                  </a:lnTo>
                  <a:lnTo>
                    <a:pt x="414654" y="258318"/>
                  </a:lnTo>
                  <a:lnTo>
                    <a:pt x="398906" y="302513"/>
                  </a:lnTo>
                  <a:lnTo>
                    <a:pt x="374141" y="341502"/>
                  </a:lnTo>
                  <a:lnTo>
                    <a:pt x="341502" y="374142"/>
                  </a:lnTo>
                  <a:lnTo>
                    <a:pt x="302513" y="398906"/>
                  </a:lnTo>
                  <a:lnTo>
                    <a:pt x="258317" y="414655"/>
                  </a:lnTo>
                  <a:lnTo>
                    <a:pt x="210185" y="420243"/>
                  </a:lnTo>
                  <a:lnTo>
                    <a:pt x="161925" y="414655"/>
                  </a:lnTo>
                  <a:lnTo>
                    <a:pt x="117728" y="398906"/>
                  </a:lnTo>
                  <a:lnTo>
                    <a:pt x="78739" y="374142"/>
                  </a:lnTo>
                  <a:lnTo>
                    <a:pt x="46100" y="341502"/>
                  </a:lnTo>
                  <a:lnTo>
                    <a:pt x="21336" y="302513"/>
                  </a:lnTo>
                  <a:lnTo>
                    <a:pt x="5587" y="258318"/>
                  </a:lnTo>
                  <a:lnTo>
                    <a:pt x="0" y="210184"/>
                  </a:lnTo>
                  <a:close/>
                </a:path>
                <a:path w="2115185" h="420370">
                  <a:moveTo>
                    <a:pt x="1693164" y="210184"/>
                  </a:moveTo>
                  <a:lnTo>
                    <a:pt x="1698752" y="161925"/>
                  </a:lnTo>
                  <a:lnTo>
                    <a:pt x="1714627" y="117728"/>
                  </a:lnTo>
                  <a:lnTo>
                    <a:pt x="1739518" y="78739"/>
                  </a:lnTo>
                  <a:lnTo>
                    <a:pt x="1772158" y="46100"/>
                  </a:lnTo>
                  <a:lnTo>
                    <a:pt x="1811401" y="21336"/>
                  </a:lnTo>
                  <a:lnTo>
                    <a:pt x="1855724" y="5587"/>
                  </a:lnTo>
                  <a:lnTo>
                    <a:pt x="1904111" y="0"/>
                  </a:lnTo>
                  <a:lnTo>
                    <a:pt x="1952498" y="5587"/>
                  </a:lnTo>
                  <a:lnTo>
                    <a:pt x="1996948" y="21336"/>
                  </a:lnTo>
                  <a:lnTo>
                    <a:pt x="2036190" y="46100"/>
                  </a:lnTo>
                  <a:lnTo>
                    <a:pt x="2068829" y="78739"/>
                  </a:lnTo>
                  <a:lnTo>
                    <a:pt x="2093722" y="117728"/>
                  </a:lnTo>
                  <a:lnTo>
                    <a:pt x="2109597" y="161925"/>
                  </a:lnTo>
                  <a:lnTo>
                    <a:pt x="2115185" y="210184"/>
                  </a:lnTo>
                  <a:lnTo>
                    <a:pt x="2109597" y="258318"/>
                  </a:lnTo>
                  <a:lnTo>
                    <a:pt x="2093722" y="302513"/>
                  </a:lnTo>
                  <a:lnTo>
                    <a:pt x="2068829" y="341502"/>
                  </a:lnTo>
                  <a:lnTo>
                    <a:pt x="2036190" y="374142"/>
                  </a:lnTo>
                  <a:lnTo>
                    <a:pt x="1996948" y="398906"/>
                  </a:lnTo>
                  <a:lnTo>
                    <a:pt x="1952498" y="414655"/>
                  </a:lnTo>
                  <a:lnTo>
                    <a:pt x="1904111" y="420243"/>
                  </a:lnTo>
                  <a:lnTo>
                    <a:pt x="1855724" y="414655"/>
                  </a:lnTo>
                  <a:lnTo>
                    <a:pt x="1811401" y="398906"/>
                  </a:lnTo>
                  <a:lnTo>
                    <a:pt x="1772158" y="374142"/>
                  </a:lnTo>
                  <a:lnTo>
                    <a:pt x="1739518" y="341502"/>
                  </a:lnTo>
                  <a:lnTo>
                    <a:pt x="1714627" y="302513"/>
                  </a:lnTo>
                  <a:lnTo>
                    <a:pt x="1698752" y="258318"/>
                  </a:lnTo>
                  <a:lnTo>
                    <a:pt x="1693164" y="210184"/>
                  </a:lnTo>
                  <a:close/>
                </a:path>
                <a:path w="2115185" h="420370">
                  <a:moveTo>
                    <a:pt x="528827" y="210184"/>
                  </a:moveTo>
                  <a:lnTo>
                    <a:pt x="534415" y="161925"/>
                  </a:lnTo>
                  <a:lnTo>
                    <a:pt x="550290" y="117728"/>
                  </a:lnTo>
                  <a:lnTo>
                    <a:pt x="575183" y="78739"/>
                  </a:lnTo>
                  <a:lnTo>
                    <a:pt x="607822" y="46100"/>
                  </a:lnTo>
                  <a:lnTo>
                    <a:pt x="647064" y="21336"/>
                  </a:lnTo>
                  <a:lnTo>
                    <a:pt x="691388" y="5587"/>
                  </a:lnTo>
                  <a:lnTo>
                    <a:pt x="739775" y="0"/>
                  </a:lnTo>
                  <a:lnTo>
                    <a:pt x="788162" y="5587"/>
                  </a:lnTo>
                  <a:lnTo>
                    <a:pt x="832612" y="21336"/>
                  </a:lnTo>
                  <a:lnTo>
                    <a:pt x="871854" y="46100"/>
                  </a:lnTo>
                  <a:lnTo>
                    <a:pt x="904493" y="78739"/>
                  </a:lnTo>
                  <a:lnTo>
                    <a:pt x="929386" y="117728"/>
                  </a:lnTo>
                  <a:lnTo>
                    <a:pt x="945261" y="161925"/>
                  </a:lnTo>
                  <a:lnTo>
                    <a:pt x="950849" y="210184"/>
                  </a:lnTo>
                  <a:lnTo>
                    <a:pt x="945261" y="258318"/>
                  </a:lnTo>
                  <a:lnTo>
                    <a:pt x="929386" y="302513"/>
                  </a:lnTo>
                  <a:lnTo>
                    <a:pt x="904493" y="341502"/>
                  </a:lnTo>
                  <a:lnTo>
                    <a:pt x="871854" y="374142"/>
                  </a:lnTo>
                  <a:lnTo>
                    <a:pt x="832612" y="398906"/>
                  </a:lnTo>
                  <a:lnTo>
                    <a:pt x="788162" y="414655"/>
                  </a:lnTo>
                  <a:lnTo>
                    <a:pt x="739775" y="420243"/>
                  </a:lnTo>
                  <a:lnTo>
                    <a:pt x="691388" y="414655"/>
                  </a:lnTo>
                  <a:lnTo>
                    <a:pt x="647064" y="398906"/>
                  </a:lnTo>
                  <a:lnTo>
                    <a:pt x="607822" y="374142"/>
                  </a:lnTo>
                  <a:lnTo>
                    <a:pt x="575183" y="341502"/>
                  </a:lnTo>
                  <a:lnTo>
                    <a:pt x="550290" y="302513"/>
                  </a:lnTo>
                  <a:lnTo>
                    <a:pt x="534415" y="258318"/>
                  </a:lnTo>
                  <a:lnTo>
                    <a:pt x="528827" y="210184"/>
                  </a:lnTo>
                  <a:close/>
                </a:path>
              </a:pathLst>
            </a:custGeom>
            <a:ln w="914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93820" y="4346448"/>
              <a:ext cx="2223770" cy="315595"/>
            </a:xfrm>
            <a:custGeom>
              <a:avLst/>
              <a:gdLst/>
              <a:ahLst/>
              <a:cxnLst/>
              <a:rect l="l" t="t" r="r" b="b"/>
              <a:pathLst>
                <a:path w="2223770" h="315595">
                  <a:moveTo>
                    <a:pt x="0" y="0"/>
                  </a:moveTo>
                  <a:lnTo>
                    <a:pt x="0" y="315087"/>
                  </a:lnTo>
                </a:path>
                <a:path w="2223770" h="315595">
                  <a:moveTo>
                    <a:pt x="528827" y="0"/>
                  </a:moveTo>
                  <a:lnTo>
                    <a:pt x="528827" y="315087"/>
                  </a:lnTo>
                </a:path>
                <a:path w="2223770" h="315595">
                  <a:moveTo>
                    <a:pt x="1059179" y="0"/>
                  </a:moveTo>
                  <a:lnTo>
                    <a:pt x="1059179" y="315087"/>
                  </a:lnTo>
                </a:path>
                <a:path w="2223770" h="315595">
                  <a:moveTo>
                    <a:pt x="2223516" y="0"/>
                  </a:moveTo>
                  <a:lnTo>
                    <a:pt x="2223516" y="315087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83508" y="3925824"/>
              <a:ext cx="420370" cy="420370"/>
            </a:xfrm>
            <a:custGeom>
              <a:avLst/>
              <a:gdLst/>
              <a:ahLst/>
              <a:cxnLst/>
              <a:rect l="l" t="t" r="r" b="b"/>
              <a:pathLst>
                <a:path w="420370" h="420370">
                  <a:moveTo>
                    <a:pt x="0" y="210184"/>
                  </a:moveTo>
                  <a:lnTo>
                    <a:pt x="5587" y="161925"/>
                  </a:lnTo>
                  <a:lnTo>
                    <a:pt x="21336" y="117728"/>
                  </a:lnTo>
                  <a:lnTo>
                    <a:pt x="46100" y="78739"/>
                  </a:lnTo>
                  <a:lnTo>
                    <a:pt x="78739" y="46100"/>
                  </a:lnTo>
                  <a:lnTo>
                    <a:pt x="117728" y="21336"/>
                  </a:lnTo>
                  <a:lnTo>
                    <a:pt x="161925" y="5587"/>
                  </a:lnTo>
                  <a:lnTo>
                    <a:pt x="210184" y="0"/>
                  </a:lnTo>
                  <a:lnTo>
                    <a:pt x="258317" y="5587"/>
                  </a:lnTo>
                  <a:lnTo>
                    <a:pt x="302513" y="21336"/>
                  </a:lnTo>
                  <a:lnTo>
                    <a:pt x="341502" y="46100"/>
                  </a:lnTo>
                  <a:lnTo>
                    <a:pt x="374141" y="78739"/>
                  </a:lnTo>
                  <a:lnTo>
                    <a:pt x="398906" y="117728"/>
                  </a:lnTo>
                  <a:lnTo>
                    <a:pt x="414654" y="161925"/>
                  </a:lnTo>
                  <a:lnTo>
                    <a:pt x="420242" y="210184"/>
                  </a:lnTo>
                  <a:lnTo>
                    <a:pt x="414654" y="258318"/>
                  </a:lnTo>
                  <a:lnTo>
                    <a:pt x="398906" y="302513"/>
                  </a:lnTo>
                  <a:lnTo>
                    <a:pt x="374141" y="341502"/>
                  </a:lnTo>
                  <a:lnTo>
                    <a:pt x="341502" y="374142"/>
                  </a:lnTo>
                  <a:lnTo>
                    <a:pt x="302513" y="398906"/>
                  </a:lnTo>
                  <a:lnTo>
                    <a:pt x="258317" y="414655"/>
                  </a:lnTo>
                  <a:lnTo>
                    <a:pt x="210184" y="420243"/>
                  </a:lnTo>
                  <a:lnTo>
                    <a:pt x="161925" y="414655"/>
                  </a:lnTo>
                  <a:lnTo>
                    <a:pt x="117728" y="398906"/>
                  </a:lnTo>
                  <a:lnTo>
                    <a:pt x="78739" y="374142"/>
                  </a:lnTo>
                  <a:lnTo>
                    <a:pt x="46100" y="341502"/>
                  </a:lnTo>
                  <a:lnTo>
                    <a:pt x="21336" y="302513"/>
                  </a:lnTo>
                  <a:lnTo>
                    <a:pt x="5587" y="258318"/>
                  </a:lnTo>
                  <a:lnTo>
                    <a:pt x="0" y="210184"/>
                  </a:lnTo>
                  <a:close/>
                </a:path>
              </a:pathLst>
            </a:custGeom>
            <a:ln w="914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172580" y="2773171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...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58205" y="4024071"/>
            <a:ext cx="1536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...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23461" y="4688840"/>
            <a:ext cx="1212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2290" algn="l"/>
                <a:tab pos="1071245" algn="l"/>
              </a:tabLst>
            </a:pPr>
            <a:r>
              <a:rPr sz="1800" spc="-5" dirty="0">
                <a:latin typeface="Arial"/>
                <a:cs typeface="Arial"/>
              </a:rPr>
              <a:t>0	1	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47359" y="468858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175000" y="2476245"/>
            <a:ext cx="242570" cy="26034"/>
          </a:xfrm>
          <a:custGeom>
            <a:avLst/>
            <a:gdLst/>
            <a:ahLst/>
            <a:cxnLst/>
            <a:rect l="l" t="t" r="r" b="b"/>
            <a:pathLst>
              <a:path w="242570" h="26035">
                <a:moveTo>
                  <a:pt x="242315" y="0"/>
                </a:moveTo>
                <a:lnTo>
                  <a:pt x="0" y="0"/>
                </a:lnTo>
                <a:lnTo>
                  <a:pt x="0" y="25907"/>
                </a:lnTo>
                <a:lnTo>
                  <a:pt x="242315" y="25907"/>
                </a:lnTo>
                <a:lnTo>
                  <a:pt x="242315" y="0"/>
                </a:lnTo>
                <a:close/>
              </a:path>
            </a:pathLst>
          </a:custGeom>
          <a:solidFill>
            <a:srgbClr val="D64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45998" y="383794"/>
            <a:ext cx="7108825" cy="2180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C000"/>
                </a:solidFill>
                <a:latin typeface="Arial"/>
                <a:cs typeface="Arial"/>
              </a:rPr>
              <a:t>The softmax</a:t>
            </a:r>
            <a:r>
              <a:rPr sz="3200" spc="-18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C000"/>
                </a:solidFill>
                <a:latin typeface="Arial"/>
                <a:cs typeface="Arial"/>
              </a:rPr>
              <a:t>layer</a:t>
            </a:r>
          </a:p>
          <a:p>
            <a:pPr marL="355600" marR="5080" indent="-342900">
              <a:lnSpc>
                <a:spcPct val="100000"/>
              </a:lnSpc>
              <a:spcBef>
                <a:spcPts val="215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The output </a:t>
            </a:r>
            <a:r>
              <a:rPr sz="1800" b="1" spc="-5" dirty="0">
                <a:latin typeface="Arial"/>
                <a:cs typeface="Arial"/>
              </a:rPr>
              <a:t>from the softmax layer is a set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-20" dirty="0">
                <a:latin typeface="Arial"/>
                <a:cs typeface="Arial"/>
              </a:rPr>
              <a:t>positive </a:t>
            </a:r>
            <a:r>
              <a:rPr sz="1800" b="1" spc="-5" dirty="0">
                <a:latin typeface="Arial"/>
                <a:cs typeface="Arial"/>
              </a:rPr>
              <a:t>numbers  </a:t>
            </a:r>
            <a:r>
              <a:rPr sz="1800" b="1" dirty="0">
                <a:latin typeface="Arial"/>
                <a:cs typeface="Arial"/>
              </a:rPr>
              <a:t>which </a:t>
            </a:r>
            <a:r>
              <a:rPr sz="1800" b="1" spc="-5" dirty="0">
                <a:latin typeface="Arial"/>
                <a:cs typeface="Arial"/>
              </a:rPr>
              <a:t>sum </a:t>
            </a:r>
            <a:r>
              <a:rPr sz="1800" b="1" dirty="0">
                <a:latin typeface="Arial"/>
                <a:cs typeface="Arial"/>
              </a:rPr>
              <a:t>up to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1.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50" dirty="0">
              <a:latin typeface="Arial"/>
              <a:cs typeface="Arial"/>
            </a:endParaRPr>
          </a:p>
          <a:p>
            <a:pPr marL="3811904">
              <a:lnSpc>
                <a:spcPct val="100000"/>
              </a:lnSpc>
            </a:pPr>
            <a:r>
              <a:rPr sz="1800" spc="-5" dirty="0">
                <a:solidFill>
                  <a:srgbClr val="C00000"/>
                </a:solidFill>
                <a:latin typeface="Arial"/>
                <a:cs typeface="Arial"/>
              </a:rPr>
              <a:t>784</a:t>
            </a:r>
            <a:r>
              <a:rPr sz="1800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C00000"/>
                </a:solidFill>
                <a:latin typeface="Arial"/>
                <a:cs typeface="Arial"/>
              </a:rPr>
              <a:t>pixels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462015" y="2410967"/>
            <a:ext cx="1191895" cy="123189"/>
          </a:xfrm>
          <a:custGeom>
            <a:avLst/>
            <a:gdLst/>
            <a:ahLst/>
            <a:cxnLst/>
            <a:rect l="l" t="t" r="r" b="b"/>
            <a:pathLst>
              <a:path w="1191895" h="123189">
                <a:moveTo>
                  <a:pt x="1191640" y="123062"/>
                </a:moveTo>
                <a:lnTo>
                  <a:pt x="1136650" y="115189"/>
                </a:lnTo>
                <a:lnTo>
                  <a:pt x="1082166" y="107569"/>
                </a:lnTo>
                <a:lnTo>
                  <a:pt x="1028064" y="100330"/>
                </a:lnTo>
                <a:lnTo>
                  <a:pt x="974344" y="93218"/>
                </a:lnTo>
                <a:lnTo>
                  <a:pt x="921131" y="86360"/>
                </a:lnTo>
                <a:lnTo>
                  <a:pt x="868299" y="79756"/>
                </a:lnTo>
                <a:lnTo>
                  <a:pt x="815848" y="73406"/>
                </a:lnTo>
                <a:lnTo>
                  <a:pt x="763905" y="67310"/>
                </a:lnTo>
                <a:lnTo>
                  <a:pt x="712470" y="61468"/>
                </a:lnTo>
                <a:lnTo>
                  <a:pt x="661416" y="55753"/>
                </a:lnTo>
                <a:lnTo>
                  <a:pt x="610870" y="50419"/>
                </a:lnTo>
                <a:lnTo>
                  <a:pt x="560832" y="45212"/>
                </a:lnTo>
                <a:lnTo>
                  <a:pt x="511175" y="40259"/>
                </a:lnTo>
                <a:lnTo>
                  <a:pt x="462153" y="35560"/>
                </a:lnTo>
                <a:lnTo>
                  <a:pt x="413512" y="31115"/>
                </a:lnTo>
                <a:lnTo>
                  <a:pt x="365506" y="26797"/>
                </a:lnTo>
                <a:lnTo>
                  <a:pt x="317881" y="22733"/>
                </a:lnTo>
                <a:lnTo>
                  <a:pt x="270891" y="18796"/>
                </a:lnTo>
                <a:lnTo>
                  <a:pt x="224282" y="15240"/>
                </a:lnTo>
                <a:lnTo>
                  <a:pt x="178308" y="11811"/>
                </a:lnTo>
                <a:lnTo>
                  <a:pt x="132969" y="8509"/>
                </a:lnTo>
                <a:lnTo>
                  <a:pt x="88011" y="5461"/>
                </a:lnTo>
                <a:lnTo>
                  <a:pt x="43687" y="2667"/>
                </a:lnTo>
                <a:lnTo>
                  <a:pt x="0" y="0"/>
                </a:lnTo>
              </a:path>
            </a:pathLst>
          </a:custGeom>
          <a:ln w="9144">
            <a:solidFill>
              <a:srgbClr val="D644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240942" y="4793995"/>
            <a:ext cx="1538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CC0000"/>
                </a:solidFill>
                <a:latin typeface="Arial"/>
                <a:cs typeface="Arial"/>
              </a:rPr>
              <a:t>neuron</a:t>
            </a:r>
            <a:r>
              <a:rPr sz="1800" spc="-13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"/>
                <a:cs typeface="Arial"/>
              </a:rPr>
              <a:t>outputs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482595" y="5175503"/>
            <a:ext cx="438784" cy="429895"/>
          </a:xfrm>
          <a:custGeom>
            <a:avLst/>
            <a:gdLst/>
            <a:ahLst/>
            <a:cxnLst/>
            <a:rect l="l" t="t" r="r" b="b"/>
            <a:pathLst>
              <a:path w="438785" h="429895">
                <a:moveTo>
                  <a:pt x="438404" y="429615"/>
                </a:moveTo>
                <a:lnTo>
                  <a:pt x="390398" y="413219"/>
                </a:lnTo>
                <a:lnTo>
                  <a:pt x="344297" y="393573"/>
                </a:lnTo>
                <a:lnTo>
                  <a:pt x="300355" y="370713"/>
                </a:lnTo>
                <a:lnTo>
                  <a:pt x="258572" y="344805"/>
                </a:lnTo>
                <a:lnTo>
                  <a:pt x="219202" y="316103"/>
                </a:lnTo>
                <a:lnTo>
                  <a:pt x="182245" y="284607"/>
                </a:lnTo>
                <a:lnTo>
                  <a:pt x="147701" y="250571"/>
                </a:lnTo>
                <a:lnTo>
                  <a:pt x="115951" y="214122"/>
                </a:lnTo>
                <a:lnTo>
                  <a:pt x="86868" y="175387"/>
                </a:lnTo>
                <a:lnTo>
                  <a:pt x="60579" y="134366"/>
                </a:lnTo>
                <a:lnTo>
                  <a:pt x="37337" y="91440"/>
                </a:lnTo>
                <a:lnTo>
                  <a:pt x="17018" y="46609"/>
                </a:lnTo>
                <a:lnTo>
                  <a:pt x="0" y="0"/>
                </a:lnTo>
              </a:path>
            </a:pathLst>
          </a:custGeom>
          <a:ln w="9144">
            <a:solidFill>
              <a:srgbClr val="D644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623053" y="5801105"/>
            <a:ext cx="1382395" cy="0"/>
          </a:xfrm>
          <a:custGeom>
            <a:avLst/>
            <a:gdLst/>
            <a:ahLst/>
            <a:cxnLst/>
            <a:rect l="l" t="t" r="r" b="b"/>
            <a:pathLst>
              <a:path w="1382395">
                <a:moveTo>
                  <a:pt x="0" y="0"/>
                </a:moveTo>
                <a:lnTo>
                  <a:pt x="1382141" y="0"/>
                </a:lnTo>
              </a:path>
            </a:pathLst>
          </a:custGeom>
          <a:ln w="137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911475" y="5479491"/>
            <a:ext cx="163639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Times New Roman"/>
                <a:cs typeface="Times New Roman"/>
              </a:rPr>
              <a:t>s</a:t>
            </a:r>
            <a:r>
              <a:rPr sz="2200" spc="10" dirty="0">
                <a:latin typeface="Times New Roman"/>
                <a:cs typeface="Times New Roman"/>
              </a:rPr>
              <a:t>o</a:t>
            </a:r>
            <a:r>
              <a:rPr sz="2200" spc="5" dirty="0">
                <a:latin typeface="Times New Roman"/>
                <a:cs typeface="Times New Roman"/>
              </a:rPr>
              <a:t>ft</a:t>
            </a:r>
            <a:r>
              <a:rPr sz="2200" spc="-5" dirty="0">
                <a:latin typeface="Times New Roman"/>
                <a:cs typeface="Times New Roman"/>
              </a:rPr>
              <a:t>max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4350" baseline="-1915" dirty="0">
                <a:latin typeface="Symbol"/>
                <a:cs typeface="Symbol"/>
              </a:rPr>
              <a:t></a:t>
            </a:r>
            <a:r>
              <a:rPr sz="2200" i="1" spc="-160" dirty="0">
                <a:latin typeface="Times New Roman"/>
                <a:cs typeface="Times New Roman"/>
              </a:rPr>
              <a:t>z</a:t>
            </a:r>
            <a:r>
              <a:rPr sz="1950" i="1" spc="-7" baseline="-27777" dirty="0">
                <a:latin typeface="Times New Roman"/>
                <a:cs typeface="Times New Roman"/>
              </a:rPr>
              <a:t>i</a:t>
            </a:r>
            <a:r>
              <a:rPr sz="1950" i="1" spc="7" baseline="-27777" dirty="0">
                <a:latin typeface="Times New Roman"/>
                <a:cs typeface="Times New Roman"/>
              </a:rPr>
              <a:t> </a:t>
            </a:r>
            <a:r>
              <a:rPr sz="4350" spc="44" baseline="-1915" dirty="0">
                <a:latin typeface="Symbol"/>
                <a:cs typeface="Symbol"/>
              </a:rPr>
              <a:t></a:t>
            </a:r>
            <a:r>
              <a:rPr sz="2200" spc="-5" dirty="0">
                <a:latin typeface="Symbol"/>
                <a:cs typeface="Symbol"/>
              </a:rPr>
              <a:t>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2" name="object 32"/>
          <p:cNvSpPr txBox="1"/>
          <p:nvPr/>
        </p:nvSpPr>
        <p:spPr>
          <a:xfrm>
            <a:off x="5788914" y="6001613"/>
            <a:ext cx="717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5" dirty="0">
                <a:latin typeface="Times New Roman"/>
                <a:cs typeface="Times New Roman"/>
              </a:rPr>
              <a:t>j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82336" y="6046114"/>
            <a:ext cx="717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5" dirty="0">
                <a:latin typeface="Times New Roman"/>
                <a:cs typeface="Times New Roman"/>
              </a:rPr>
              <a:t>j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41494" y="5281980"/>
            <a:ext cx="96456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latin typeface="Times New Roman"/>
                <a:cs typeface="Times New Roman"/>
              </a:rPr>
              <a:t>e</a:t>
            </a:r>
            <a:r>
              <a:rPr sz="2200" spc="10" dirty="0">
                <a:latin typeface="Times New Roman"/>
                <a:cs typeface="Times New Roman"/>
              </a:rPr>
              <a:t>x</a:t>
            </a:r>
            <a:r>
              <a:rPr sz="2200" spc="250" dirty="0">
                <a:latin typeface="Times New Roman"/>
                <a:cs typeface="Times New Roman"/>
              </a:rPr>
              <a:t>p</a:t>
            </a:r>
            <a:r>
              <a:rPr sz="4350" spc="-15" baseline="-1915" dirty="0">
                <a:latin typeface="Symbol"/>
                <a:cs typeface="Symbol"/>
              </a:rPr>
              <a:t></a:t>
            </a:r>
            <a:r>
              <a:rPr sz="2200" i="1" spc="-10" dirty="0">
                <a:latin typeface="Times New Roman"/>
                <a:cs typeface="Times New Roman"/>
              </a:rPr>
              <a:t>z</a:t>
            </a:r>
            <a:r>
              <a:rPr sz="1950" i="1" spc="-7" baseline="-21367" dirty="0">
                <a:latin typeface="Times New Roman"/>
                <a:cs typeface="Times New Roman"/>
              </a:rPr>
              <a:t>i</a:t>
            </a:r>
            <a:r>
              <a:rPr sz="1950" i="1" spc="120" baseline="-21367" dirty="0">
                <a:latin typeface="Times New Roman"/>
                <a:cs typeface="Times New Roman"/>
              </a:rPr>
              <a:t> </a:t>
            </a:r>
            <a:r>
              <a:rPr sz="4350" baseline="-1915" dirty="0">
                <a:latin typeface="Symbol"/>
                <a:cs typeface="Symbol"/>
              </a:rPr>
              <a:t></a:t>
            </a:r>
            <a:endParaRPr sz="4350" baseline="-1915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625466" y="5711748"/>
            <a:ext cx="328930" cy="535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50" spc="-5" dirty="0">
                <a:latin typeface="Symbol"/>
                <a:cs typeface="Symbol"/>
              </a:rPr>
              <a:t>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071998" y="5809284"/>
            <a:ext cx="6877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5785" algn="l"/>
              </a:tabLst>
            </a:pPr>
            <a:r>
              <a:rPr sz="2200" spc="-10" dirty="0">
                <a:latin typeface="Times New Roman"/>
                <a:cs typeface="Times New Roman"/>
              </a:rPr>
              <a:t>e</a:t>
            </a:r>
            <a:r>
              <a:rPr sz="2200" spc="10" dirty="0">
                <a:latin typeface="Times New Roman"/>
                <a:cs typeface="Times New Roman"/>
              </a:rPr>
              <a:t>x</a:t>
            </a:r>
            <a:r>
              <a:rPr sz="2200" spc="-5" dirty="0">
                <a:latin typeface="Times New Roman"/>
                <a:cs typeface="Times New Roman"/>
              </a:rPr>
              <a:t>p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i="1" spc="-5" dirty="0">
                <a:latin typeface="Times New Roman"/>
                <a:cs typeface="Times New Roman"/>
              </a:rPr>
              <a:t>z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509386" y="5669076"/>
            <a:ext cx="554990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</a:tabLst>
            </a:pPr>
            <a:r>
              <a:rPr sz="3500" dirty="0">
                <a:latin typeface="Symbol"/>
                <a:cs typeface="Symbol"/>
              </a:rPr>
              <a:t></a:t>
            </a:r>
            <a:r>
              <a:rPr sz="3500" dirty="0">
                <a:latin typeface="Times New Roman"/>
                <a:cs typeface="Times New Roman"/>
              </a:rPr>
              <a:t>	</a:t>
            </a:r>
            <a:r>
              <a:rPr sz="3500" dirty="0">
                <a:latin typeface="Symbol"/>
                <a:cs typeface="Symbol"/>
              </a:rPr>
              <a:t></a:t>
            </a:r>
            <a:endParaRPr sz="35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4570" y="407034"/>
            <a:ext cx="408177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FFC000"/>
                </a:solidFill>
              </a:rPr>
              <a:t>Softmax on one</a:t>
            </a:r>
            <a:r>
              <a:rPr spc="-114" dirty="0">
                <a:solidFill>
                  <a:srgbClr val="FFC000"/>
                </a:solidFill>
              </a:rPr>
              <a:t> </a:t>
            </a:r>
            <a:r>
              <a:rPr spc="-5" dirty="0">
                <a:solidFill>
                  <a:srgbClr val="FFC000"/>
                </a:solidFill>
              </a:rPr>
              <a:t>image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998" y="1146175"/>
            <a:ext cx="6565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compact representation for “softmaxing” </a:t>
            </a:r>
            <a:r>
              <a:rPr sz="1800" b="1" dirty="0">
                <a:latin typeface="Arial"/>
                <a:cs typeface="Arial"/>
              </a:rPr>
              <a:t>one input</a:t>
            </a:r>
            <a:r>
              <a:rPr sz="1800" b="1" spc="-17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3182" y="2994736"/>
            <a:ext cx="4902835" cy="673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50" i="1" dirty="0">
                <a:latin typeface="Times New Roman"/>
                <a:cs typeface="Times New Roman"/>
              </a:rPr>
              <a:t>P </a:t>
            </a:r>
            <a:r>
              <a:rPr sz="4250" dirty="0">
                <a:latin typeface="Symbol"/>
                <a:cs typeface="Symbol"/>
              </a:rPr>
              <a:t></a:t>
            </a:r>
            <a:r>
              <a:rPr sz="4250" dirty="0">
                <a:latin typeface="Times New Roman"/>
                <a:cs typeface="Times New Roman"/>
              </a:rPr>
              <a:t> softmax( </a:t>
            </a:r>
            <a:r>
              <a:rPr sz="4250" i="1" dirty="0">
                <a:latin typeface="Times New Roman"/>
                <a:cs typeface="Times New Roman"/>
              </a:rPr>
              <a:t>x </a:t>
            </a:r>
            <a:r>
              <a:rPr sz="4250" spc="30" dirty="0">
                <a:latin typeface="Symbol"/>
                <a:cs typeface="Symbol"/>
              </a:rPr>
              <a:t></a:t>
            </a:r>
            <a:r>
              <a:rPr sz="4250" i="1" spc="30" dirty="0">
                <a:latin typeface="Times New Roman"/>
                <a:cs typeface="Times New Roman"/>
              </a:rPr>
              <a:t>W </a:t>
            </a:r>
            <a:r>
              <a:rPr sz="4250" dirty="0">
                <a:latin typeface="Symbol"/>
                <a:cs typeface="Symbol"/>
              </a:rPr>
              <a:t></a:t>
            </a:r>
            <a:r>
              <a:rPr sz="4250" spc="-615" dirty="0">
                <a:latin typeface="Times New Roman"/>
                <a:cs typeface="Times New Roman"/>
              </a:rPr>
              <a:t> </a:t>
            </a:r>
            <a:r>
              <a:rPr sz="4250" i="1" spc="10" dirty="0">
                <a:latin typeface="Times New Roman"/>
                <a:cs typeface="Times New Roman"/>
              </a:rPr>
              <a:t>b</a:t>
            </a:r>
            <a:r>
              <a:rPr sz="4250" spc="10" dirty="0">
                <a:latin typeface="Times New Roman"/>
                <a:cs typeface="Times New Roman"/>
              </a:rPr>
              <a:t>)</a:t>
            </a:r>
            <a:endParaRPr sz="425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936485"/>
              </p:ext>
            </p:extLst>
          </p:nvPr>
        </p:nvGraphicFramePr>
        <p:xfrm>
          <a:off x="1649095" y="1876616"/>
          <a:ext cx="6176644" cy="6428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7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433">
                <a:tc>
                  <a:txBody>
                    <a:bodyPr/>
                    <a:lstStyle/>
                    <a:p>
                      <a:pPr marL="127000">
                        <a:lnSpc>
                          <a:spcPts val="1989"/>
                        </a:lnSpc>
                      </a:pPr>
                      <a:r>
                        <a:rPr sz="1800" spc="-5" dirty="0">
                          <a:solidFill>
                            <a:srgbClr val="D64437"/>
                          </a:solidFill>
                          <a:latin typeface="Arial"/>
                          <a:cs typeface="Arial"/>
                        </a:rPr>
                        <a:t>“Probabilities”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63220" algn="r">
                        <a:lnSpc>
                          <a:spcPts val="1989"/>
                        </a:lnSpc>
                      </a:pPr>
                      <a:r>
                        <a:rPr sz="1800" dirty="0">
                          <a:solidFill>
                            <a:srgbClr val="D64437"/>
                          </a:solidFill>
                          <a:latin typeface="Arial"/>
                          <a:cs typeface="Arial"/>
                        </a:rPr>
                        <a:t>Ima</a:t>
                      </a:r>
                      <a:r>
                        <a:rPr sz="1800" spc="-10" dirty="0">
                          <a:solidFill>
                            <a:srgbClr val="D64437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1800" dirty="0">
                          <a:solidFill>
                            <a:srgbClr val="D64437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0" algn="ctr">
                        <a:lnSpc>
                          <a:spcPts val="1989"/>
                        </a:lnSpc>
                      </a:pPr>
                      <a:r>
                        <a:rPr sz="1800" spc="-15" dirty="0">
                          <a:solidFill>
                            <a:srgbClr val="D64437"/>
                          </a:solidFill>
                          <a:latin typeface="Arial"/>
                          <a:cs typeface="Arial"/>
                        </a:rPr>
                        <a:t>Weights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9"/>
                        </a:lnSpc>
                      </a:pPr>
                      <a:r>
                        <a:rPr sz="1800" spc="-5" dirty="0">
                          <a:solidFill>
                            <a:srgbClr val="D64437"/>
                          </a:solidFill>
                          <a:latin typeface="Arial"/>
                          <a:cs typeface="Arial"/>
                        </a:rPr>
                        <a:t>Biases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33">
                <a:tc>
                  <a:txBody>
                    <a:bodyPr/>
                    <a:lstStyle/>
                    <a:p>
                      <a:pPr marL="127000">
                        <a:lnSpc>
                          <a:spcPts val="2080"/>
                        </a:lnSpc>
                        <a:spcBef>
                          <a:spcPts val="350"/>
                        </a:spcBef>
                      </a:pPr>
                      <a:r>
                        <a:rPr sz="1800" spc="100" dirty="0">
                          <a:solidFill>
                            <a:srgbClr val="D64437"/>
                          </a:solidFill>
                          <a:latin typeface="Arial"/>
                          <a:cs typeface="Arial"/>
                        </a:rPr>
                        <a:t>P[1,10]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4450" marB="0"/>
                </a:tc>
                <a:tc>
                  <a:txBody>
                    <a:bodyPr/>
                    <a:lstStyle/>
                    <a:p>
                      <a:pPr marR="300990" algn="r">
                        <a:lnSpc>
                          <a:spcPts val="2080"/>
                        </a:lnSpc>
                        <a:spcBef>
                          <a:spcPts val="350"/>
                        </a:spcBef>
                      </a:pPr>
                      <a:r>
                        <a:rPr sz="1800" spc="120" dirty="0">
                          <a:solidFill>
                            <a:srgbClr val="D64437"/>
                          </a:solidFill>
                          <a:latin typeface="Arial"/>
                          <a:cs typeface="Arial"/>
                        </a:rPr>
                        <a:t>[</a:t>
                      </a:r>
                      <a:r>
                        <a:rPr sz="1800" spc="114" dirty="0">
                          <a:solidFill>
                            <a:srgbClr val="D64437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800" spc="120" dirty="0">
                          <a:solidFill>
                            <a:srgbClr val="D64437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1800" spc="90" dirty="0">
                          <a:solidFill>
                            <a:srgbClr val="D64437"/>
                          </a:solidFill>
                          <a:latin typeface="Arial"/>
                          <a:cs typeface="Arial"/>
                        </a:rPr>
                        <a:t>784]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4450" marB="0"/>
                </a:tc>
                <a:tc>
                  <a:txBody>
                    <a:bodyPr/>
                    <a:lstStyle/>
                    <a:p>
                      <a:pPr marL="187960" algn="ctr">
                        <a:lnSpc>
                          <a:spcPts val="2080"/>
                        </a:lnSpc>
                        <a:spcBef>
                          <a:spcPts val="350"/>
                        </a:spcBef>
                      </a:pPr>
                      <a:r>
                        <a:rPr sz="1800" spc="45" dirty="0">
                          <a:solidFill>
                            <a:srgbClr val="D64437"/>
                          </a:solidFill>
                          <a:latin typeface="Arial"/>
                          <a:cs typeface="Arial"/>
                        </a:rPr>
                        <a:t>W[784,10]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4450" marB="0"/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2080"/>
                        </a:lnSpc>
                        <a:spcBef>
                          <a:spcPts val="350"/>
                        </a:spcBef>
                      </a:pPr>
                      <a:r>
                        <a:rPr sz="1800" spc="85" dirty="0">
                          <a:solidFill>
                            <a:srgbClr val="D64437"/>
                          </a:solidFill>
                          <a:latin typeface="Arial"/>
                          <a:cs typeface="Arial"/>
                        </a:rPr>
                        <a:t>b[</a:t>
                      </a:r>
                      <a:r>
                        <a:rPr sz="1800" spc="-335" dirty="0">
                          <a:solidFill>
                            <a:srgbClr val="D6443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335" dirty="0">
                          <a:solidFill>
                            <a:srgbClr val="D64437"/>
                          </a:solidFill>
                          <a:latin typeface="Arial"/>
                          <a:cs typeface="Arial"/>
                        </a:rPr>
                        <a:t>1,  </a:t>
                      </a:r>
                      <a:r>
                        <a:rPr sz="1800" spc="80" dirty="0">
                          <a:solidFill>
                            <a:srgbClr val="D64437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1800" spc="-330" dirty="0">
                          <a:solidFill>
                            <a:srgbClr val="D6443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D64437"/>
                          </a:solidFill>
                          <a:latin typeface="Arial"/>
                          <a:cs typeface="Arial"/>
                        </a:rPr>
                        <a:t>]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44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723891" y="4289805"/>
            <a:ext cx="1475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D64437"/>
                </a:solidFill>
                <a:latin typeface="Arial"/>
                <a:cs typeface="Arial"/>
              </a:rPr>
              <a:t>matrix</a:t>
            </a:r>
            <a:r>
              <a:rPr sz="1800" spc="-140" dirty="0">
                <a:solidFill>
                  <a:srgbClr val="D6443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D64437"/>
                </a:solidFill>
                <a:latin typeface="Arial"/>
                <a:cs typeface="Arial"/>
              </a:rPr>
              <a:t>multiply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0758" y="4217365"/>
            <a:ext cx="11544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D64437"/>
                </a:solidFill>
                <a:latin typeface="Arial"/>
                <a:cs typeface="Arial"/>
              </a:rPr>
              <a:t>applied</a:t>
            </a:r>
            <a:r>
              <a:rPr sz="1800" spc="-105" dirty="0">
                <a:solidFill>
                  <a:srgbClr val="D64437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D64437"/>
                </a:solidFill>
                <a:latin typeface="Arial"/>
                <a:cs typeface="Arial"/>
              </a:rPr>
              <a:t>on</a:t>
            </a:r>
            <a:endParaRPr sz="1800">
              <a:latin typeface="Arial"/>
              <a:cs typeface="Arial"/>
            </a:endParaRPr>
          </a:p>
          <a:p>
            <a:pPr marL="8255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D64437"/>
                </a:solidFill>
                <a:latin typeface="Arial"/>
                <a:cs typeface="Arial"/>
              </a:rPr>
              <a:t>each</a:t>
            </a:r>
            <a:r>
              <a:rPr sz="1800" spc="-114" dirty="0">
                <a:solidFill>
                  <a:srgbClr val="D6443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D64437"/>
                </a:solidFill>
                <a:latin typeface="Arial"/>
                <a:cs typeface="Arial"/>
              </a:rPr>
              <a:t>entry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64079" y="2577083"/>
            <a:ext cx="472440" cy="579120"/>
          </a:xfrm>
          <a:custGeom>
            <a:avLst/>
            <a:gdLst/>
            <a:ahLst/>
            <a:cxnLst/>
            <a:rect l="l" t="t" r="r" b="b"/>
            <a:pathLst>
              <a:path w="472439" h="579119">
                <a:moveTo>
                  <a:pt x="472186" y="578612"/>
                </a:moveTo>
                <a:lnTo>
                  <a:pt x="430402" y="551306"/>
                </a:lnTo>
                <a:lnTo>
                  <a:pt x="389636" y="521842"/>
                </a:lnTo>
                <a:lnTo>
                  <a:pt x="350265" y="490474"/>
                </a:lnTo>
                <a:lnTo>
                  <a:pt x="312038" y="457200"/>
                </a:lnTo>
                <a:lnTo>
                  <a:pt x="275208" y="422020"/>
                </a:lnTo>
                <a:lnTo>
                  <a:pt x="239902" y="385317"/>
                </a:lnTo>
                <a:lnTo>
                  <a:pt x="206120" y="347090"/>
                </a:lnTo>
                <a:lnTo>
                  <a:pt x="173862" y="307466"/>
                </a:lnTo>
                <a:lnTo>
                  <a:pt x="143382" y="266445"/>
                </a:lnTo>
                <a:lnTo>
                  <a:pt x="114681" y="224408"/>
                </a:lnTo>
                <a:lnTo>
                  <a:pt x="87756" y="181101"/>
                </a:lnTo>
                <a:lnTo>
                  <a:pt x="62737" y="137032"/>
                </a:lnTo>
                <a:lnTo>
                  <a:pt x="39750" y="91948"/>
                </a:lnTo>
                <a:lnTo>
                  <a:pt x="18795" y="46354"/>
                </a:lnTo>
                <a:lnTo>
                  <a:pt x="0" y="0"/>
                </a:lnTo>
              </a:path>
            </a:pathLst>
          </a:custGeom>
          <a:ln w="9144">
            <a:solidFill>
              <a:srgbClr val="D644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72811" y="2505455"/>
            <a:ext cx="472440" cy="579120"/>
          </a:xfrm>
          <a:custGeom>
            <a:avLst/>
            <a:gdLst/>
            <a:ahLst/>
            <a:cxnLst/>
            <a:rect l="l" t="t" r="r" b="b"/>
            <a:pathLst>
              <a:path w="472439" h="579119">
                <a:moveTo>
                  <a:pt x="472313" y="578612"/>
                </a:moveTo>
                <a:lnTo>
                  <a:pt x="430529" y="551307"/>
                </a:lnTo>
                <a:lnTo>
                  <a:pt x="389763" y="521843"/>
                </a:lnTo>
                <a:lnTo>
                  <a:pt x="350392" y="490474"/>
                </a:lnTo>
                <a:lnTo>
                  <a:pt x="312165" y="457200"/>
                </a:lnTo>
                <a:lnTo>
                  <a:pt x="275336" y="422021"/>
                </a:lnTo>
                <a:lnTo>
                  <a:pt x="240029" y="385318"/>
                </a:lnTo>
                <a:lnTo>
                  <a:pt x="206248" y="347091"/>
                </a:lnTo>
                <a:lnTo>
                  <a:pt x="173989" y="307467"/>
                </a:lnTo>
                <a:lnTo>
                  <a:pt x="143510" y="266446"/>
                </a:lnTo>
                <a:lnTo>
                  <a:pt x="114680" y="224409"/>
                </a:lnTo>
                <a:lnTo>
                  <a:pt x="87757" y="181102"/>
                </a:lnTo>
                <a:lnTo>
                  <a:pt x="62737" y="137033"/>
                </a:lnTo>
                <a:lnTo>
                  <a:pt x="39750" y="91948"/>
                </a:lnTo>
                <a:lnTo>
                  <a:pt x="18796" y="46355"/>
                </a:lnTo>
                <a:lnTo>
                  <a:pt x="0" y="0"/>
                </a:lnTo>
              </a:path>
            </a:pathLst>
          </a:custGeom>
          <a:ln w="9144">
            <a:solidFill>
              <a:srgbClr val="D644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36920" y="2577083"/>
            <a:ext cx="472440" cy="579120"/>
          </a:xfrm>
          <a:custGeom>
            <a:avLst/>
            <a:gdLst/>
            <a:ahLst/>
            <a:cxnLst/>
            <a:rect l="l" t="t" r="r" b="b"/>
            <a:pathLst>
              <a:path w="472439" h="579119">
                <a:moveTo>
                  <a:pt x="472313" y="578612"/>
                </a:moveTo>
                <a:lnTo>
                  <a:pt x="430529" y="551306"/>
                </a:lnTo>
                <a:lnTo>
                  <a:pt x="389763" y="521842"/>
                </a:lnTo>
                <a:lnTo>
                  <a:pt x="350392" y="490474"/>
                </a:lnTo>
                <a:lnTo>
                  <a:pt x="312165" y="457200"/>
                </a:lnTo>
                <a:lnTo>
                  <a:pt x="275335" y="422020"/>
                </a:lnTo>
                <a:lnTo>
                  <a:pt x="240029" y="385317"/>
                </a:lnTo>
                <a:lnTo>
                  <a:pt x="206247" y="347090"/>
                </a:lnTo>
                <a:lnTo>
                  <a:pt x="173989" y="307466"/>
                </a:lnTo>
                <a:lnTo>
                  <a:pt x="143509" y="266445"/>
                </a:lnTo>
                <a:lnTo>
                  <a:pt x="114680" y="224408"/>
                </a:lnTo>
                <a:lnTo>
                  <a:pt x="87756" y="181101"/>
                </a:lnTo>
                <a:lnTo>
                  <a:pt x="62737" y="137032"/>
                </a:lnTo>
                <a:lnTo>
                  <a:pt x="39750" y="91948"/>
                </a:lnTo>
                <a:lnTo>
                  <a:pt x="18795" y="46354"/>
                </a:lnTo>
                <a:lnTo>
                  <a:pt x="0" y="0"/>
                </a:lnTo>
              </a:path>
            </a:pathLst>
          </a:custGeom>
          <a:ln w="9144">
            <a:solidFill>
              <a:srgbClr val="D644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75931" y="2636520"/>
            <a:ext cx="109855" cy="467995"/>
          </a:xfrm>
          <a:custGeom>
            <a:avLst/>
            <a:gdLst/>
            <a:ahLst/>
            <a:cxnLst/>
            <a:rect l="l" t="t" r="r" b="b"/>
            <a:pathLst>
              <a:path w="109854" h="467994">
                <a:moveTo>
                  <a:pt x="109727" y="0"/>
                </a:moveTo>
                <a:lnTo>
                  <a:pt x="106425" y="48894"/>
                </a:lnTo>
                <a:lnTo>
                  <a:pt x="101092" y="97535"/>
                </a:lnTo>
                <a:lnTo>
                  <a:pt x="93979" y="145795"/>
                </a:lnTo>
                <a:lnTo>
                  <a:pt x="85090" y="193675"/>
                </a:lnTo>
                <a:lnTo>
                  <a:pt x="74422" y="240918"/>
                </a:lnTo>
                <a:lnTo>
                  <a:pt x="62357" y="287654"/>
                </a:lnTo>
                <a:lnTo>
                  <a:pt x="48641" y="333755"/>
                </a:lnTo>
                <a:lnTo>
                  <a:pt x="33654" y="379094"/>
                </a:lnTo>
                <a:lnTo>
                  <a:pt x="17399" y="423671"/>
                </a:lnTo>
                <a:lnTo>
                  <a:pt x="0" y="467487"/>
                </a:lnTo>
              </a:path>
            </a:pathLst>
          </a:custGeom>
          <a:ln w="9144">
            <a:solidFill>
              <a:srgbClr val="D644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637276" y="3645408"/>
            <a:ext cx="118745" cy="524510"/>
          </a:xfrm>
          <a:custGeom>
            <a:avLst/>
            <a:gdLst/>
            <a:ahLst/>
            <a:cxnLst/>
            <a:rect l="l" t="t" r="r" b="b"/>
            <a:pathLst>
              <a:path w="118745" h="524510">
                <a:moveTo>
                  <a:pt x="118618" y="0"/>
                </a:moveTo>
                <a:lnTo>
                  <a:pt x="112395" y="49657"/>
                </a:lnTo>
                <a:lnTo>
                  <a:pt x="105537" y="99187"/>
                </a:lnTo>
                <a:lnTo>
                  <a:pt x="98044" y="148590"/>
                </a:lnTo>
                <a:lnTo>
                  <a:pt x="89662" y="197739"/>
                </a:lnTo>
                <a:lnTo>
                  <a:pt x="80390" y="246380"/>
                </a:lnTo>
                <a:lnTo>
                  <a:pt x="70103" y="294640"/>
                </a:lnTo>
                <a:lnTo>
                  <a:pt x="58800" y="342265"/>
                </a:lnTo>
                <a:lnTo>
                  <a:pt x="46100" y="389128"/>
                </a:lnTo>
                <a:lnTo>
                  <a:pt x="32258" y="435102"/>
                </a:lnTo>
                <a:lnTo>
                  <a:pt x="16890" y="480187"/>
                </a:lnTo>
                <a:lnTo>
                  <a:pt x="0" y="524256"/>
                </a:lnTo>
              </a:path>
            </a:pathLst>
          </a:custGeom>
          <a:ln w="9144">
            <a:solidFill>
              <a:srgbClr val="D644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05428" y="3645408"/>
            <a:ext cx="507365" cy="518159"/>
          </a:xfrm>
          <a:custGeom>
            <a:avLst/>
            <a:gdLst/>
            <a:ahLst/>
            <a:cxnLst/>
            <a:rect l="l" t="t" r="r" b="b"/>
            <a:pathLst>
              <a:path w="507364" h="518160">
                <a:moveTo>
                  <a:pt x="507111" y="0"/>
                </a:moveTo>
                <a:lnTo>
                  <a:pt x="478663" y="36703"/>
                </a:lnTo>
                <a:lnTo>
                  <a:pt x="449452" y="73660"/>
                </a:lnTo>
                <a:lnTo>
                  <a:pt x="419354" y="110617"/>
                </a:lnTo>
                <a:lnTo>
                  <a:pt x="388112" y="147701"/>
                </a:lnTo>
                <a:lnTo>
                  <a:pt x="355854" y="184912"/>
                </a:lnTo>
                <a:lnTo>
                  <a:pt x="322325" y="222123"/>
                </a:lnTo>
                <a:lnTo>
                  <a:pt x="287527" y="259207"/>
                </a:lnTo>
                <a:lnTo>
                  <a:pt x="251333" y="296418"/>
                </a:lnTo>
                <a:lnTo>
                  <a:pt x="213613" y="333629"/>
                </a:lnTo>
                <a:lnTo>
                  <a:pt x="174371" y="370713"/>
                </a:lnTo>
                <a:lnTo>
                  <a:pt x="133476" y="407670"/>
                </a:lnTo>
                <a:lnTo>
                  <a:pt x="90932" y="444500"/>
                </a:lnTo>
                <a:lnTo>
                  <a:pt x="46355" y="481203"/>
                </a:lnTo>
                <a:lnTo>
                  <a:pt x="0" y="517779"/>
                </a:lnTo>
              </a:path>
            </a:pathLst>
          </a:custGeom>
          <a:ln w="9144">
            <a:solidFill>
              <a:srgbClr val="D644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81527" y="5434457"/>
          <a:ext cx="4965696" cy="4832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6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6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65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6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65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65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65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832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02235">
                        <a:lnSpc>
                          <a:spcPct val="100000"/>
                        </a:lnSpc>
                      </a:pPr>
                      <a:r>
                        <a:rPr sz="1100" spc="40" dirty="0">
                          <a:latin typeface="Arial"/>
                          <a:cs typeface="Arial"/>
                        </a:rPr>
                        <a:t>0.01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02235">
                        <a:lnSpc>
                          <a:spcPct val="100000"/>
                        </a:lnSpc>
                      </a:pPr>
                      <a:r>
                        <a:rPr sz="1100" spc="40" dirty="0">
                          <a:latin typeface="Arial"/>
                          <a:cs typeface="Arial"/>
                        </a:rPr>
                        <a:t>0.01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100" spc="40" dirty="0">
                          <a:latin typeface="Arial"/>
                          <a:cs typeface="Arial"/>
                        </a:rPr>
                        <a:t>0.01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100" spc="40" dirty="0">
                          <a:latin typeface="Arial"/>
                          <a:cs typeface="Arial"/>
                        </a:rPr>
                        <a:t>0.01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04139">
                        <a:lnSpc>
                          <a:spcPct val="100000"/>
                        </a:lnSpc>
                      </a:pPr>
                      <a:r>
                        <a:rPr sz="1100" spc="40" dirty="0">
                          <a:latin typeface="Arial"/>
                          <a:cs typeface="Arial"/>
                        </a:rPr>
                        <a:t>0.01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04139">
                        <a:lnSpc>
                          <a:spcPct val="100000"/>
                        </a:lnSpc>
                      </a:pPr>
                      <a:r>
                        <a:rPr sz="1100" spc="40" dirty="0">
                          <a:latin typeface="Arial"/>
                          <a:cs typeface="Arial"/>
                        </a:rPr>
                        <a:t>0.01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04139">
                        <a:lnSpc>
                          <a:spcPct val="100000"/>
                        </a:lnSpc>
                      </a:pPr>
                      <a:r>
                        <a:rPr sz="1100" b="1" spc="4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0.90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04775">
                        <a:lnSpc>
                          <a:spcPct val="100000"/>
                        </a:lnSpc>
                      </a:pPr>
                      <a:r>
                        <a:rPr sz="1100" spc="40" dirty="0">
                          <a:latin typeface="Arial"/>
                          <a:cs typeface="Arial"/>
                        </a:rPr>
                        <a:t>0.01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04775">
                        <a:lnSpc>
                          <a:spcPct val="100000"/>
                        </a:lnSpc>
                      </a:pPr>
                      <a:r>
                        <a:rPr sz="1100" spc="40" dirty="0">
                          <a:latin typeface="Arial"/>
                          <a:cs typeface="Arial"/>
                        </a:rPr>
                        <a:t>0.02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06045">
                        <a:lnSpc>
                          <a:spcPct val="100000"/>
                        </a:lnSpc>
                      </a:pPr>
                      <a:r>
                        <a:rPr sz="1100" spc="40" dirty="0">
                          <a:latin typeface="Arial"/>
                          <a:cs typeface="Arial"/>
                        </a:rPr>
                        <a:t>0.01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47241" y="383794"/>
            <a:ext cx="60350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C000"/>
                </a:solidFill>
              </a:rPr>
              <a:t>The Cross-Entropy Cost</a:t>
            </a:r>
            <a:r>
              <a:rPr spc="-245" dirty="0">
                <a:solidFill>
                  <a:srgbClr val="FFC000"/>
                </a:solidFill>
              </a:rPr>
              <a:t> </a:t>
            </a:r>
            <a:r>
              <a:rPr spc="-5" dirty="0">
                <a:solidFill>
                  <a:srgbClr val="FFC000"/>
                </a:solidFill>
              </a:rPr>
              <a:t>Function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5998" y="1144270"/>
            <a:ext cx="7675245" cy="89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For </a:t>
            </a:r>
            <a:r>
              <a:rPr sz="1800" b="1" spc="-5" dirty="0">
                <a:latin typeface="Arial"/>
                <a:cs typeface="Arial"/>
              </a:rPr>
              <a:t>classification problems, the Cross-Entropy cost </a:t>
            </a:r>
            <a:r>
              <a:rPr sz="1800" b="1" dirty="0">
                <a:latin typeface="Arial"/>
                <a:cs typeface="Arial"/>
              </a:rPr>
              <a:t>function </a:t>
            </a:r>
            <a:r>
              <a:rPr sz="1800" b="1" spc="5" dirty="0">
                <a:latin typeface="Arial"/>
                <a:cs typeface="Arial"/>
              </a:rPr>
              <a:t>works  </a:t>
            </a:r>
            <a:r>
              <a:rPr sz="1800" b="1" spc="-5" dirty="0">
                <a:latin typeface="Arial"/>
                <a:cs typeface="Arial"/>
              </a:rPr>
              <a:t>better </a:t>
            </a:r>
            <a:r>
              <a:rPr sz="1800" b="1" dirty="0">
                <a:latin typeface="Arial"/>
                <a:cs typeface="Arial"/>
              </a:rPr>
              <a:t>than </a:t>
            </a:r>
            <a:r>
              <a:rPr sz="1800" b="1" spc="-5" dirty="0">
                <a:latin typeface="Arial"/>
                <a:cs typeface="Arial"/>
              </a:rPr>
              <a:t>quadratic cost</a:t>
            </a:r>
            <a:r>
              <a:rPr sz="1800" b="1" spc="-11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function.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20" dirty="0">
                <a:latin typeface="Arial"/>
                <a:cs typeface="Arial"/>
              </a:rPr>
              <a:t>We </a:t>
            </a:r>
            <a:r>
              <a:rPr sz="1800" b="1" dirty="0">
                <a:latin typeface="Arial"/>
                <a:cs typeface="Arial"/>
              </a:rPr>
              <a:t>define the </a:t>
            </a:r>
            <a:r>
              <a:rPr sz="1800" b="1" spc="-5" dirty="0">
                <a:latin typeface="Arial"/>
                <a:cs typeface="Arial"/>
              </a:rPr>
              <a:t>cross-entropy cost </a:t>
            </a:r>
            <a:r>
              <a:rPr sz="1800" b="1" dirty="0">
                <a:latin typeface="Arial"/>
                <a:cs typeface="Arial"/>
              </a:rPr>
              <a:t>function </a:t>
            </a:r>
            <a:r>
              <a:rPr sz="1800" b="1" spc="-5" dirty="0">
                <a:latin typeface="Arial"/>
                <a:cs typeface="Arial"/>
              </a:rPr>
              <a:t>for </a:t>
            </a:r>
            <a:r>
              <a:rPr sz="1800" b="1" dirty="0">
                <a:latin typeface="Arial"/>
                <a:cs typeface="Arial"/>
              </a:rPr>
              <a:t>one </a:t>
            </a:r>
            <a:r>
              <a:rPr sz="1800" b="1" spc="-5" dirty="0">
                <a:latin typeface="Arial"/>
                <a:cs typeface="Arial"/>
              </a:rPr>
              <a:t>pair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-5" dirty="0">
                <a:latin typeface="Arial"/>
                <a:cs typeface="Arial"/>
              </a:rPr>
              <a:t>(x, </a:t>
            </a:r>
            <a:r>
              <a:rPr sz="1800" b="1" spc="-10" dirty="0">
                <a:latin typeface="Arial"/>
                <a:cs typeface="Arial"/>
              </a:rPr>
              <a:t>y)</a:t>
            </a:r>
            <a:r>
              <a:rPr sz="1800" b="1" spc="-180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by: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69891" y="4392167"/>
            <a:ext cx="177165" cy="786130"/>
          </a:xfrm>
          <a:custGeom>
            <a:avLst/>
            <a:gdLst/>
            <a:ahLst/>
            <a:cxnLst/>
            <a:rect l="l" t="t" r="r" b="b"/>
            <a:pathLst>
              <a:path w="177164" h="786129">
                <a:moveTo>
                  <a:pt x="0" y="786002"/>
                </a:moveTo>
                <a:lnTo>
                  <a:pt x="25273" y="742314"/>
                </a:lnTo>
                <a:lnTo>
                  <a:pt x="48641" y="697356"/>
                </a:lnTo>
                <a:lnTo>
                  <a:pt x="70104" y="651255"/>
                </a:lnTo>
                <a:lnTo>
                  <a:pt x="89662" y="604011"/>
                </a:lnTo>
                <a:lnTo>
                  <a:pt x="107315" y="555878"/>
                </a:lnTo>
                <a:lnTo>
                  <a:pt x="122936" y="506856"/>
                </a:lnTo>
                <a:lnTo>
                  <a:pt x="136652" y="457199"/>
                </a:lnTo>
                <a:lnTo>
                  <a:pt x="148336" y="407034"/>
                </a:lnTo>
                <a:lnTo>
                  <a:pt x="157987" y="356361"/>
                </a:lnTo>
                <a:lnTo>
                  <a:pt x="165735" y="305434"/>
                </a:lnTo>
                <a:lnTo>
                  <a:pt x="171450" y="254253"/>
                </a:lnTo>
                <a:lnTo>
                  <a:pt x="175006" y="203072"/>
                </a:lnTo>
                <a:lnTo>
                  <a:pt x="176657" y="151891"/>
                </a:lnTo>
                <a:lnTo>
                  <a:pt x="176149" y="100964"/>
                </a:lnTo>
                <a:lnTo>
                  <a:pt x="173609" y="50291"/>
                </a:lnTo>
                <a:lnTo>
                  <a:pt x="168910" y="0"/>
                </a:lnTo>
              </a:path>
            </a:pathLst>
          </a:custGeom>
          <a:ln w="9144">
            <a:solidFill>
              <a:srgbClr val="D644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04431" y="5013959"/>
            <a:ext cx="99060" cy="407034"/>
          </a:xfrm>
          <a:custGeom>
            <a:avLst/>
            <a:gdLst/>
            <a:ahLst/>
            <a:cxnLst/>
            <a:rect l="l" t="t" r="r" b="b"/>
            <a:pathLst>
              <a:path w="99059" h="407035">
                <a:moveTo>
                  <a:pt x="0" y="406653"/>
                </a:moveTo>
                <a:lnTo>
                  <a:pt x="24892" y="366394"/>
                </a:lnTo>
                <a:lnTo>
                  <a:pt x="46227" y="324103"/>
                </a:lnTo>
                <a:lnTo>
                  <a:pt x="64008" y="280034"/>
                </a:lnTo>
                <a:lnTo>
                  <a:pt x="78232" y="234695"/>
                </a:lnTo>
                <a:lnTo>
                  <a:pt x="88773" y="188340"/>
                </a:lnTo>
                <a:lnTo>
                  <a:pt x="95503" y="141350"/>
                </a:lnTo>
                <a:lnTo>
                  <a:pt x="98551" y="93979"/>
                </a:lnTo>
                <a:lnTo>
                  <a:pt x="97917" y="46735"/>
                </a:lnTo>
                <a:lnTo>
                  <a:pt x="93345" y="0"/>
                </a:lnTo>
              </a:path>
            </a:pathLst>
          </a:custGeom>
          <a:ln w="9143">
            <a:solidFill>
              <a:srgbClr val="D644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84552" y="3667759"/>
            <a:ext cx="5975985" cy="26539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sz="4575" i="1" spc="-7" baseline="6375" dirty="0">
                <a:latin typeface="Times New Roman"/>
                <a:cs typeface="Times New Roman"/>
              </a:rPr>
              <a:t>C </a:t>
            </a:r>
            <a:r>
              <a:rPr sz="4575" spc="-7" baseline="6375" dirty="0">
                <a:latin typeface="Symbol"/>
                <a:cs typeface="Symbol"/>
              </a:rPr>
              <a:t></a:t>
            </a:r>
            <a:r>
              <a:rPr sz="4575" spc="-7" baseline="6375" dirty="0">
                <a:latin typeface="Times New Roman"/>
                <a:cs typeface="Times New Roman"/>
              </a:rPr>
              <a:t> </a:t>
            </a:r>
            <a:r>
              <a:rPr sz="4575" spc="127" baseline="6375" dirty="0">
                <a:latin typeface="Symbol"/>
                <a:cs typeface="Symbol"/>
              </a:rPr>
              <a:t></a:t>
            </a:r>
            <a:r>
              <a:rPr sz="6900" spc="127" baseline="-4830" dirty="0">
                <a:latin typeface="Symbol"/>
                <a:cs typeface="Symbol"/>
              </a:rPr>
              <a:t></a:t>
            </a:r>
            <a:r>
              <a:rPr sz="6900" spc="127" baseline="-4830" dirty="0">
                <a:latin typeface="Times New Roman"/>
                <a:cs typeface="Times New Roman"/>
              </a:rPr>
              <a:t> </a:t>
            </a:r>
            <a:r>
              <a:rPr sz="3050" i="1" spc="-114" dirty="0">
                <a:latin typeface="Times New Roman"/>
                <a:cs typeface="Times New Roman"/>
              </a:rPr>
              <a:t>y</a:t>
            </a:r>
            <a:r>
              <a:rPr sz="2625" i="1" spc="-172" baseline="-15873" dirty="0">
                <a:latin typeface="Times New Roman"/>
                <a:cs typeface="Times New Roman"/>
              </a:rPr>
              <a:t>i </a:t>
            </a:r>
            <a:r>
              <a:rPr sz="3050" spc="80" dirty="0">
                <a:latin typeface="Symbol"/>
                <a:cs typeface="Symbol"/>
              </a:rPr>
              <a:t></a:t>
            </a:r>
            <a:r>
              <a:rPr sz="3050" spc="80" dirty="0">
                <a:latin typeface="Times New Roman"/>
                <a:cs typeface="Times New Roman"/>
              </a:rPr>
              <a:t>log</a:t>
            </a:r>
            <a:r>
              <a:rPr lang="en-US" sz="3050" spc="185" dirty="0">
                <a:latin typeface="Times New Roman"/>
                <a:cs typeface="Times New Roman"/>
              </a:rPr>
              <a:t>(</a:t>
            </a:r>
            <a:r>
              <a:rPr sz="3050" i="1" spc="5" dirty="0">
                <a:latin typeface="Times New Roman"/>
                <a:cs typeface="Times New Roman"/>
              </a:rPr>
              <a:t>P</a:t>
            </a:r>
            <a:r>
              <a:rPr sz="3150" i="1" spc="7" baseline="-21164" dirty="0">
                <a:latin typeface="Times New Roman"/>
                <a:cs typeface="Times New Roman"/>
              </a:rPr>
              <a:t>i</a:t>
            </a:r>
            <a:r>
              <a:rPr lang="en-US" sz="3150" i="1" spc="7" baseline="-21164" dirty="0">
                <a:latin typeface="Times New Roman"/>
                <a:cs typeface="Times New Roman"/>
              </a:rPr>
              <a:t> </a:t>
            </a:r>
            <a:r>
              <a:rPr lang="en-US" sz="3200" spc="185" dirty="0">
                <a:latin typeface="Times New Roman"/>
                <a:cs typeface="Times New Roman"/>
              </a:rPr>
              <a:t>)</a:t>
            </a:r>
            <a:endParaRPr sz="3150" baseline="-21164" dirty="0">
              <a:latin typeface="Times New Roman"/>
              <a:cs typeface="Times New Roman"/>
            </a:endParaRPr>
          </a:p>
          <a:p>
            <a:pPr marL="757555">
              <a:lnSpc>
                <a:spcPct val="100000"/>
              </a:lnSpc>
              <a:spcBef>
                <a:spcPts val="70"/>
              </a:spcBef>
            </a:pPr>
            <a:r>
              <a:rPr sz="1750" i="1" dirty="0" err="1">
                <a:latin typeface="Times New Roman"/>
                <a:cs typeface="Times New Roman"/>
              </a:rPr>
              <a:t>i</a:t>
            </a:r>
            <a:r>
              <a:rPr sz="1750" i="1" dirty="0">
                <a:latin typeface="Times New Roman"/>
                <a:cs typeface="Times New Roman"/>
              </a:rPr>
              <a:t>=</a:t>
            </a:r>
            <a:r>
              <a:rPr lang="en-US" sz="1750" i="1" dirty="0">
                <a:latin typeface="Times New Roman"/>
                <a:cs typeface="Times New Roman"/>
              </a:rPr>
              <a:t>0</a:t>
            </a:r>
            <a:r>
              <a:rPr sz="1750" i="1" dirty="0">
                <a:latin typeface="Times New Roman"/>
                <a:cs typeface="Times New Roman"/>
              </a:rPr>
              <a:t> to</a:t>
            </a:r>
            <a:r>
              <a:rPr sz="1750" i="1" spc="5" dirty="0">
                <a:latin typeface="Times New Roman"/>
                <a:cs typeface="Times New Roman"/>
              </a:rPr>
              <a:t> </a:t>
            </a:r>
            <a:r>
              <a:rPr lang="en-US" sz="1750" i="1" spc="5" dirty="0">
                <a:latin typeface="Times New Roman"/>
                <a:cs typeface="Times New Roman"/>
              </a:rPr>
              <a:t>9</a:t>
            </a:r>
            <a:endParaRPr sz="1750" dirty="0">
              <a:latin typeface="Times New Roman"/>
              <a:cs typeface="Times New Roman"/>
            </a:endParaRPr>
          </a:p>
          <a:p>
            <a:pPr marL="3846195">
              <a:lnSpc>
                <a:spcPct val="100000"/>
              </a:lnSpc>
              <a:spcBef>
                <a:spcPts val="260"/>
              </a:spcBef>
            </a:pPr>
            <a:r>
              <a:rPr sz="1800" spc="-55" dirty="0">
                <a:solidFill>
                  <a:srgbClr val="D64437"/>
                </a:solidFill>
                <a:latin typeface="Trebuchet MS"/>
                <a:cs typeface="Trebuchet MS"/>
              </a:rPr>
              <a:t>should </a:t>
            </a:r>
            <a:r>
              <a:rPr sz="1800" spc="-30" dirty="0">
                <a:solidFill>
                  <a:srgbClr val="D64437"/>
                </a:solidFill>
                <a:latin typeface="Trebuchet MS"/>
                <a:cs typeface="Trebuchet MS"/>
              </a:rPr>
              <a:t>be</a:t>
            </a:r>
            <a:r>
              <a:rPr sz="1800" spc="-270" dirty="0">
                <a:solidFill>
                  <a:srgbClr val="D64437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D64437"/>
                </a:solidFill>
                <a:latin typeface="Trebuchet MS"/>
                <a:cs typeface="Trebuchet MS"/>
              </a:rPr>
              <a:t>a“6”</a:t>
            </a:r>
            <a:endParaRPr sz="1800" dirty="0">
              <a:latin typeface="Trebuchet MS"/>
              <a:cs typeface="Trebuchet MS"/>
            </a:endParaRPr>
          </a:p>
          <a:p>
            <a:pPr marL="1442085">
              <a:lnSpc>
                <a:spcPct val="100000"/>
              </a:lnSpc>
              <a:spcBef>
                <a:spcPts val="994"/>
              </a:spcBef>
            </a:pPr>
            <a:r>
              <a:rPr sz="1800" spc="-80" dirty="0">
                <a:solidFill>
                  <a:srgbClr val="D64437"/>
                </a:solidFill>
                <a:latin typeface="Trebuchet MS"/>
                <a:cs typeface="Trebuchet MS"/>
              </a:rPr>
              <a:t>computed</a:t>
            </a:r>
            <a:r>
              <a:rPr sz="1800" spc="-180" dirty="0">
                <a:solidFill>
                  <a:srgbClr val="D64437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D64437"/>
                </a:solidFill>
                <a:latin typeface="Trebuchet MS"/>
                <a:cs typeface="Trebuchet MS"/>
              </a:rPr>
              <a:t>"probabilities"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1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 dirty="0">
              <a:latin typeface="Trebuchet MS"/>
              <a:cs typeface="Trebuchet MS"/>
            </a:endParaRPr>
          </a:p>
          <a:p>
            <a:pPr marL="1466850">
              <a:lnSpc>
                <a:spcPct val="100000"/>
              </a:lnSpc>
              <a:tabLst>
                <a:tab pos="1898650" algn="l"/>
                <a:tab pos="2398395" algn="l"/>
                <a:tab pos="2879725" algn="l"/>
                <a:tab pos="3381375" algn="l"/>
                <a:tab pos="3898265" algn="l"/>
                <a:tab pos="4399915" algn="l"/>
                <a:tab pos="4881245" algn="l"/>
                <a:tab pos="5417185" algn="l"/>
                <a:tab pos="5829935" algn="l"/>
              </a:tabLst>
            </a:pPr>
            <a:r>
              <a:rPr sz="1800" dirty="0">
                <a:solidFill>
                  <a:srgbClr val="D64437"/>
                </a:solidFill>
                <a:latin typeface="Trebuchet MS"/>
                <a:cs typeface="Trebuchet MS"/>
              </a:rPr>
              <a:t>0	1	2	3	4	5	6	7	8	9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93745" y="2768930"/>
            <a:ext cx="30441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solidFill>
                  <a:srgbClr val="D64437"/>
                </a:solidFill>
                <a:latin typeface="Trebuchet MS"/>
                <a:cs typeface="Trebuchet MS"/>
              </a:rPr>
              <a:t>“one-hot”</a:t>
            </a:r>
            <a:r>
              <a:rPr sz="1800" spc="-175" dirty="0">
                <a:solidFill>
                  <a:srgbClr val="D64437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D64437"/>
                </a:solidFill>
                <a:latin typeface="Trebuchet MS"/>
                <a:cs typeface="Trebuchet MS"/>
              </a:rPr>
              <a:t>encoded</a:t>
            </a:r>
            <a:r>
              <a:rPr sz="1800" spc="-200" dirty="0">
                <a:solidFill>
                  <a:srgbClr val="D64437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D64437"/>
                </a:solidFill>
                <a:latin typeface="Trebuchet MS"/>
                <a:cs typeface="Trebuchet MS"/>
              </a:rPr>
              <a:t>ground</a:t>
            </a:r>
            <a:r>
              <a:rPr sz="1800" spc="-265" dirty="0">
                <a:solidFill>
                  <a:srgbClr val="D64437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D64437"/>
                </a:solidFill>
                <a:latin typeface="Trebuchet MS"/>
                <a:cs typeface="Trebuchet MS"/>
              </a:rPr>
              <a:t>truth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45408" y="3115055"/>
            <a:ext cx="390525" cy="706755"/>
          </a:xfrm>
          <a:custGeom>
            <a:avLst/>
            <a:gdLst/>
            <a:ahLst/>
            <a:cxnLst/>
            <a:rect l="l" t="t" r="r" b="b"/>
            <a:pathLst>
              <a:path w="390525" h="706754">
                <a:moveTo>
                  <a:pt x="9016" y="706628"/>
                </a:moveTo>
                <a:lnTo>
                  <a:pt x="2793" y="653034"/>
                </a:lnTo>
                <a:lnTo>
                  <a:pt x="0" y="600837"/>
                </a:lnTo>
                <a:lnTo>
                  <a:pt x="762" y="549910"/>
                </a:lnTo>
                <a:lnTo>
                  <a:pt x="4825" y="500507"/>
                </a:lnTo>
                <a:lnTo>
                  <a:pt x="12318" y="452755"/>
                </a:lnTo>
                <a:lnTo>
                  <a:pt x="23113" y="406400"/>
                </a:lnTo>
                <a:lnTo>
                  <a:pt x="37211" y="361823"/>
                </a:lnTo>
                <a:lnTo>
                  <a:pt x="54482" y="319024"/>
                </a:lnTo>
                <a:lnTo>
                  <a:pt x="74802" y="277876"/>
                </a:lnTo>
                <a:lnTo>
                  <a:pt x="98297" y="238633"/>
                </a:lnTo>
                <a:lnTo>
                  <a:pt x="124840" y="201422"/>
                </a:lnTo>
                <a:lnTo>
                  <a:pt x="154304" y="166116"/>
                </a:lnTo>
                <a:lnTo>
                  <a:pt x="186689" y="132969"/>
                </a:lnTo>
                <a:lnTo>
                  <a:pt x="221868" y="101854"/>
                </a:lnTo>
                <a:lnTo>
                  <a:pt x="259841" y="72898"/>
                </a:lnTo>
                <a:lnTo>
                  <a:pt x="300608" y="46228"/>
                </a:lnTo>
                <a:lnTo>
                  <a:pt x="343915" y="21971"/>
                </a:lnTo>
                <a:lnTo>
                  <a:pt x="390016" y="0"/>
                </a:lnTo>
              </a:path>
            </a:pathLst>
          </a:custGeom>
          <a:ln w="9144">
            <a:solidFill>
              <a:srgbClr val="D644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273805" y="2262758"/>
          <a:ext cx="4699000" cy="473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3710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2133726" y="3284220"/>
            <a:ext cx="443865" cy="603885"/>
          </a:xfrm>
          <a:custGeom>
            <a:avLst/>
            <a:gdLst/>
            <a:ahLst/>
            <a:cxnLst/>
            <a:rect l="l" t="t" r="r" b="b"/>
            <a:pathLst>
              <a:path w="443864" h="603885">
                <a:moveTo>
                  <a:pt x="0" y="603376"/>
                </a:moveTo>
                <a:lnTo>
                  <a:pt x="12700" y="557275"/>
                </a:lnTo>
                <a:lnTo>
                  <a:pt x="27178" y="512444"/>
                </a:lnTo>
                <a:lnTo>
                  <a:pt x="43306" y="468756"/>
                </a:lnTo>
                <a:lnTo>
                  <a:pt x="60960" y="426465"/>
                </a:lnTo>
                <a:lnTo>
                  <a:pt x="80137" y="385317"/>
                </a:lnTo>
                <a:lnTo>
                  <a:pt x="100837" y="345693"/>
                </a:lnTo>
                <a:lnTo>
                  <a:pt x="122809" y="307593"/>
                </a:lnTo>
                <a:lnTo>
                  <a:pt x="146304" y="270890"/>
                </a:lnTo>
                <a:lnTo>
                  <a:pt x="171069" y="235838"/>
                </a:lnTo>
                <a:lnTo>
                  <a:pt x="196977" y="202437"/>
                </a:lnTo>
                <a:lnTo>
                  <a:pt x="224155" y="170560"/>
                </a:lnTo>
                <a:lnTo>
                  <a:pt x="252475" y="140588"/>
                </a:lnTo>
                <a:lnTo>
                  <a:pt x="281940" y="112267"/>
                </a:lnTo>
                <a:lnTo>
                  <a:pt x="312420" y="85978"/>
                </a:lnTo>
                <a:lnTo>
                  <a:pt x="343789" y="61467"/>
                </a:lnTo>
                <a:lnTo>
                  <a:pt x="376174" y="38862"/>
                </a:lnTo>
                <a:lnTo>
                  <a:pt x="409321" y="18414"/>
                </a:lnTo>
                <a:lnTo>
                  <a:pt x="443356" y="0"/>
                </a:lnTo>
              </a:path>
            </a:pathLst>
          </a:custGeom>
          <a:ln w="9144">
            <a:solidFill>
              <a:srgbClr val="D644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76780" y="2868295"/>
            <a:ext cx="1297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D64437"/>
                </a:solidFill>
                <a:latin typeface="Trebuchet MS"/>
                <a:cs typeface="Trebuchet MS"/>
              </a:rPr>
              <a:t>Cross</a:t>
            </a:r>
            <a:r>
              <a:rPr sz="1800" spc="-355" dirty="0">
                <a:solidFill>
                  <a:srgbClr val="D64437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D64437"/>
                </a:solidFill>
                <a:latin typeface="Trebuchet MS"/>
                <a:cs typeface="Trebuchet MS"/>
              </a:rPr>
              <a:t>entropy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85332" y="5411723"/>
            <a:ext cx="502920" cy="521334"/>
          </a:xfrm>
          <a:custGeom>
            <a:avLst/>
            <a:gdLst/>
            <a:ahLst/>
            <a:cxnLst/>
            <a:rect l="l" t="t" r="r" b="b"/>
            <a:pathLst>
              <a:path w="502920" h="521335">
                <a:moveTo>
                  <a:pt x="0" y="260540"/>
                </a:moveTo>
                <a:lnTo>
                  <a:pt x="4063" y="213715"/>
                </a:lnTo>
                <a:lnTo>
                  <a:pt x="15747" y="169672"/>
                </a:lnTo>
                <a:lnTo>
                  <a:pt x="34289" y="129031"/>
                </a:lnTo>
                <a:lnTo>
                  <a:pt x="59181" y="92709"/>
                </a:lnTo>
                <a:lnTo>
                  <a:pt x="89407" y="61340"/>
                </a:lnTo>
                <a:lnTo>
                  <a:pt x="124459" y="35559"/>
                </a:lnTo>
                <a:lnTo>
                  <a:pt x="163702" y="16256"/>
                </a:lnTo>
                <a:lnTo>
                  <a:pt x="206247" y="4190"/>
                </a:lnTo>
                <a:lnTo>
                  <a:pt x="251459" y="0"/>
                </a:lnTo>
                <a:lnTo>
                  <a:pt x="296671" y="4190"/>
                </a:lnTo>
                <a:lnTo>
                  <a:pt x="339216" y="16256"/>
                </a:lnTo>
                <a:lnTo>
                  <a:pt x="378459" y="35559"/>
                </a:lnTo>
                <a:lnTo>
                  <a:pt x="413512" y="61340"/>
                </a:lnTo>
                <a:lnTo>
                  <a:pt x="443738" y="92709"/>
                </a:lnTo>
                <a:lnTo>
                  <a:pt x="468629" y="129031"/>
                </a:lnTo>
                <a:lnTo>
                  <a:pt x="487171" y="169672"/>
                </a:lnTo>
                <a:lnTo>
                  <a:pt x="498856" y="213715"/>
                </a:lnTo>
                <a:lnTo>
                  <a:pt x="502919" y="260540"/>
                </a:lnTo>
                <a:lnTo>
                  <a:pt x="498856" y="307378"/>
                </a:lnTo>
                <a:lnTo>
                  <a:pt x="487171" y="351447"/>
                </a:lnTo>
                <a:lnTo>
                  <a:pt x="468629" y="392036"/>
                </a:lnTo>
                <a:lnTo>
                  <a:pt x="443738" y="428409"/>
                </a:lnTo>
                <a:lnTo>
                  <a:pt x="413512" y="459803"/>
                </a:lnTo>
                <a:lnTo>
                  <a:pt x="378459" y="485508"/>
                </a:lnTo>
                <a:lnTo>
                  <a:pt x="339216" y="504774"/>
                </a:lnTo>
                <a:lnTo>
                  <a:pt x="296671" y="516877"/>
                </a:lnTo>
                <a:lnTo>
                  <a:pt x="251459" y="521081"/>
                </a:lnTo>
                <a:lnTo>
                  <a:pt x="206247" y="516877"/>
                </a:lnTo>
                <a:lnTo>
                  <a:pt x="163702" y="504774"/>
                </a:lnTo>
                <a:lnTo>
                  <a:pt x="124459" y="485508"/>
                </a:lnTo>
                <a:lnTo>
                  <a:pt x="89407" y="459803"/>
                </a:lnTo>
                <a:lnTo>
                  <a:pt x="59181" y="428409"/>
                </a:lnTo>
                <a:lnTo>
                  <a:pt x="34289" y="392036"/>
                </a:lnTo>
                <a:lnTo>
                  <a:pt x="15747" y="351447"/>
                </a:lnTo>
                <a:lnTo>
                  <a:pt x="4063" y="307378"/>
                </a:lnTo>
                <a:lnTo>
                  <a:pt x="0" y="260540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9345" y="383794"/>
            <a:ext cx="28352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FFC000"/>
                </a:solidFill>
              </a:rPr>
              <a:t>Short</a:t>
            </a:r>
            <a:r>
              <a:rPr spc="-150" dirty="0">
                <a:solidFill>
                  <a:srgbClr val="FFC000"/>
                </a:solidFill>
              </a:rPr>
              <a:t> </a:t>
            </a:r>
            <a:r>
              <a:rPr spc="-5" dirty="0">
                <a:solidFill>
                  <a:srgbClr val="FFC000"/>
                </a:solidFill>
              </a:rPr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998" y="1095318"/>
            <a:ext cx="4329430" cy="321691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How </a:t>
            </a:r>
            <a:r>
              <a:rPr sz="1800" b="1" spc="-5" dirty="0">
                <a:latin typeface="Arial"/>
                <a:cs typeface="Arial"/>
              </a:rPr>
              <a:t>MNIST </a:t>
            </a:r>
            <a:r>
              <a:rPr sz="1800" b="1" dirty="0">
                <a:latin typeface="Arial"/>
                <a:cs typeface="Arial"/>
              </a:rPr>
              <a:t>data is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organized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95"/>
              </a:spcBef>
              <a:buChar char="–"/>
              <a:tabLst>
                <a:tab pos="756285" algn="l"/>
                <a:tab pos="756920" algn="l"/>
              </a:tabLst>
            </a:pPr>
            <a:r>
              <a:rPr sz="1800" spc="-25" dirty="0">
                <a:latin typeface="Arial"/>
                <a:cs typeface="Arial"/>
              </a:rPr>
              <a:t>X:</a:t>
            </a:r>
            <a:endParaRPr sz="1800" dirty="0">
              <a:latin typeface="Arial"/>
              <a:cs typeface="Arial"/>
            </a:endParaRPr>
          </a:p>
          <a:p>
            <a:pPr marL="1155065" lvl="2" indent="-229235">
              <a:lnSpc>
                <a:spcPct val="100000"/>
              </a:lnSpc>
              <a:spcBef>
                <a:spcPts val="405"/>
              </a:spcBef>
              <a:buChar char="•"/>
              <a:tabLst>
                <a:tab pos="1155065" algn="l"/>
                <a:tab pos="1155700" algn="l"/>
              </a:tabLst>
            </a:pPr>
            <a:r>
              <a:rPr sz="1600" spc="-5" dirty="0">
                <a:latin typeface="Arial"/>
                <a:cs typeface="Arial"/>
              </a:rPr>
              <a:t>Flattened </a:t>
            </a:r>
            <a:r>
              <a:rPr sz="1600" spc="-10" dirty="0">
                <a:latin typeface="Arial"/>
                <a:cs typeface="Arial"/>
              </a:rPr>
              <a:t>image </a:t>
            </a:r>
            <a:r>
              <a:rPr sz="1600" spc="-5" dirty="0">
                <a:latin typeface="Arial"/>
                <a:cs typeface="Arial"/>
              </a:rPr>
              <a:t>pixels</a:t>
            </a:r>
            <a:r>
              <a:rPr sz="1600" spc="-13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matrix</a:t>
            </a:r>
            <a:endParaRPr sz="16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00"/>
              </a:spcBef>
              <a:buChar char="–"/>
              <a:tabLst>
                <a:tab pos="756285" algn="l"/>
                <a:tab pos="756920" algn="l"/>
              </a:tabLst>
            </a:pPr>
            <a:r>
              <a:rPr sz="1800" spc="-100" dirty="0">
                <a:latin typeface="Arial"/>
                <a:cs typeface="Arial"/>
              </a:rPr>
              <a:t>Y:</a:t>
            </a:r>
            <a:endParaRPr sz="1800" dirty="0">
              <a:latin typeface="Arial"/>
              <a:cs typeface="Arial"/>
            </a:endParaRPr>
          </a:p>
          <a:p>
            <a:pPr marL="1155065" lvl="2" indent="-229235">
              <a:lnSpc>
                <a:spcPct val="100000"/>
              </a:lnSpc>
              <a:spcBef>
                <a:spcPts val="405"/>
              </a:spcBef>
              <a:buChar char="•"/>
              <a:tabLst>
                <a:tab pos="1155065" algn="l"/>
                <a:tab pos="1155700" algn="l"/>
              </a:tabLst>
            </a:pPr>
            <a:r>
              <a:rPr sz="1600" spc="-5" dirty="0">
                <a:latin typeface="Arial"/>
                <a:cs typeface="Arial"/>
              </a:rPr>
              <a:t>One-hot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vector</a:t>
            </a:r>
            <a:endParaRPr sz="16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0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Softmax regression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layer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95"/>
              </a:spcBef>
              <a:buChar char="–"/>
              <a:tabLst>
                <a:tab pos="756285" algn="l"/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Output "probabilities" </a:t>
            </a: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each</a:t>
            </a:r>
            <a:r>
              <a:rPr sz="1800" spc="-1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input</a:t>
            </a:r>
            <a:endParaRPr sz="18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"/>
              <a:buChar char="–"/>
            </a:pPr>
            <a:endParaRPr sz="255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Cost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function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00"/>
              </a:spcBef>
              <a:buChar char="–"/>
              <a:tabLst>
                <a:tab pos="756285" algn="l"/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Cross-entropy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842375" y="6565953"/>
            <a:ext cx="223520" cy="22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sz="1400" b="1" i="1" spc="-5" dirty="0">
                <a:solidFill>
                  <a:srgbClr val="FFC000"/>
                </a:solidFill>
                <a:latin typeface="Arial"/>
                <a:cs typeface="Arial"/>
              </a:rPr>
              <a:t>19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1" y="2272411"/>
            <a:ext cx="784860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rgbClr val="FFC000"/>
                </a:solidFill>
                <a:latin typeface="Arial"/>
                <a:cs typeface="Arial"/>
              </a:rPr>
              <a:t>Implementation</a:t>
            </a:r>
            <a:r>
              <a:rPr sz="4000" b="1" spc="-12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C000"/>
                </a:solidFill>
                <a:latin typeface="Arial"/>
                <a:cs typeface="Arial"/>
              </a:rPr>
              <a:t>in </a:t>
            </a:r>
            <a:r>
              <a:rPr lang="en-US" sz="4000" b="1" spc="-25" dirty="0" err="1">
                <a:solidFill>
                  <a:srgbClr val="FFC000"/>
                </a:solidFill>
                <a:latin typeface="Arial"/>
                <a:cs typeface="Arial"/>
              </a:rPr>
              <a:t>PyTorch</a:t>
            </a:r>
            <a:endParaRPr sz="4000" dirty="0">
              <a:solidFill>
                <a:srgbClr val="FFC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659727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18427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C000"/>
                </a:solidFill>
              </a:rPr>
              <a:t>Few Words about PyTorch</a:t>
            </a:r>
            <a:endParaRPr spc="-5" dirty="0">
              <a:solidFill>
                <a:srgbClr val="FFC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5998" y="1146175"/>
            <a:ext cx="7567295" cy="20031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solidFill>
                  <a:srgbClr val="FFC000"/>
                </a:solidFill>
                <a:latin typeface="Arial"/>
                <a:cs typeface="Arial"/>
              </a:rPr>
              <a:t>PyTorch is an open-source deep learning framework for Python. It uses tensors, automatic differentiation, and the torch.nn module to build trainable neural networks. TorchVision adds common computer-vision datasets and transforms, including MNIST. In this section we will implement the MNIST classifier directly in PyTorch.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2000" name="PyTorch TorchVision Mark"/>
          <p:cNvSpPr txBox="1"/>
          <p:nvPr/>
        </p:nvSpPr>
        <p:spPr>
          <a:xfrm>
            <a:off x="1371600" y="320040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3600" b="1" dirty="0" err="1">
                <a:solidFill>
                  <a:srgbClr val="F36C21"/>
                </a:solidFill>
                <a:latin typeface="Arial"/>
              </a:rPr>
              <a:t>PyTorch</a:t>
            </a:r>
            <a:r>
              <a:rPr lang="en-US" sz="3600" b="1" dirty="0">
                <a:solidFill>
                  <a:srgbClr val="F36C21"/>
                </a:solidFill>
                <a:latin typeface="Arial"/>
              </a:rPr>
              <a:t> + </a:t>
            </a:r>
            <a:r>
              <a:rPr lang="en-US" sz="3600" b="1" dirty="0" err="1">
                <a:solidFill>
                  <a:srgbClr val="F36C21"/>
                </a:solidFill>
                <a:latin typeface="Arial"/>
              </a:rPr>
              <a:t>TorchVision</a:t>
            </a:r>
            <a:endParaRPr lang="en-US" sz="3600" b="1" dirty="0">
              <a:solidFill>
                <a:srgbClr val="F36C21"/>
              </a:solidFill>
              <a:latin typeface="Arial"/>
            </a:endParaRPr>
          </a:p>
          <a:p>
            <a:pPr algn="ctr"/>
            <a:r>
              <a:rPr lang="en-US" sz="1800" dirty="0">
                <a:solidFill>
                  <a:srgbClr val="666666"/>
                </a:solidFill>
                <a:latin typeface="Arial"/>
              </a:rPr>
              <a:t>Tensors + </a:t>
            </a:r>
            <a:r>
              <a:rPr lang="en-US" sz="1800" dirty="0" err="1">
                <a:solidFill>
                  <a:srgbClr val="666666"/>
                </a:solidFill>
                <a:latin typeface="Arial"/>
              </a:rPr>
              <a:t>autograd</a:t>
            </a:r>
            <a:r>
              <a:rPr lang="en-US" sz="1800" dirty="0">
                <a:solidFill>
                  <a:srgbClr val="666666"/>
                </a:solidFill>
                <a:latin typeface="Arial"/>
              </a:rPr>
              <a:t> + datasets for MNIST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0" y="381000"/>
            <a:ext cx="4042411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FFC000"/>
                </a:solidFill>
              </a:rPr>
              <a:t>Introducing PyTorch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998" y="1095318"/>
            <a:ext cx="7966709" cy="2408352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PyTorch programs usually define a model as an nn.Module, pass batches of tensors through the forward method, compute a loss, and update parameters with an optimizer. This style keeps the mathematics visible: tensors hold the data, autograd computes gradients, and optimizers such as SGD or Adam update the weights. See more at:</a:t>
            </a:r>
            <a:endParaRPr lang="en-US" sz="1800" b="1" spc="-5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endParaRPr lang="en-US" b="1" spc="-5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 https://pytorch.org/tutorials/beginner/basics/quickstart_tutorial.html</a:t>
            </a:r>
            <a:endParaRPr lang="en-US" sz="1800" b="1" spc="-2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2664" y="383794"/>
            <a:ext cx="41402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C000"/>
                </a:solidFill>
              </a:rPr>
              <a:t>Typical Code 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998" y="1095318"/>
            <a:ext cx="7683602" cy="243656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Load the dataset with torchvision.datasets.MNIST and DataLoader</a:t>
            </a:r>
            <a:endParaRPr lang="en-US" sz="2800" b="1" spc="-5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Build the neural network with torch.nn.Module or nn.Sequential</a:t>
            </a:r>
            <a:endParaRPr lang="en-US" sz="2800" b="1" spc="-5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Choose a loss function and optimizer</a:t>
            </a:r>
            <a:endParaRPr lang="en-US" sz="2800" b="1" spc="-5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Train the model: forward pass, loss, backward pass, optimizer step</a:t>
            </a:r>
            <a:endParaRPr lang="en-US" sz="2800" b="1" spc="-5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Evaluate predictions on the test set</a:t>
            </a:r>
            <a:endParaRPr lang="en-US" sz="2800" b="1" spc="-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2225" y="383794"/>
            <a:ext cx="40125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C000"/>
                </a:solidFill>
              </a:rPr>
              <a:t>Software Environment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998" y="1095318"/>
            <a:ext cx="7836002" cy="4903907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500" b="1" dirty="0">
                <a:latin typeface="Arial"/>
                <a:cs typeface="Arial"/>
              </a:rPr>
              <a:t>What you will need: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500" b="1" dirty="0">
                <a:latin typeface="Arial"/>
                <a:cs typeface="Arial"/>
              </a:rPr>
              <a:t>Python 3.10 or later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500" b="1" dirty="0">
                <a:latin typeface="Arial"/>
                <a:cs typeface="Arial"/>
              </a:rPr>
              <a:t>PyTorch and TorchVision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500" b="1" dirty="0">
                <a:latin typeface="Arial"/>
                <a:cs typeface="Arial"/>
              </a:rPr>
              <a:t>Matplotlib or another visualization library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500" b="1" dirty="0">
                <a:latin typeface="Arial"/>
                <a:cs typeface="Arial"/>
              </a:rPr>
              <a:t>Install command for a CPU-only setup: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500" b="1" dirty="0">
                <a:latin typeface="Arial"/>
                <a:cs typeface="Arial"/>
              </a:rPr>
              <a:t>pip install torch torchvision matplotlib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500" b="1" dirty="0">
                <a:latin typeface="Arial"/>
                <a:cs typeface="Arial"/>
              </a:rPr>
              <a:t>For GPU/CUDA installs, use the official selector: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500" b="1" dirty="0">
                <a:latin typeface="Arial"/>
                <a:cs typeface="Arial"/>
              </a:rPr>
              <a:t>https://pytorch.org/get-started/locally/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500" b="1" dirty="0">
                <a:latin typeface="Arial"/>
                <a:cs typeface="Arial"/>
              </a:rPr>
              <a:t>Python downloads: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500" b="1" dirty="0">
                <a:latin typeface="Arial"/>
                <a:cs typeface="Arial"/>
                <a:hlinkClick r:id="rId2"/>
              </a:rPr>
              <a:t>https://www.python.org/downloads/</a:t>
            </a:r>
            <a:endParaRPr lang="en-US" sz="1500" b="1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endParaRPr lang="en-US" sz="1500" b="1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endParaRPr lang="en-US" sz="1500" b="1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1500" b="1" dirty="0">
                <a:latin typeface="Arial"/>
                <a:cs typeface="Arial"/>
              </a:rPr>
              <a:t>Or Google Colab (We will use it)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6735" y="383794"/>
            <a:ext cx="54965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C000"/>
                </a:solidFill>
              </a:rPr>
              <a:t>Review The PyTorch Predictions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620" y="1959864"/>
            <a:ext cx="9093835" cy="3688079"/>
            <a:chOff x="7620" y="1959864"/>
            <a:chExt cx="9093835" cy="3688079"/>
          </a:xfrm>
        </p:grpSpPr>
        <p:sp>
          <p:nvSpPr>
            <p:cNvPr id="4" name="object 4"/>
            <p:cNvSpPr/>
            <p:nvPr/>
          </p:nvSpPr>
          <p:spPr>
            <a:xfrm>
              <a:off x="4503401" y="1973557"/>
              <a:ext cx="4597944" cy="36606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20" y="1959864"/>
              <a:ext cx="4530852" cy="36880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94308" y="1578609"/>
            <a:ext cx="19329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C00000"/>
                </a:solidFill>
                <a:latin typeface="Arial"/>
                <a:cs typeface="Arial"/>
              </a:rPr>
              <a:t>Correctly classified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6020561" y="1578609"/>
            <a:ext cx="2070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C00000"/>
                </a:solidFill>
                <a:latin typeface="Arial"/>
                <a:cs typeface="Arial"/>
              </a:rPr>
              <a:t>Incorrectly classified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9661" y="383794"/>
            <a:ext cx="38665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FFC000"/>
                </a:solidFill>
              </a:rPr>
              <a:t>Adding More Layers?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998" y="1146175"/>
            <a:ext cx="4516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Using a 5 fully connected layer PyTorch model: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2127" y="1917192"/>
            <a:ext cx="6109335" cy="3383279"/>
            <a:chOff x="262127" y="1917192"/>
            <a:chExt cx="6109335" cy="3383279"/>
          </a:xfrm>
        </p:grpSpPr>
        <p:sp>
          <p:nvSpPr>
            <p:cNvPr id="5" name="object 5"/>
            <p:cNvSpPr/>
            <p:nvPr/>
          </p:nvSpPr>
          <p:spPr>
            <a:xfrm>
              <a:off x="1572767" y="3639312"/>
              <a:ext cx="2490470" cy="821690"/>
            </a:xfrm>
            <a:custGeom>
              <a:avLst/>
              <a:gdLst/>
              <a:ahLst/>
              <a:cxnLst/>
              <a:rect l="l" t="t" r="r" b="b"/>
              <a:pathLst>
                <a:path w="2490470" h="821689">
                  <a:moveTo>
                    <a:pt x="933704" y="821436"/>
                  </a:moveTo>
                  <a:lnTo>
                    <a:pt x="623315" y="509015"/>
                  </a:lnTo>
                </a:path>
                <a:path w="2490470" h="821689">
                  <a:moveTo>
                    <a:pt x="934212" y="821436"/>
                  </a:moveTo>
                  <a:lnTo>
                    <a:pt x="934212" y="509015"/>
                  </a:lnTo>
                </a:path>
                <a:path w="2490470" h="821689">
                  <a:moveTo>
                    <a:pt x="934212" y="821436"/>
                  </a:moveTo>
                  <a:lnTo>
                    <a:pt x="1244854" y="509015"/>
                  </a:lnTo>
                </a:path>
                <a:path w="2490470" h="821689">
                  <a:moveTo>
                    <a:pt x="934212" y="821436"/>
                  </a:moveTo>
                  <a:lnTo>
                    <a:pt x="1556004" y="509015"/>
                  </a:lnTo>
                </a:path>
                <a:path w="2490470" h="821689">
                  <a:moveTo>
                    <a:pt x="934212" y="821436"/>
                  </a:moveTo>
                  <a:lnTo>
                    <a:pt x="1867916" y="509015"/>
                  </a:lnTo>
                </a:path>
                <a:path w="2490470" h="821689">
                  <a:moveTo>
                    <a:pt x="1245108" y="821436"/>
                  </a:moveTo>
                  <a:lnTo>
                    <a:pt x="623315" y="509015"/>
                  </a:lnTo>
                </a:path>
                <a:path w="2490470" h="821689">
                  <a:moveTo>
                    <a:pt x="1244854" y="821436"/>
                  </a:moveTo>
                  <a:lnTo>
                    <a:pt x="934212" y="509015"/>
                  </a:lnTo>
                </a:path>
                <a:path w="2490470" h="821689">
                  <a:moveTo>
                    <a:pt x="1245108" y="821436"/>
                  </a:moveTo>
                  <a:lnTo>
                    <a:pt x="1245108" y="509015"/>
                  </a:lnTo>
                </a:path>
                <a:path w="2490470" h="821689">
                  <a:moveTo>
                    <a:pt x="1245108" y="821436"/>
                  </a:moveTo>
                  <a:lnTo>
                    <a:pt x="1555495" y="509015"/>
                  </a:lnTo>
                </a:path>
                <a:path w="2490470" h="821689">
                  <a:moveTo>
                    <a:pt x="1245108" y="821436"/>
                  </a:moveTo>
                  <a:lnTo>
                    <a:pt x="1868043" y="509015"/>
                  </a:lnTo>
                </a:path>
                <a:path w="2490470" h="821689">
                  <a:moveTo>
                    <a:pt x="1555623" y="821436"/>
                  </a:moveTo>
                  <a:lnTo>
                    <a:pt x="623315" y="509015"/>
                  </a:lnTo>
                </a:path>
                <a:path w="2490470" h="821689">
                  <a:moveTo>
                    <a:pt x="1556004" y="821436"/>
                  </a:moveTo>
                  <a:lnTo>
                    <a:pt x="934212" y="509015"/>
                  </a:lnTo>
                </a:path>
                <a:path w="2490470" h="821689">
                  <a:moveTo>
                    <a:pt x="1555495" y="821436"/>
                  </a:moveTo>
                  <a:lnTo>
                    <a:pt x="1245108" y="509015"/>
                  </a:lnTo>
                </a:path>
                <a:path w="2490470" h="821689">
                  <a:moveTo>
                    <a:pt x="1556004" y="821436"/>
                  </a:moveTo>
                  <a:lnTo>
                    <a:pt x="1556004" y="509015"/>
                  </a:lnTo>
                </a:path>
                <a:path w="2490470" h="821689">
                  <a:moveTo>
                    <a:pt x="1556004" y="821436"/>
                  </a:moveTo>
                  <a:lnTo>
                    <a:pt x="1868423" y="509015"/>
                  </a:lnTo>
                </a:path>
                <a:path w="2490470" h="821689">
                  <a:moveTo>
                    <a:pt x="623062" y="312419"/>
                  </a:moveTo>
                  <a:lnTo>
                    <a:pt x="0" y="0"/>
                  </a:lnTo>
                </a:path>
                <a:path w="2490470" h="821689">
                  <a:moveTo>
                    <a:pt x="623062" y="312419"/>
                  </a:moveTo>
                  <a:lnTo>
                    <a:pt x="312419" y="0"/>
                  </a:lnTo>
                </a:path>
                <a:path w="2490470" h="821689">
                  <a:moveTo>
                    <a:pt x="623315" y="312419"/>
                  </a:moveTo>
                  <a:lnTo>
                    <a:pt x="623315" y="0"/>
                  </a:lnTo>
                </a:path>
                <a:path w="2490470" h="821689">
                  <a:moveTo>
                    <a:pt x="623315" y="312419"/>
                  </a:moveTo>
                  <a:lnTo>
                    <a:pt x="933704" y="0"/>
                  </a:lnTo>
                </a:path>
                <a:path w="2490470" h="821689">
                  <a:moveTo>
                    <a:pt x="623315" y="312419"/>
                  </a:moveTo>
                  <a:lnTo>
                    <a:pt x="1245108" y="0"/>
                  </a:lnTo>
                </a:path>
                <a:path w="2490470" h="821689">
                  <a:moveTo>
                    <a:pt x="623315" y="312419"/>
                  </a:moveTo>
                  <a:lnTo>
                    <a:pt x="1555623" y="0"/>
                  </a:lnTo>
                </a:path>
                <a:path w="2490470" h="821689">
                  <a:moveTo>
                    <a:pt x="623315" y="312419"/>
                  </a:moveTo>
                  <a:lnTo>
                    <a:pt x="1868170" y="0"/>
                  </a:lnTo>
                </a:path>
                <a:path w="2490470" h="821689">
                  <a:moveTo>
                    <a:pt x="623315" y="312419"/>
                  </a:moveTo>
                  <a:lnTo>
                    <a:pt x="2178811" y="0"/>
                  </a:lnTo>
                </a:path>
                <a:path w="2490470" h="821689">
                  <a:moveTo>
                    <a:pt x="934212" y="312419"/>
                  </a:moveTo>
                  <a:lnTo>
                    <a:pt x="0" y="0"/>
                  </a:lnTo>
                </a:path>
                <a:path w="2490470" h="821689">
                  <a:moveTo>
                    <a:pt x="934212" y="312419"/>
                  </a:moveTo>
                  <a:lnTo>
                    <a:pt x="312419" y="0"/>
                  </a:lnTo>
                </a:path>
                <a:path w="2490470" h="821689">
                  <a:moveTo>
                    <a:pt x="933704" y="312419"/>
                  </a:moveTo>
                  <a:lnTo>
                    <a:pt x="623315" y="0"/>
                  </a:lnTo>
                </a:path>
                <a:path w="2490470" h="821689">
                  <a:moveTo>
                    <a:pt x="934212" y="312419"/>
                  </a:moveTo>
                  <a:lnTo>
                    <a:pt x="934212" y="0"/>
                  </a:lnTo>
                </a:path>
                <a:path w="2490470" h="821689">
                  <a:moveTo>
                    <a:pt x="934212" y="312419"/>
                  </a:moveTo>
                  <a:lnTo>
                    <a:pt x="1244854" y="0"/>
                  </a:lnTo>
                </a:path>
                <a:path w="2490470" h="821689">
                  <a:moveTo>
                    <a:pt x="934212" y="312419"/>
                  </a:moveTo>
                  <a:lnTo>
                    <a:pt x="1556004" y="0"/>
                  </a:lnTo>
                </a:path>
                <a:path w="2490470" h="821689">
                  <a:moveTo>
                    <a:pt x="934212" y="312419"/>
                  </a:moveTo>
                  <a:lnTo>
                    <a:pt x="1867916" y="0"/>
                  </a:lnTo>
                </a:path>
                <a:path w="2490470" h="821689">
                  <a:moveTo>
                    <a:pt x="934212" y="312419"/>
                  </a:moveTo>
                  <a:lnTo>
                    <a:pt x="2179193" y="0"/>
                  </a:lnTo>
                </a:path>
                <a:path w="2490470" h="821689">
                  <a:moveTo>
                    <a:pt x="1244981" y="312419"/>
                  </a:moveTo>
                  <a:lnTo>
                    <a:pt x="0" y="0"/>
                  </a:lnTo>
                </a:path>
                <a:path w="2490470" h="821689">
                  <a:moveTo>
                    <a:pt x="1244981" y="312419"/>
                  </a:moveTo>
                  <a:lnTo>
                    <a:pt x="312419" y="0"/>
                  </a:lnTo>
                </a:path>
                <a:path w="2490470" h="821689">
                  <a:moveTo>
                    <a:pt x="1245108" y="312419"/>
                  </a:moveTo>
                  <a:lnTo>
                    <a:pt x="623315" y="0"/>
                  </a:lnTo>
                </a:path>
                <a:path w="2490470" h="821689">
                  <a:moveTo>
                    <a:pt x="1244854" y="312419"/>
                  </a:moveTo>
                  <a:lnTo>
                    <a:pt x="934212" y="0"/>
                  </a:lnTo>
                </a:path>
                <a:path w="2490470" h="821689">
                  <a:moveTo>
                    <a:pt x="1245108" y="312419"/>
                  </a:moveTo>
                  <a:lnTo>
                    <a:pt x="1245108" y="0"/>
                  </a:lnTo>
                </a:path>
                <a:path w="2490470" h="821689">
                  <a:moveTo>
                    <a:pt x="1245108" y="312419"/>
                  </a:moveTo>
                  <a:lnTo>
                    <a:pt x="1555495" y="0"/>
                  </a:lnTo>
                </a:path>
                <a:path w="2490470" h="821689">
                  <a:moveTo>
                    <a:pt x="1245108" y="312419"/>
                  </a:moveTo>
                  <a:lnTo>
                    <a:pt x="1868043" y="0"/>
                  </a:lnTo>
                </a:path>
                <a:path w="2490470" h="821689">
                  <a:moveTo>
                    <a:pt x="1245108" y="312419"/>
                  </a:moveTo>
                  <a:lnTo>
                    <a:pt x="2179320" y="0"/>
                  </a:lnTo>
                </a:path>
                <a:path w="2490470" h="821689">
                  <a:moveTo>
                    <a:pt x="1555495" y="312419"/>
                  </a:moveTo>
                  <a:lnTo>
                    <a:pt x="0" y="0"/>
                  </a:lnTo>
                </a:path>
                <a:path w="2490470" h="821689">
                  <a:moveTo>
                    <a:pt x="1555495" y="312419"/>
                  </a:moveTo>
                  <a:lnTo>
                    <a:pt x="312419" y="0"/>
                  </a:lnTo>
                </a:path>
                <a:path w="2490470" h="821689">
                  <a:moveTo>
                    <a:pt x="1555623" y="312419"/>
                  </a:moveTo>
                  <a:lnTo>
                    <a:pt x="623315" y="0"/>
                  </a:lnTo>
                </a:path>
                <a:path w="2490470" h="821689">
                  <a:moveTo>
                    <a:pt x="1556004" y="312419"/>
                  </a:moveTo>
                  <a:lnTo>
                    <a:pt x="934212" y="0"/>
                  </a:lnTo>
                </a:path>
                <a:path w="2490470" h="821689">
                  <a:moveTo>
                    <a:pt x="1555495" y="312419"/>
                  </a:moveTo>
                  <a:lnTo>
                    <a:pt x="1245108" y="0"/>
                  </a:lnTo>
                </a:path>
                <a:path w="2490470" h="821689">
                  <a:moveTo>
                    <a:pt x="1556004" y="312419"/>
                  </a:moveTo>
                  <a:lnTo>
                    <a:pt x="1556004" y="0"/>
                  </a:lnTo>
                </a:path>
                <a:path w="2490470" h="821689">
                  <a:moveTo>
                    <a:pt x="1556004" y="312419"/>
                  </a:moveTo>
                  <a:lnTo>
                    <a:pt x="1868423" y="0"/>
                  </a:lnTo>
                </a:path>
                <a:path w="2490470" h="821689">
                  <a:moveTo>
                    <a:pt x="1556004" y="312419"/>
                  </a:moveTo>
                  <a:lnTo>
                    <a:pt x="2179066" y="0"/>
                  </a:lnTo>
                </a:path>
                <a:path w="2490470" h="821689">
                  <a:moveTo>
                    <a:pt x="1868043" y="312419"/>
                  </a:moveTo>
                  <a:lnTo>
                    <a:pt x="0" y="0"/>
                  </a:lnTo>
                </a:path>
                <a:path w="2490470" h="821689">
                  <a:moveTo>
                    <a:pt x="1868043" y="312419"/>
                  </a:moveTo>
                  <a:lnTo>
                    <a:pt x="312419" y="0"/>
                  </a:lnTo>
                </a:path>
                <a:path w="2490470" h="821689">
                  <a:moveTo>
                    <a:pt x="1868170" y="312419"/>
                  </a:moveTo>
                  <a:lnTo>
                    <a:pt x="623315" y="0"/>
                  </a:lnTo>
                </a:path>
                <a:path w="2490470" h="821689">
                  <a:moveTo>
                    <a:pt x="1867916" y="312419"/>
                  </a:moveTo>
                  <a:lnTo>
                    <a:pt x="934212" y="0"/>
                  </a:lnTo>
                </a:path>
                <a:path w="2490470" h="821689">
                  <a:moveTo>
                    <a:pt x="1868043" y="312419"/>
                  </a:moveTo>
                  <a:lnTo>
                    <a:pt x="1245108" y="0"/>
                  </a:lnTo>
                </a:path>
                <a:path w="2490470" h="821689">
                  <a:moveTo>
                    <a:pt x="1868423" y="312419"/>
                  </a:moveTo>
                  <a:lnTo>
                    <a:pt x="1556004" y="0"/>
                  </a:lnTo>
                </a:path>
                <a:path w="2490470" h="821689">
                  <a:moveTo>
                    <a:pt x="1868423" y="312419"/>
                  </a:moveTo>
                  <a:lnTo>
                    <a:pt x="1868423" y="0"/>
                  </a:lnTo>
                </a:path>
                <a:path w="2490470" h="821689">
                  <a:moveTo>
                    <a:pt x="1866899" y="312419"/>
                  </a:moveTo>
                  <a:lnTo>
                    <a:pt x="2179193" y="0"/>
                  </a:lnTo>
                </a:path>
                <a:path w="2490470" h="821689">
                  <a:moveTo>
                    <a:pt x="623315" y="312419"/>
                  </a:moveTo>
                  <a:lnTo>
                    <a:pt x="2489961" y="0"/>
                  </a:lnTo>
                </a:path>
                <a:path w="2490470" h="821689">
                  <a:moveTo>
                    <a:pt x="934212" y="312419"/>
                  </a:moveTo>
                  <a:lnTo>
                    <a:pt x="2489708" y="0"/>
                  </a:lnTo>
                </a:path>
                <a:path w="2490470" h="821689">
                  <a:moveTo>
                    <a:pt x="1245108" y="312419"/>
                  </a:moveTo>
                  <a:lnTo>
                    <a:pt x="2489835" y="0"/>
                  </a:lnTo>
                </a:path>
                <a:path w="2490470" h="821689">
                  <a:moveTo>
                    <a:pt x="1556004" y="312419"/>
                  </a:moveTo>
                  <a:lnTo>
                    <a:pt x="2490216" y="0"/>
                  </a:lnTo>
                </a:path>
                <a:path w="2490470" h="821689">
                  <a:moveTo>
                    <a:pt x="1866899" y="312419"/>
                  </a:moveTo>
                  <a:lnTo>
                    <a:pt x="2489708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98548" y="3953256"/>
              <a:ext cx="195072" cy="1950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09444" y="3953256"/>
              <a:ext cx="195071" cy="1950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20339" y="3953256"/>
              <a:ext cx="195072" cy="1950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31235" y="3953256"/>
              <a:ext cx="196595" cy="1950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42132" y="3953256"/>
              <a:ext cx="196596" cy="1950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09444" y="4460748"/>
              <a:ext cx="195071" cy="1965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20339" y="4460748"/>
              <a:ext cx="195072" cy="19659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31235" y="4460748"/>
              <a:ext cx="196595" cy="19659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75231" y="3450336"/>
              <a:ext cx="196595" cy="19507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86127" y="3450336"/>
              <a:ext cx="196595" cy="1950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97023" y="3450336"/>
              <a:ext cx="196595" cy="19507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09444" y="3450336"/>
              <a:ext cx="195071" cy="19507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20339" y="3450336"/>
              <a:ext cx="195072" cy="19507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31235" y="3450336"/>
              <a:ext cx="196595" cy="19507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53027" y="3450336"/>
              <a:ext cx="196596" cy="19507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65448" y="3450336"/>
              <a:ext cx="195072" cy="195071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42132" y="3450336"/>
              <a:ext cx="196596" cy="19507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51915" y="2442972"/>
              <a:ext cx="196596" cy="196596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86255" y="1964436"/>
              <a:ext cx="161290" cy="161290"/>
            </a:xfrm>
            <a:custGeom>
              <a:avLst/>
              <a:gdLst/>
              <a:ahLst/>
              <a:cxnLst/>
              <a:rect l="l" t="t" r="r" b="b"/>
              <a:pathLst>
                <a:path w="161290" h="161289">
                  <a:moveTo>
                    <a:pt x="161162" y="0"/>
                  </a:moveTo>
                  <a:lnTo>
                    <a:pt x="0" y="0"/>
                  </a:lnTo>
                  <a:lnTo>
                    <a:pt x="0" y="161162"/>
                  </a:lnTo>
                  <a:lnTo>
                    <a:pt x="161162" y="161162"/>
                  </a:lnTo>
                  <a:lnTo>
                    <a:pt x="161162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56944" y="1964435"/>
              <a:ext cx="332105" cy="161290"/>
            </a:xfrm>
            <a:custGeom>
              <a:avLst/>
              <a:gdLst/>
              <a:ahLst/>
              <a:cxnLst/>
              <a:rect l="l" t="t" r="r" b="b"/>
              <a:pathLst>
                <a:path w="332105" h="161289">
                  <a:moveTo>
                    <a:pt x="161163" y="0"/>
                  </a:moveTo>
                  <a:lnTo>
                    <a:pt x="0" y="0"/>
                  </a:lnTo>
                  <a:lnTo>
                    <a:pt x="0" y="161163"/>
                  </a:lnTo>
                  <a:lnTo>
                    <a:pt x="161163" y="161163"/>
                  </a:lnTo>
                  <a:lnTo>
                    <a:pt x="161163" y="0"/>
                  </a:lnTo>
                  <a:close/>
                </a:path>
                <a:path w="332105" h="161289">
                  <a:moveTo>
                    <a:pt x="331851" y="0"/>
                  </a:moveTo>
                  <a:lnTo>
                    <a:pt x="170688" y="0"/>
                  </a:lnTo>
                  <a:lnTo>
                    <a:pt x="170688" y="161163"/>
                  </a:lnTo>
                  <a:lnTo>
                    <a:pt x="331851" y="161163"/>
                  </a:lnTo>
                  <a:lnTo>
                    <a:pt x="331851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98319" y="1964436"/>
              <a:ext cx="161290" cy="161290"/>
            </a:xfrm>
            <a:custGeom>
              <a:avLst/>
              <a:gdLst/>
              <a:ahLst/>
              <a:cxnLst/>
              <a:rect l="l" t="t" r="r" b="b"/>
              <a:pathLst>
                <a:path w="161289" h="161289">
                  <a:moveTo>
                    <a:pt x="161162" y="0"/>
                  </a:moveTo>
                  <a:lnTo>
                    <a:pt x="0" y="0"/>
                  </a:lnTo>
                  <a:lnTo>
                    <a:pt x="0" y="161162"/>
                  </a:lnTo>
                  <a:lnTo>
                    <a:pt x="161162" y="161162"/>
                  </a:lnTo>
                  <a:lnTo>
                    <a:pt x="161162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2815" y="1964436"/>
              <a:ext cx="161290" cy="161290"/>
            </a:xfrm>
            <a:custGeom>
              <a:avLst/>
              <a:gdLst/>
              <a:ahLst/>
              <a:cxnLst/>
              <a:rect l="l" t="t" r="r" b="b"/>
              <a:pathLst>
                <a:path w="161290" h="161289">
                  <a:moveTo>
                    <a:pt x="161162" y="0"/>
                  </a:moveTo>
                  <a:lnTo>
                    <a:pt x="0" y="0"/>
                  </a:lnTo>
                  <a:lnTo>
                    <a:pt x="0" y="161162"/>
                  </a:lnTo>
                  <a:lnTo>
                    <a:pt x="161162" y="161162"/>
                  </a:lnTo>
                  <a:lnTo>
                    <a:pt x="161162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3504" y="1964435"/>
              <a:ext cx="502920" cy="161290"/>
            </a:xfrm>
            <a:custGeom>
              <a:avLst/>
              <a:gdLst/>
              <a:ahLst/>
              <a:cxnLst/>
              <a:rect l="l" t="t" r="r" b="b"/>
              <a:pathLst>
                <a:path w="502919" h="161289">
                  <a:moveTo>
                    <a:pt x="161163" y="0"/>
                  </a:moveTo>
                  <a:lnTo>
                    <a:pt x="0" y="0"/>
                  </a:lnTo>
                  <a:lnTo>
                    <a:pt x="0" y="161163"/>
                  </a:lnTo>
                  <a:lnTo>
                    <a:pt x="161163" y="161163"/>
                  </a:lnTo>
                  <a:lnTo>
                    <a:pt x="161163" y="0"/>
                  </a:lnTo>
                  <a:close/>
                </a:path>
                <a:path w="502919" h="161289">
                  <a:moveTo>
                    <a:pt x="331851" y="0"/>
                  </a:moveTo>
                  <a:lnTo>
                    <a:pt x="170688" y="0"/>
                  </a:lnTo>
                  <a:lnTo>
                    <a:pt x="170688" y="161163"/>
                  </a:lnTo>
                  <a:lnTo>
                    <a:pt x="331851" y="161163"/>
                  </a:lnTo>
                  <a:lnTo>
                    <a:pt x="331851" y="0"/>
                  </a:lnTo>
                  <a:close/>
                </a:path>
                <a:path w="502919" h="161289">
                  <a:moveTo>
                    <a:pt x="502539" y="0"/>
                  </a:moveTo>
                  <a:lnTo>
                    <a:pt x="341376" y="0"/>
                  </a:lnTo>
                  <a:lnTo>
                    <a:pt x="341376" y="161163"/>
                  </a:lnTo>
                  <a:lnTo>
                    <a:pt x="502539" y="161163"/>
                  </a:lnTo>
                  <a:lnTo>
                    <a:pt x="502539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15567" y="1964436"/>
              <a:ext cx="161290" cy="161290"/>
            </a:xfrm>
            <a:custGeom>
              <a:avLst/>
              <a:gdLst/>
              <a:ahLst/>
              <a:cxnLst/>
              <a:rect l="l" t="t" r="r" b="b"/>
              <a:pathLst>
                <a:path w="161290" h="161289">
                  <a:moveTo>
                    <a:pt x="161162" y="0"/>
                  </a:moveTo>
                  <a:lnTo>
                    <a:pt x="0" y="0"/>
                  </a:lnTo>
                  <a:lnTo>
                    <a:pt x="0" y="161162"/>
                  </a:lnTo>
                  <a:lnTo>
                    <a:pt x="161162" y="161162"/>
                  </a:lnTo>
                  <a:lnTo>
                    <a:pt x="161162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9008" y="1964435"/>
              <a:ext cx="1014730" cy="161290"/>
            </a:xfrm>
            <a:custGeom>
              <a:avLst/>
              <a:gdLst/>
              <a:ahLst/>
              <a:cxnLst/>
              <a:rect l="l" t="t" r="r" b="b"/>
              <a:pathLst>
                <a:path w="1014730" h="161289">
                  <a:moveTo>
                    <a:pt x="161163" y="0"/>
                  </a:moveTo>
                  <a:lnTo>
                    <a:pt x="0" y="0"/>
                  </a:lnTo>
                  <a:lnTo>
                    <a:pt x="0" y="161163"/>
                  </a:lnTo>
                  <a:lnTo>
                    <a:pt x="161163" y="161163"/>
                  </a:lnTo>
                  <a:lnTo>
                    <a:pt x="161163" y="0"/>
                  </a:lnTo>
                  <a:close/>
                </a:path>
                <a:path w="1014730" h="161289">
                  <a:moveTo>
                    <a:pt x="331851" y="0"/>
                  </a:moveTo>
                  <a:lnTo>
                    <a:pt x="170688" y="0"/>
                  </a:lnTo>
                  <a:lnTo>
                    <a:pt x="170688" y="161163"/>
                  </a:lnTo>
                  <a:lnTo>
                    <a:pt x="331851" y="161163"/>
                  </a:lnTo>
                  <a:lnTo>
                    <a:pt x="331851" y="0"/>
                  </a:lnTo>
                  <a:close/>
                </a:path>
                <a:path w="1014730" h="161289">
                  <a:moveTo>
                    <a:pt x="502526" y="0"/>
                  </a:moveTo>
                  <a:lnTo>
                    <a:pt x="341376" y="0"/>
                  </a:lnTo>
                  <a:lnTo>
                    <a:pt x="341376" y="161163"/>
                  </a:lnTo>
                  <a:lnTo>
                    <a:pt x="502526" y="161163"/>
                  </a:lnTo>
                  <a:lnTo>
                    <a:pt x="502526" y="0"/>
                  </a:lnTo>
                  <a:close/>
                </a:path>
                <a:path w="1014730" h="161289">
                  <a:moveTo>
                    <a:pt x="673227" y="0"/>
                  </a:moveTo>
                  <a:lnTo>
                    <a:pt x="512064" y="0"/>
                  </a:lnTo>
                  <a:lnTo>
                    <a:pt x="512064" y="161163"/>
                  </a:lnTo>
                  <a:lnTo>
                    <a:pt x="673227" y="161163"/>
                  </a:lnTo>
                  <a:lnTo>
                    <a:pt x="673227" y="0"/>
                  </a:lnTo>
                  <a:close/>
                </a:path>
                <a:path w="1014730" h="161289">
                  <a:moveTo>
                    <a:pt x="1014603" y="0"/>
                  </a:moveTo>
                  <a:lnTo>
                    <a:pt x="853440" y="0"/>
                  </a:lnTo>
                  <a:lnTo>
                    <a:pt x="853440" y="161163"/>
                  </a:lnTo>
                  <a:lnTo>
                    <a:pt x="1014603" y="161163"/>
                  </a:lnTo>
                  <a:lnTo>
                    <a:pt x="101460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993136" y="1964435"/>
              <a:ext cx="332105" cy="161290"/>
            </a:xfrm>
            <a:custGeom>
              <a:avLst/>
              <a:gdLst/>
              <a:ahLst/>
              <a:cxnLst/>
              <a:rect l="l" t="t" r="r" b="b"/>
              <a:pathLst>
                <a:path w="332104" h="161289">
                  <a:moveTo>
                    <a:pt x="161163" y="0"/>
                  </a:moveTo>
                  <a:lnTo>
                    <a:pt x="0" y="0"/>
                  </a:lnTo>
                  <a:lnTo>
                    <a:pt x="0" y="161163"/>
                  </a:lnTo>
                  <a:lnTo>
                    <a:pt x="161163" y="161163"/>
                  </a:lnTo>
                  <a:lnTo>
                    <a:pt x="161163" y="0"/>
                  </a:lnTo>
                  <a:close/>
                </a:path>
                <a:path w="332104" h="161289">
                  <a:moveTo>
                    <a:pt x="331851" y="0"/>
                  </a:moveTo>
                  <a:lnTo>
                    <a:pt x="170688" y="0"/>
                  </a:lnTo>
                  <a:lnTo>
                    <a:pt x="170688" y="161163"/>
                  </a:lnTo>
                  <a:lnTo>
                    <a:pt x="331851" y="161163"/>
                  </a:lnTo>
                  <a:lnTo>
                    <a:pt x="331851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334511" y="1964436"/>
              <a:ext cx="161290" cy="161290"/>
            </a:xfrm>
            <a:custGeom>
              <a:avLst/>
              <a:gdLst/>
              <a:ahLst/>
              <a:cxnLst/>
              <a:rect l="l" t="t" r="r" b="b"/>
              <a:pathLst>
                <a:path w="161289" h="161289">
                  <a:moveTo>
                    <a:pt x="161162" y="0"/>
                  </a:moveTo>
                  <a:lnTo>
                    <a:pt x="0" y="0"/>
                  </a:lnTo>
                  <a:lnTo>
                    <a:pt x="0" y="161162"/>
                  </a:lnTo>
                  <a:lnTo>
                    <a:pt x="161162" y="161162"/>
                  </a:lnTo>
                  <a:lnTo>
                    <a:pt x="161162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51760" y="1964436"/>
              <a:ext cx="161290" cy="161290"/>
            </a:xfrm>
            <a:custGeom>
              <a:avLst/>
              <a:gdLst/>
              <a:ahLst/>
              <a:cxnLst/>
              <a:rect l="l" t="t" r="r" b="b"/>
              <a:pathLst>
                <a:path w="161289" h="161289">
                  <a:moveTo>
                    <a:pt x="161162" y="0"/>
                  </a:moveTo>
                  <a:lnTo>
                    <a:pt x="0" y="0"/>
                  </a:lnTo>
                  <a:lnTo>
                    <a:pt x="0" y="161162"/>
                  </a:lnTo>
                  <a:lnTo>
                    <a:pt x="161162" y="161162"/>
                  </a:lnTo>
                  <a:lnTo>
                    <a:pt x="161162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505200" y="1964435"/>
              <a:ext cx="332105" cy="161290"/>
            </a:xfrm>
            <a:custGeom>
              <a:avLst/>
              <a:gdLst/>
              <a:ahLst/>
              <a:cxnLst/>
              <a:rect l="l" t="t" r="r" b="b"/>
              <a:pathLst>
                <a:path w="332104" h="161289">
                  <a:moveTo>
                    <a:pt x="161163" y="0"/>
                  </a:moveTo>
                  <a:lnTo>
                    <a:pt x="0" y="0"/>
                  </a:lnTo>
                  <a:lnTo>
                    <a:pt x="0" y="161163"/>
                  </a:lnTo>
                  <a:lnTo>
                    <a:pt x="161163" y="161163"/>
                  </a:lnTo>
                  <a:lnTo>
                    <a:pt x="161163" y="0"/>
                  </a:lnTo>
                  <a:close/>
                </a:path>
                <a:path w="332104" h="161289">
                  <a:moveTo>
                    <a:pt x="331851" y="0"/>
                  </a:moveTo>
                  <a:lnTo>
                    <a:pt x="170688" y="0"/>
                  </a:lnTo>
                  <a:lnTo>
                    <a:pt x="170688" y="161163"/>
                  </a:lnTo>
                  <a:lnTo>
                    <a:pt x="331851" y="161163"/>
                  </a:lnTo>
                  <a:lnTo>
                    <a:pt x="33185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846576" y="1964435"/>
              <a:ext cx="673735" cy="161290"/>
            </a:xfrm>
            <a:custGeom>
              <a:avLst/>
              <a:gdLst/>
              <a:ahLst/>
              <a:cxnLst/>
              <a:rect l="l" t="t" r="r" b="b"/>
              <a:pathLst>
                <a:path w="673735" h="161289">
                  <a:moveTo>
                    <a:pt x="161163" y="0"/>
                  </a:moveTo>
                  <a:lnTo>
                    <a:pt x="0" y="0"/>
                  </a:lnTo>
                  <a:lnTo>
                    <a:pt x="0" y="161163"/>
                  </a:lnTo>
                  <a:lnTo>
                    <a:pt x="161163" y="161163"/>
                  </a:lnTo>
                  <a:lnTo>
                    <a:pt x="161163" y="0"/>
                  </a:lnTo>
                  <a:close/>
                </a:path>
                <a:path w="673735" h="161289">
                  <a:moveTo>
                    <a:pt x="331851" y="0"/>
                  </a:moveTo>
                  <a:lnTo>
                    <a:pt x="170688" y="0"/>
                  </a:lnTo>
                  <a:lnTo>
                    <a:pt x="170688" y="161163"/>
                  </a:lnTo>
                  <a:lnTo>
                    <a:pt x="331851" y="161163"/>
                  </a:lnTo>
                  <a:lnTo>
                    <a:pt x="331851" y="0"/>
                  </a:lnTo>
                  <a:close/>
                </a:path>
                <a:path w="673735" h="161289">
                  <a:moveTo>
                    <a:pt x="502539" y="0"/>
                  </a:moveTo>
                  <a:lnTo>
                    <a:pt x="341376" y="0"/>
                  </a:lnTo>
                  <a:lnTo>
                    <a:pt x="341376" y="161163"/>
                  </a:lnTo>
                  <a:lnTo>
                    <a:pt x="502539" y="161163"/>
                  </a:lnTo>
                  <a:lnTo>
                    <a:pt x="502539" y="0"/>
                  </a:lnTo>
                  <a:close/>
                </a:path>
                <a:path w="673735" h="161289">
                  <a:moveTo>
                    <a:pt x="673227" y="0"/>
                  </a:moveTo>
                  <a:lnTo>
                    <a:pt x="512064" y="0"/>
                  </a:lnTo>
                  <a:lnTo>
                    <a:pt x="512064" y="161163"/>
                  </a:lnTo>
                  <a:lnTo>
                    <a:pt x="673227" y="161163"/>
                  </a:lnTo>
                  <a:lnTo>
                    <a:pt x="673227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62128" y="1964435"/>
              <a:ext cx="4599305" cy="161290"/>
            </a:xfrm>
            <a:custGeom>
              <a:avLst/>
              <a:gdLst/>
              <a:ahLst/>
              <a:cxnLst/>
              <a:rect l="l" t="t" r="r" b="b"/>
              <a:pathLst>
                <a:path w="4599305" h="161289">
                  <a:moveTo>
                    <a:pt x="161163" y="0"/>
                  </a:moveTo>
                  <a:lnTo>
                    <a:pt x="0" y="0"/>
                  </a:lnTo>
                  <a:lnTo>
                    <a:pt x="0" y="161163"/>
                  </a:lnTo>
                  <a:lnTo>
                    <a:pt x="161163" y="161163"/>
                  </a:lnTo>
                  <a:lnTo>
                    <a:pt x="161163" y="0"/>
                  </a:lnTo>
                  <a:close/>
                </a:path>
                <a:path w="4599305" h="161289">
                  <a:moveTo>
                    <a:pt x="4428363" y="0"/>
                  </a:moveTo>
                  <a:lnTo>
                    <a:pt x="4267200" y="0"/>
                  </a:lnTo>
                  <a:lnTo>
                    <a:pt x="4267200" y="161163"/>
                  </a:lnTo>
                  <a:lnTo>
                    <a:pt x="4428363" y="161163"/>
                  </a:lnTo>
                  <a:lnTo>
                    <a:pt x="4428363" y="0"/>
                  </a:lnTo>
                  <a:close/>
                </a:path>
                <a:path w="4599305" h="161289">
                  <a:moveTo>
                    <a:pt x="4599051" y="0"/>
                  </a:moveTo>
                  <a:lnTo>
                    <a:pt x="4437888" y="0"/>
                  </a:lnTo>
                  <a:lnTo>
                    <a:pt x="4437888" y="161163"/>
                  </a:lnTo>
                  <a:lnTo>
                    <a:pt x="4599051" y="161163"/>
                  </a:lnTo>
                  <a:lnTo>
                    <a:pt x="459905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70704" y="1964436"/>
              <a:ext cx="161290" cy="161290"/>
            </a:xfrm>
            <a:custGeom>
              <a:avLst/>
              <a:gdLst/>
              <a:ahLst/>
              <a:cxnLst/>
              <a:rect l="l" t="t" r="r" b="b"/>
              <a:pathLst>
                <a:path w="161289" h="161289">
                  <a:moveTo>
                    <a:pt x="161162" y="0"/>
                  </a:moveTo>
                  <a:lnTo>
                    <a:pt x="0" y="0"/>
                  </a:lnTo>
                  <a:lnTo>
                    <a:pt x="0" y="161162"/>
                  </a:lnTo>
                  <a:lnTo>
                    <a:pt x="161162" y="161162"/>
                  </a:lnTo>
                  <a:lnTo>
                    <a:pt x="161162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41392" y="1964436"/>
              <a:ext cx="161290" cy="161290"/>
            </a:xfrm>
            <a:custGeom>
              <a:avLst/>
              <a:gdLst/>
              <a:ahLst/>
              <a:cxnLst/>
              <a:rect l="l" t="t" r="r" b="b"/>
              <a:pathLst>
                <a:path w="161289" h="161289">
                  <a:moveTo>
                    <a:pt x="161162" y="0"/>
                  </a:moveTo>
                  <a:lnTo>
                    <a:pt x="0" y="0"/>
                  </a:lnTo>
                  <a:lnTo>
                    <a:pt x="0" y="161162"/>
                  </a:lnTo>
                  <a:lnTo>
                    <a:pt x="161162" y="161162"/>
                  </a:lnTo>
                  <a:lnTo>
                    <a:pt x="161162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12080" y="1964436"/>
              <a:ext cx="161290" cy="161290"/>
            </a:xfrm>
            <a:custGeom>
              <a:avLst/>
              <a:gdLst/>
              <a:ahLst/>
              <a:cxnLst/>
              <a:rect l="l" t="t" r="r" b="b"/>
              <a:pathLst>
                <a:path w="161289" h="161289">
                  <a:moveTo>
                    <a:pt x="161162" y="0"/>
                  </a:moveTo>
                  <a:lnTo>
                    <a:pt x="0" y="0"/>
                  </a:lnTo>
                  <a:lnTo>
                    <a:pt x="0" y="161162"/>
                  </a:lnTo>
                  <a:lnTo>
                    <a:pt x="161162" y="161162"/>
                  </a:lnTo>
                  <a:lnTo>
                    <a:pt x="161162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9183" y="2129028"/>
              <a:ext cx="622300" cy="312420"/>
            </a:xfrm>
            <a:custGeom>
              <a:avLst/>
              <a:gdLst/>
              <a:ahLst/>
              <a:cxnLst/>
              <a:rect l="l" t="t" r="r" b="b"/>
              <a:pathLst>
                <a:path w="622300" h="312419">
                  <a:moveTo>
                    <a:pt x="621182" y="312420"/>
                  </a:moveTo>
                  <a:lnTo>
                    <a:pt x="0" y="0"/>
                  </a:lnTo>
                </a:path>
                <a:path w="622300" h="312419">
                  <a:moveTo>
                    <a:pt x="621334" y="312420"/>
                  </a:moveTo>
                  <a:lnTo>
                    <a:pt x="310895" y="0"/>
                  </a:lnTo>
                </a:path>
                <a:path w="622300" h="312419">
                  <a:moveTo>
                    <a:pt x="621791" y="312420"/>
                  </a:moveTo>
                  <a:lnTo>
                    <a:pt x="621791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162811" y="2442972"/>
              <a:ext cx="196596" cy="196596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50976" y="2129028"/>
              <a:ext cx="311150" cy="312420"/>
            </a:xfrm>
            <a:custGeom>
              <a:avLst/>
              <a:gdLst/>
              <a:ahLst/>
              <a:cxnLst/>
              <a:rect l="l" t="t" r="r" b="b"/>
              <a:pathLst>
                <a:path w="311150" h="312419">
                  <a:moveTo>
                    <a:pt x="0" y="312420"/>
                  </a:moveTo>
                  <a:lnTo>
                    <a:pt x="310642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473708" y="2442972"/>
              <a:ext cx="196596" cy="196596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50976" y="2129028"/>
              <a:ext cx="622935" cy="312420"/>
            </a:xfrm>
            <a:custGeom>
              <a:avLst/>
              <a:gdLst/>
              <a:ahLst/>
              <a:cxnLst/>
              <a:rect l="l" t="t" r="r" b="b"/>
              <a:pathLst>
                <a:path w="622935" h="312419">
                  <a:moveTo>
                    <a:pt x="0" y="312420"/>
                  </a:moveTo>
                  <a:lnTo>
                    <a:pt x="622935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786127" y="2442972"/>
              <a:ext cx="195072" cy="19659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50976" y="2129028"/>
              <a:ext cx="934719" cy="312420"/>
            </a:xfrm>
            <a:custGeom>
              <a:avLst/>
              <a:gdLst/>
              <a:ahLst/>
              <a:cxnLst/>
              <a:rect l="l" t="t" r="r" b="b"/>
              <a:pathLst>
                <a:path w="934719" h="312419">
                  <a:moveTo>
                    <a:pt x="0" y="312420"/>
                  </a:moveTo>
                  <a:lnTo>
                    <a:pt x="934212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097023" y="2442972"/>
              <a:ext cx="195072" cy="1965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50976" y="2129028"/>
              <a:ext cx="1245235" cy="312420"/>
            </a:xfrm>
            <a:custGeom>
              <a:avLst/>
              <a:gdLst/>
              <a:ahLst/>
              <a:cxnLst/>
              <a:rect l="l" t="t" r="r" b="b"/>
              <a:pathLst>
                <a:path w="1245235" h="312419">
                  <a:moveTo>
                    <a:pt x="0" y="312420"/>
                  </a:moveTo>
                  <a:lnTo>
                    <a:pt x="1244981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407920" y="2442972"/>
              <a:ext cx="195071" cy="19659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50976" y="2129028"/>
              <a:ext cx="1555750" cy="312420"/>
            </a:xfrm>
            <a:custGeom>
              <a:avLst/>
              <a:gdLst/>
              <a:ahLst/>
              <a:cxnLst/>
              <a:rect l="l" t="t" r="r" b="b"/>
              <a:pathLst>
                <a:path w="1555750" h="312419">
                  <a:moveTo>
                    <a:pt x="0" y="312420"/>
                  </a:moveTo>
                  <a:lnTo>
                    <a:pt x="1555496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718816" y="2442972"/>
              <a:ext cx="196595" cy="196596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29183" y="2129028"/>
              <a:ext cx="2489200" cy="312420"/>
            </a:xfrm>
            <a:custGeom>
              <a:avLst/>
              <a:gdLst/>
              <a:ahLst/>
              <a:cxnLst/>
              <a:rect l="l" t="t" r="r" b="b"/>
              <a:pathLst>
                <a:path w="2489200" h="312419">
                  <a:moveTo>
                    <a:pt x="621791" y="312420"/>
                  </a:moveTo>
                  <a:lnTo>
                    <a:pt x="2488691" y="0"/>
                  </a:lnTo>
                </a:path>
                <a:path w="2489200" h="312419">
                  <a:moveTo>
                    <a:pt x="932560" y="312420"/>
                  </a:moveTo>
                  <a:lnTo>
                    <a:pt x="0" y="0"/>
                  </a:lnTo>
                </a:path>
                <a:path w="2489200" h="312419">
                  <a:moveTo>
                    <a:pt x="932078" y="312420"/>
                  </a:moveTo>
                  <a:lnTo>
                    <a:pt x="310895" y="0"/>
                  </a:lnTo>
                </a:path>
                <a:path w="2489200" h="312419">
                  <a:moveTo>
                    <a:pt x="932434" y="312420"/>
                  </a:moveTo>
                  <a:lnTo>
                    <a:pt x="621791" y="0"/>
                  </a:lnTo>
                </a:path>
                <a:path w="2489200" h="312419">
                  <a:moveTo>
                    <a:pt x="932688" y="312420"/>
                  </a:moveTo>
                  <a:lnTo>
                    <a:pt x="932688" y="0"/>
                  </a:lnTo>
                </a:path>
                <a:path w="2489200" h="312419">
                  <a:moveTo>
                    <a:pt x="932688" y="312420"/>
                  </a:moveTo>
                  <a:lnTo>
                    <a:pt x="1244854" y="0"/>
                  </a:lnTo>
                </a:path>
                <a:path w="2489200" h="312419">
                  <a:moveTo>
                    <a:pt x="932688" y="312420"/>
                  </a:moveTo>
                  <a:lnTo>
                    <a:pt x="1555496" y="0"/>
                  </a:lnTo>
                </a:path>
                <a:path w="2489200" h="312419">
                  <a:moveTo>
                    <a:pt x="932688" y="312420"/>
                  </a:moveTo>
                  <a:lnTo>
                    <a:pt x="1866264" y="0"/>
                  </a:lnTo>
                </a:path>
                <a:path w="2489200" h="312419">
                  <a:moveTo>
                    <a:pt x="932688" y="312420"/>
                  </a:moveTo>
                  <a:lnTo>
                    <a:pt x="2177415" y="0"/>
                  </a:lnTo>
                </a:path>
                <a:path w="2489200" h="312419">
                  <a:moveTo>
                    <a:pt x="932688" y="312420"/>
                  </a:moveTo>
                  <a:lnTo>
                    <a:pt x="2488184" y="0"/>
                  </a:lnTo>
                </a:path>
                <a:path w="2489200" h="312419">
                  <a:moveTo>
                    <a:pt x="1244854" y="312420"/>
                  </a:moveTo>
                  <a:lnTo>
                    <a:pt x="0" y="0"/>
                  </a:lnTo>
                </a:path>
                <a:path w="2489200" h="312419">
                  <a:moveTo>
                    <a:pt x="1244981" y="312420"/>
                  </a:moveTo>
                  <a:lnTo>
                    <a:pt x="310895" y="0"/>
                  </a:lnTo>
                </a:path>
                <a:path w="2489200" h="312419">
                  <a:moveTo>
                    <a:pt x="1244727" y="312420"/>
                  </a:moveTo>
                  <a:lnTo>
                    <a:pt x="621791" y="0"/>
                  </a:lnTo>
                </a:path>
                <a:path w="2489200" h="312419">
                  <a:moveTo>
                    <a:pt x="1244854" y="312420"/>
                  </a:moveTo>
                  <a:lnTo>
                    <a:pt x="932688" y="0"/>
                  </a:lnTo>
                </a:path>
                <a:path w="2489200" h="312419">
                  <a:moveTo>
                    <a:pt x="1243584" y="312420"/>
                  </a:moveTo>
                  <a:lnTo>
                    <a:pt x="1243584" y="0"/>
                  </a:lnTo>
                </a:path>
                <a:path w="2489200" h="312419">
                  <a:moveTo>
                    <a:pt x="1243584" y="312420"/>
                  </a:moveTo>
                  <a:lnTo>
                    <a:pt x="1555877" y="0"/>
                  </a:lnTo>
                </a:path>
                <a:path w="2489200" h="312419">
                  <a:moveTo>
                    <a:pt x="1243584" y="312420"/>
                  </a:moveTo>
                  <a:lnTo>
                    <a:pt x="1866646" y="0"/>
                  </a:lnTo>
                </a:path>
                <a:path w="2489200" h="312419">
                  <a:moveTo>
                    <a:pt x="1243584" y="312420"/>
                  </a:moveTo>
                  <a:lnTo>
                    <a:pt x="2177796" y="0"/>
                  </a:lnTo>
                </a:path>
                <a:path w="2489200" h="312419">
                  <a:moveTo>
                    <a:pt x="1243584" y="312420"/>
                  </a:moveTo>
                  <a:lnTo>
                    <a:pt x="2488565" y="0"/>
                  </a:lnTo>
                </a:path>
                <a:path w="2489200" h="312419">
                  <a:moveTo>
                    <a:pt x="1555496" y="312420"/>
                  </a:moveTo>
                  <a:lnTo>
                    <a:pt x="0" y="0"/>
                  </a:lnTo>
                </a:path>
                <a:path w="2489200" h="312419">
                  <a:moveTo>
                    <a:pt x="1555623" y="312420"/>
                  </a:moveTo>
                  <a:lnTo>
                    <a:pt x="310895" y="0"/>
                  </a:lnTo>
                </a:path>
                <a:path w="2489200" h="312419">
                  <a:moveTo>
                    <a:pt x="1556004" y="312420"/>
                  </a:moveTo>
                  <a:lnTo>
                    <a:pt x="621791" y="0"/>
                  </a:lnTo>
                </a:path>
                <a:path w="2489200" h="312419">
                  <a:moveTo>
                    <a:pt x="1555496" y="312420"/>
                  </a:moveTo>
                  <a:lnTo>
                    <a:pt x="932688" y="0"/>
                  </a:lnTo>
                </a:path>
                <a:path w="2489200" h="312419">
                  <a:moveTo>
                    <a:pt x="1555877" y="312420"/>
                  </a:moveTo>
                  <a:lnTo>
                    <a:pt x="1243584" y="0"/>
                  </a:lnTo>
                </a:path>
                <a:path w="2489200" h="312419">
                  <a:moveTo>
                    <a:pt x="1556004" y="312420"/>
                  </a:moveTo>
                  <a:lnTo>
                    <a:pt x="1556004" y="0"/>
                  </a:lnTo>
                </a:path>
                <a:path w="2489200" h="312419">
                  <a:moveTo>
                    <a:pt x="1556004" y="312420"/>
                  </a:moveTo>
                  <a:lnTo>
                    <a:pt x="1866646" y="0"/>
                  </a:lnTo>
                </a:path>
                <a:path w="2489200" h="312419">
                  <a:moveTo>
                    <a:pt x="1556004" y="312420"/>
                  </a:moveTo>
                  <a:lnTo>
                    <a:pt x="2177796" y="0"/>
                  </a:lnTo>
                </a:path>
                <a:path w="2489200" h="312419">
                  <a:moveTo>
                    <a:pt x="1556004" y="312420"/>
                  </a:moveTo>
                  <a:lnTo>
                    <a:pt x="2488565" y="0"/>
                  </a:lnTo>
                </a:path>
                <a:path w="2489200" h="312419">
                  <a:moveTo>
                    <a:pt x="1866900" y="312420"/>
                  </a:moveTo>
                  <a:lnTo>
                    <a:pt x="0" y="0"/>
                  </a:lnTo>
                </a:path>
                <a:path w="2489200" h="312419">
                  <a:moveTo>
                    <a:pt x="1866391" y="312420"/>
                  </a:moveTo>
                  <a:lnTo>
                    <a:pt x="310895" y="0"/>
                  </a:lnTo>
                </a:path>
                <a:path w="2489200" h="312419">
                  <a:moveTo>
                    <a:pt x="1866773" y="312420"/>
                  </a:moveTo>
                  <a:lnTo>
                    <a:pt x="621791" y="0"/>
                  </a:lnTo>
                </a:path>
                <a:path w="2489200" h="312419">
                  <a:moveTo>
                    <a:pt x="1866264" y="312420"/>
                  </a:moveTo>
                  <a:lnTo>
                    <a:pt x="932688" y="0"/>
                  </a:lnTo>
                </a:path>
                <a:path w="2489200" h="312419">
                  <a:moveTo>
                    <a:pt x="1866646" y="312420"/>
                  </a:moveTo>
                  <a:lnTo>
                    <a:pt x="1243584" y="0"/>
                  </a:lnTo>
                </a:path>
                <a:path w="2489200" h="312419">
                  <a:moveTo>
                    <a:pt x="1866646" y="312420"/>
                  </a:moveTo>
                  <a:lnTo>
                    <a:pt x="1556004" y="0"/>
                  </a:lnTo>
                </a:path>
                <a:path w="2489200" h="312419">
                  <a:moveTo>
                    <a:pt x="1866900" y="312420"/>
                  </a:moveTo>
                  <a:lnTo>
                    <a:pt x="1866900" y="0"/>
                  </a:lnTo>
                </a:path>
                <a:path w="2489200" h="312419">
                  <a:moveTo>
                    <a:pt x="1866900" y="312420"/>
                  </a:moveTo>
                  <a:lnTo>
                    <a:pt x="2177288" y="0"/>
                  </a:lnTo>
                </a:path>
                <a:path w="2489200" h="312419">
                  <a:moveTo>
                    <a:pt x="1866900" y="312420"/>
                  </a:moveTo>
                  <a:lnTo>
                    <a:pt x="2488691" y="0"/>
                  </a:lnTo>
                </a:path>
                <a:path w="2489200" h="312419">
                  <a:moveTo>
                    <a:pt x="2177415" y="312420"/>
                  </a:moveTo>
                  <a:lnTo>
                    <a:pt x="0" y="0"/>
                  </a:lnTo>
                </a:path>
                <a:path w="2489200" h="312419">
                  <a:moveTo>
                    <a:pt x="2177541" y="312420"/>
                  </a:moveTo>
                  <a:lnTo>
                    <a:pt x="310895" y="0"/>
                  </a:lnTo>
                </a:path>
                <a:path w="2489200" h="312419">
                  <a:moveTo>
                    <a:pt x="2177288" y="312420"/>
                  </a:moveTo>
                  <a:lnTo>
                    <a:pt x="621791" y="0"/>
                  </a:lnTo>
                </a:path>
                <a:path w="2489200" h="312419">
                  <a:moveTo>
                    <a:pt x="2177415" y="312420"/>
                  </a:moveTo>
                  <a:lnTo>
                    <a:pt x="932688" y="0"/>
                  </a:lnTo>
                </a:path>
                <a:path w="2489200" h="312419">
                  <a:moveTo>
                    <a:pt x="2177796" y="312420"/>
                  </a:moveTo>
                  <a:lnTo>
                    <a:pt x="1243584" y="0"/>
                  </a:lnTo>
                </a:path>
                <a:path w="2489200" h="312419">
                  <a:moveTo>
                    <a:pt x="2177796" y="312420"/>
                  </a:moveTo>
                  <a:lnTo>
                    <a:pt x="1556004" y="0"/>
                  </a:lnTo>
                </a:path>
                <a:path w="2489200" h="312419">
                  <a:moveTo>
                    <a:pt x="2177288" y="312420"/>
                  </a:moveTo>
                  <a:lnTo>
                    <a:pt x="1866900" y="0"/>
                  </a:lnTo>
                </a:path>
                <a:path w="2489200" h="312419">
                  <a:moveTo>
                    <a:pt x="2177796" y="312420"/>
                  </a:moveTo>
                  <a:lnTo>
                    <a:pt x="2177796" y="0"/>
                  </a:lnTo>
                </a:path>
                <a:path w="2489200" h="312419">
                  <a:moveTo>
                    <a:pt x="2177796" y="312420"/>
                  </a:moveTo>
                  <a:lnTo>
                    <a:pt x="2488438" y="0"/>
                  </a:lnTo>
                </a:path>
                <a:path w="2489200" h="312419">
                  <a:moveTo>
                    <a:pt x="2488184" y="312420"/>
                  </a:moveTo>
                  <a:lnTo>
                    <a:pt x="0" y="0"/>
                  </a:lnTo>
                </a:path>
                <a:path w="2489200" h="312419">
                  <a:moveTo>
                    <a:pt x="2488311" y="312420"/>
                  </a:moveTo>
                  <a:lnTo>
                    <a:pt x="310895" y="0"/>
                  </a:lnTo>
                </a:path>
                <a:path w="2489200" h="312419">
                  <a:moveTo>
                    <a:pt x="2488691" y="312420"/>
                  </a:moveTo>
                  <a:lnTo>
                    <a:pt x="621791" y="0"/>
                  </a:lnTo>
                </a:path>
                <a:path w="2489200" h="312419">
                  <a:moveTo>
                    <a:pt x="2488184" y="312420"/>
                  </a:moveTo>
                  <a:lnTo>
                    <a:pt x="932688" y="0"/>
                  </a:lnTo>
                </a:path>
                <a:path w="2489200" h="312419">
                  <a:moveTo>
                    <a:pt x="2488565" y="312420"/>
                  </a:moveTo>
                  <a:lnTo>
                    <a:pt x="1243584" y="0"/>
                  </a:lnTo>
                </a:path>
                <a:path w="2489200" h="312419">
                  <a:moveTo>
                    <a:pt x="2488565" y="312420"/>
                  </a:moveTo>
                  <a:lnTo>
                    <a:pt x="1556004" y="0"/>
                  </a:lnTo>
                </a:path>
                <a:path w="2489200" h="312419">
                  <a:moveTo>
                    <a:pt x="2488691" y="312420"/>
                  </a:moveTo>
                  <a:lnTo>
                    <a:pt x="1866900" y="0"/>
                  </a:lnTo>
                </a:path>
                <a:path w="2489200" h="312419">
                  <a:moveTo>
                    <a:pt x="2488438" y="312420"/>
                  </a:moveTo>
                  <a:lnTo>
                    <a:pt x="2177796" y="0"/>
                  </a:lnTo>
                </a:path>
                <a:path w="2489200" h="312419">
                  <a:moveTo>
                    <a:pt x="2488691" y="312420"/>
                  </a:moveTo>
                  <a:lnTo>
                    <a:pt x="2488691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032760" y="2442972"/>
              <a:ext cx="195072" cy="1965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817876" y="2129028"/>
              <a:ext cx="310515" cy="312420"/>
            </a:xfrm>
            <a:custGeom>
              <a:avLst/>
              <a:gdLst/>
              <a:ahLst/>
              <a:cxnLst/>
              <a:rect l="l" t="t" r="r" b="b"/>
              <a:pathLst>
                <a:path w="310514" h="312419">
                  <a:moveTo>
                    <a:pt x="0" y="312420"/>
                  </a:moveTo>
                  <a:lnTo>
                    <a:pt x="310515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343655" y="2442972"/>
              <a:ext cx="196596" cy="1965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817876" y="2129028"/>
              <a:ext cx="622935" cy="312420"/>
            </a:xfrm>
            <a:custGeom>
              <a:avLst/>
              <a:gdLst/>
              <a:ahLst/>
              <a:cxnLst/>
              <a:rect l="l" t="t" r="r" b="b"/>
              <a:pathLst>
                <a:path w="622935" h="312419">
                  <a:moveTo>
                    <a:pt x="0" y="312420"/>
                  </a:moveTo>
                  <a:lnTo>
                    <a:pt x="622808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654551" y="2442972"/>
              <a:ext cx="196596" cy="196596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817876" y="2129028"/>
              <a:ext cx="934719" cy="312420"/>
            </a:xfrm>
            <a:custGeom>
              <a:avLst/>
              <a:gdLst/>
              <a:ahLst/>
              <a:cxnLst/>
              <a:rect l="l" t="t" r="r" b="b"/>
              <a:pathLst>
                <a:path w="934720" h="312419">
                  <a:moveTo>
                    <a:pt x="0" y="312420"/>
                  </a:moveTo>
                  <a:lnTo>
                    <a:pt x="934212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965448" y="2442972"/>
              <a:ext cx="196596" cy="196596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817876" y="2129028"/>
              <a:ext cx="1245235" cy="312420"/>
            </a:xfrm>
            <a:custGeom>
              <a:avLst/>
              <a:gdLst/>
              <a:ahLst/>
              <a:cxnLst/>
              <a:rect l="l" t="t" r="r" b="b"/>
              <a:pathLst>
                <a:path w="1245235" h="312419">
                  <a:moveTo>
                    <a:pt x="0" y="312420"/>
                  </a:moveTo>
                  <a:lnTo>
                    <a:pt x="1244727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277868" y="2442972"/>
              <a:ext cx="195072" cy="196596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817876" y="2129028"/>
              <a:ext cx="1555750" cy="312420"/>
            </a:xfrm>
            <a:custGeom>
              <a:avLst/>
              <a:gdLst/>
              <a:ahLst/>
              <a:cxnLst/>
              <a:rect l="l" t="t" r="r" b="b"/>
              <a:pathLst>
                <a:path w="1555750" h="312419">
                  <a:moveTo>
                    <a:pt x="0" y="312420"/>
                  </a:moveTo>
                  <a:lnTo>
                    <a:pt x="1555496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588763" y="2442972"/>
              <a:ext cx="195072" cy="196596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506979" y="2129028"/>
              <a:ext cx="2801620" cy="312420"/>
            </a:xfrm>
            <a:custGeom>
              <a:avLst/>
              <a:gdLst/>
              <a:ahLst/>
              <a:cxnLst/>
              <a:rect l="l" t="t" r="r" b="b"/>
              <a:pathLst>
                <a:path w="2801620" h="312419">
                  <a:moveTo>
                    <a:pt x="310895" y="312420"/>
                  </a:moveTo>
                  <a:lnTo>
                    <a:pt x="2177542" y="0"/>
                  </a:lnTo>
                </a:path>
                <a:path w="2801620" h="312419">
                  <a:moveTo>
                    <a:pt x="310895" y="312420"/>
                  </a:moveTo>
                  <a:lnTo>
                    <a:pt x="2488184" y="0"/>
                  </a:lnTo>
                </a:path>
                <a:path w="2801620" h="312419">
                  <a:moveTo>
                    <a:pt x="310895" y="312420"/>
                  </a:moveTo>
                  <a:lnTo>
                    <a:pt x="2800731" y="0"/>
                  </a:lnTo>
                </a:path>
                <a:path w="2801620" h="312419">
                  <a:moveTo>
                    <a:pt x="621411" y="312420"/>
                  </a:moveTo>
                  <a:lnTo>
                    <a:pt x="310895" y="0"/>
                  </a:lnTo>
                </a:path>
                <a:path w="2801620" h="312419">
                  <a:moveTo>
                    <a:pt x="621792" y="312420"/>
                  </a:moveTo>
                  <a:lnTo>
                    <a:pt x="621792" y="0"/>
                  </a:lnTo>
                </a:path>
                <a:path w="2801620" h="312419">
                  <a:moveTo>
                    <a:pt x="621792" y="312420"/>
                  </a:moveTo>
                  <a:lnTo>
                    <a:pt x="933957" y="0"/>
                  </a:lnTo>
                </a:path>
                <a:path w="2801620" h="312419">
                  <a:moveTo>
                    <a:pt x="621792" y="312420"/>
                  </a:moveTo>
                  <a:lnTo>
                    <a:pt x="1244727" y="0"/>
                  </a:lnTo>
                </a:path>
                <a:path w="2801620" h="312419">
                  <a:moveTo>
                    <a:pt x="621792" y="312420"/>
                  </a:moveTo>
                  <a:lnTo>
                    <a:pt x="1555877" y="0"/>
                  </a:lnTo>
                </a:path>
                <a:path w="2801620" h="312419">
                  <a:moveTo>
                    <a:pt x="621792" y="312420"/>
                  </a:moveTo>
                  <a:lnTo>
                    <a:pt x="1866645" y="0"/>
                  </a:lnTo>
                </a:path>
                <a:path w="2801620" h="312419">
                  <a:moveTo>
                    <a:pt x="621792" y="312420"/>
                  </a:moveTo>
                  <a:lnTo>
                    <a:pt x="2177796" y="0"/>
                  </a:lnTo>
                </a:path>
                <a:path w="2801620" h="312419">
                  <a:moveTo>
                    <a:pt x="621792" y="312420"/>
                  </a:moveTo>
                  <a:lnTo>
                    <a:pt x="2488437" y="0"/>
                  </a:lnTo>
                </a:path>
                <a:path w="2801620" h="312419">
                  <a:moveTo>
                    <a:pt x="621792" y="312420"/>
                  </a:moveTo>
                  <a:lnTo>
                    <a:pt x="2800985" y="0"/>
                  </a:lnTo>
                </a:path>
                <a:path w="2801620" h="312419">
                  <a:moveTo>
                    <a:pt x="933704" y="312420"/>
                  </a:moveTo>
                  <a:lnTo>
                    <a:pt x="310895" y="0"/>
                  </a:lnTo>
                </a:path>
                <a:path w="2801620" h="312419">
                  <a:moveTo>
                    <a:pt x="933957" y="312420"/>
                  </a:moveTo>
                  <a:lnTo>
                    <a:pt x="621792" y="0"/>
                  </a:lnTo>
                </a:path>
                <a:path w="2801620" h="312419">
                  <a:moveTo>
                    <a:pt x="932687" y="312420"/>
                  </a:moveTo>
                  <a:lnTo>
                    <a:pt x="932687" y="0"/>
                  </a:lnTo>
                </a:path>
                <a:path w="2801620" h="312419">
                  <a:moveTo>
                    <a:pt x="932687" y="312420"/>
                  </a:moveTo>
                  <a:lnTo>
                    <a:pt x="1245108" y="0"/>
                  </a:lnTo>
                </a:path>
                <a:path w="2801620" h="312419">
                  <a:moveTo>
                    <a:pt x="932687" y="312420"/>
                  </a:moveTo>
                  <a:lnTo>
                    <a:pt x="1555622" y="0"/>
                  </a:lnTo>
                </a:path>
                <a:path w="2801620" h="312419">
                  <a:moveTo>
                    <a:pt x="932687" y="312420"/>
                  </a:moveTo>
                  <a:lnTo>
                    <a:pt x="1866392" y="0"/>
                  </a:lnTo>
                </a:path>
                <a:path w="2801620" h="312419">
                  <a:moveTo>
                    <a:pt x="932687" y="312420"/>
                  </a:moveTo>
                  <a:lnTo>
                    <a:pt x="2177542" y="0"/>
                  </a:lnTo>
                </a:path>
                <a:path w="2801620" h="312419">
                  <a:moveTo>
                    <a:pt x="932687" y="312420"/>
                  </a:moveTo>
                  <a:lnTo>
                    <a:pt x="2488184" y="0"/>
                  </a:lnTo>
                </a:path>
                <a:path w="2801620" h="312419">
                  <a:moveTo>
                    <a:pt x="932687" y="312420"/>
                  </a:moveTo>
                  <a:lnTo>
                    <a:pt x="2800731" y="0"/>
                  </a:lnTo>
                </a:path>
                <a:path w="2801620" h="312419">
                  <a:moveTo>
                    <a:pt x="1245108" y="312420"/>
                  </a:moveTo>
                  <a:lnTo>
                    <a:pt x="310895" y="0"/>
                  </a:lnTo>
                </a:path>
                <a:path w="2801620" h="312419">
                  <a:moveTo>
                    <a:pt x="1244727" y="312420"/>
                  </a:moveTo>
                  <a:lnTo>
                    <a:pt x="621792" y="0"/>
                  </a:lnTo>
                </a:path>
                <a:path w="2801620" h="312419">
                  <a:moveTo>
                    <a:pt x="1245108" y="312420"/>
                  </a:moveTo>
                  <a:lnTo>
                    <a:pt x="932687" y="0"/>
                  </a:lnTo>
                </a:path>
                <a:path w="2801620" h="312419">
                  <a:moveTo>
                    <a:pt x="1245108" y="312420"/>
                  </a:moveTo>
                  <a:lnTo>
                    <a:pt x="1245108" y="0"/>
                  </a:lnTo>
                </a:path>
                <a:path w="2801620" h="312419">
                  <a:moveTo>
                    <a:pt x="1245108" y="312420"/>
                  </a:moveTo>
                  <a:lnTo>
                    <a:pt x="1555495" y="0"/>
                  </a:lnTo>
                </a:path>
                <a:path w="2801620" h="312419">
                  <a:moveTo>
                    <a:pt x="1245108" y="312420"/>
                  </a:moveTo>
                  <a:lnTo>
                    <a:pt x="1866899" y="0"/>
                  </a:lnTo>
                </a:path>
                <a:path w="2801620" h="312419">
                  <a:moveTo>
                    <a:pt x="1245108" y="312420"/>
                  </a:moveTo>
                  <a:lnTo>
                    <a:pt x="2177415" y="0"/>
                  </a:lnTo>
                </a:path>
                <a:path w="2801620" h="312419">
                  <a:moveTo>
                    <a:pt x="1245108" y="312420"/>
                  </a:moveTo>
                  <a:lnTo>
                    <a:pt x="2488692" y="0"/>
                  </a:lnTo>
                </a:path>
                <a:path w="2801620" h="312419">
                  <a:moveTo>
                    <a:pt x="1245108" y="312420"/>
                  </a:moveTo>
                  <a:lnTo>
                    <a:pt x="2800604" y="0"/>
                  </a:lnTo>
                </a:path>
                <a:path w="2801620" h="312419">
                  <a:moveTo>
                    <a:pt x="1555622" y="312420"/>
                  </a:moveTo>
                  <a:lnTo>
                    <a:pt x="310895" y="0"/>
                  </a:lnTo>
                </a:path>
                <a:path w="2801620" h="312419">
                  <a:moveTo>
                    <a:pt x="1555877" y="312420"/>
                  </a:moveTo>
                  <a:lnTo>
                    <a:pt x="621792" y="0"/>
                  </a:lnTo>
                </a:path>
                <a:path w="2801620" h="312419">
                  <a:moveTo>
                    <a:pt x="1555622" y="312420"/>
                  </a:moveTo>
                  <a:lnTo>
                    <a:pt x="932687" y="0"/>
                  </a:lnTo>
                </a:path>
                <a:path w="2801620" h="312419">
                  <a:moveTo>
                    <a:pt x="1555495" y="312420"/>
                  </a:moveTo>
                  <a:lnTo>
                    <a:pt x="1245108" y="0"/>
                  </a:lnTo>
                </a:path>
                <a:path w="2801620" h="312419">
                  <a:moveTo>
                    <a:pt x="1556004" y="312420"/>
                  </a:moveTo>
                  <a:lnTo>
                    <a:pt x="1556004" y="0"/>
                  </a:lnTo>
                </a:path>
                <a:path w="2801620" h="312419">
                  <a:moveTo>
                    <a:pt x="1556004" y="312420"/>
                  </a:moveTo>
                  <a:lnTo>
                    <a:pt x="1866645" y="0"/>
                  </a:lnTo>
                </a:path>
                <a:path w="2801620" h="312419">
                  <a:moveTo>
                    <a:pt x="1556004" y="312420"/>
                  </a:moveTo>
                  <a:lnTo>
                    <a:pt x="2177796" y="0"/>
                  </a:lnTo>
                </a:path>
                <a:path w="2801620" h="312419">
                  <a:moveTo>
                    <a:pt x="1556004" y="312420"/>
                  </a:moveTo>
                  <a:lnTo>
                    <a:pt x="2488437" y="0"/>
                  </a:lnTo>
                </a:path>
                <a:path w="2801620" h="312419">
                  <a:moveTo>
                    <a:pt x="1556004" y="312420"/>
                  </a:moveTo>
                  <a:lnTo>
                    <a:pt x="2800985" y="0"/>
                  </a:lnTo>
                </a:path>
                <a:path w="2801620" h="312419">
                  <a:moveTo>
                    <a:pt x="1866392" y="312420"/>
                  </a:moveTo>
                  <a:lnTo>
                    <a:pt x="310895" y="0"/>
                  </a:lnTo>
                </a:path>
                <a:path w="2801620" h="312419">
                  <a:moveTo>
                    <a:pt x="1866645" y="312420"/>
                  </a:moveTo>
                  <a:lnTo>
                    <a:pt x="621792" y="0"/>
                  </a:lnTo>
                </a:path>
                <a:path w="2801620" h="312419">
                  <a:moveTo>
                    <a:pt x="1866392" y="312420"/>
                  </a:moveTo>
                  <a:lnTo>
                    <a:pt x="932687" y="0"/>
                  </a:lnTo>
                </a:path>
                <a:path w="2801620" h="312419">
                  <a:moveTo>
                    <a:pt x="1866899" y="312420"/>
                  </a:moveTo>
                  <a:lnTo>
                    <a:pt x="1245108" y="0"/>
                  </a:lnTo>
                </a:path>
                <a:path w="2801620" h="312419">
                  <a:moveTo>
                    <a:pt x="1866645" y="312420"/>
                  </a:moveTo>
                  <a:lnTo>
                    <a:pt x="1556004" y="0"/>
                  </a:lnTo>
                </a:path>
                <a:path w="2801620" h="312419">
                  <a:moveTo>
                    <a:pt x="1866899" y="312420"/>
                  </a:moveTo>
                  <a:lnTo>
                    <a:pt x="1866899" y="0"/>
                  </a:lnTo>
                </a:path>
                <a:path w="2801620" h="312419">
                  <a:moveTo>
                    <a:pt x="1866899" y="312420"/>
                  </a:moveTo>
                  <a:lnTo>
                    <a:pt x="2177287" y="0"/>
                  </a:lnTo>
                </a:path>
                <a:path w="2801620" h="312419">
                  <a:moveTo>
                    <a:pt x="1866899" y="312420"/>
                  </a:moveTo>
                  <a:lnTo>
                    <a:pt x="2488565" y="0"/>
                  </a:lnTo>
                </a:path>
                <a:path w="2801620" h="312419">
                  <a:moveTo>
                    <a:pt x="1866899" y="312420"/>
                  </a:moveTo>
                  <a:lnTo>
                    <a:pt x="2801111" y="0"/>
                  </a:lnTo>
                </a:path>
                <a:path w="2801620" h="312419">
                  <a:moveTo>
                    <a:pt x="2177542" y="312420"/>
                  </a:moveTo>
                  <a:lnTo>
                    <a:pt x="310895" y="0"/>
                  </a:lnTo>
                </a:path>
                <a:path w="2801620" h="312419">
                  <a:moveTo>
                    <a:pt x="2177796" y="312420"/>
                  </a:moveTo>
                  <a:lnTo>
                    <a:pt x="621792" y="0"/>
                  </a:lnTo>
                </a:path>
                <a:path w="2801620" h="312419">
                  <a:moveTo>
                    <a:pt x="2177542" y="312420"/>
                  </a:moveTo>
                  <a:lnTo>
                    <a:pt x="932687" y="0"/>
                  </a:lnTo>
                </a:path>
                <a:path w="2801620" h="312419">
                  <a:moveTo>
                    <a:pt x="2177415" y="312420"/>
                  </a:moveTo>
                  <a:lnTo>
                    <a:pt x="1245108" y="0"/>
                  </a:lnTo>
                </a:path>
                <a:path w="2801620" h="312419">
                  <a:moveTo>
                    <a:pt x="2177796" y="312420"/>
                  </a:moveTo>
                  <a:lnTo>
                    <a:pt x="1556004" y="0"/>
                  </a:lnTo>
                </a:path>
                <a:path w="2801620" h="312419">
                  <a:moveTo>
                    <a:pt x="2177287" y="312420"/>
                  </a:moveTo>
                  <a:lnTo>
                    <a:pt x="1866899" y="0"/>
                  </a:lnTo>
                </a:path>
                <a:path w="2801620" h="312419">
                  <a:moveTo>
                    <a:pt x="2177796" y="312420"/>
                  </a:moveTo>
                  <a:lnTo>
                    <a:pt x="2177796" y="0"/>
                  </a:lnTo>
                </a:path>
                <a:path w="2801620" h="312419">
                  <a:moveTo>
                    <a:pt x="2177796" y="312420"/>
                  </a:moveTo>
                  <a:lnTo>
                    <a:pt x="2488310" y="0"/>
                  </a:lnTo>
                </a:path>
                <a:path w="2801620" h="312419">
                  <a:moveTo>
                    <a:pt x="2177796" y="312420"/>
                  </a:moveTo>
                  <a:lnTo>
                    <a:pt x="2800858" y="0"/>
                  </a:lnTo>
                </a:path>
                <a:path w="2801620" h="312419">
                  <a:moveTo>
                    <a:pt x="0" y="312420"/>
                  </a:moveTo>
                  <a:lnTo>
                    <a:pt x="621664" y="0"/>
                  </a:lnTo>
                </a:path>
                <a:path w="2801620" h="312419">
                  <a:moveTo>
                    <a:pt x="621664" y="3124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162811" y="2950464"/>
              <a:ext cx="196596" cy="196596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50976" y="2642616"/>
              <a:ext cx="311150" cy="312420"/>
            </a:xfrm>
            <a:custGeom>
              <a:avLst/>
              <a:gdLst/>
              <a:ahLst/>
              <a:cxnLst/>
              <a:rect l="l" t="t" r="r" b="b"/>
              <a:pathLst>
                <a:path w="311150" h="312419">
                  <a:moveTo>
                    <a:pt x="310642" y="312420"/>
                  </a:moveTo>
                  <a:lnTo>
                    <a:pt x="0" y="0"/>
                  </a:lnTo>
                </a:path>
                <a:path w="311150" h="312419">
                  <a:moveTo>
                    <a:pt x="310896" y="312420"/>
                  </a:moveTo>
                  <a:lnTo>
                    <a:pt x="310896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473708" y="2950464"/>
              <a:ext cx="196596" cy="196596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261872" y="2642616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19" h="312419">
                  <a:moveTo>
                    <a:pt x="0" y="312420"/>
                  </a:moveTo>
                  <a:lnTo>
                    <a:pt x="312166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786127" y="2950464"/>
              <a:ext cx="195072" cy="19659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261872" y="2642616"/>
              <a:ext cx="622935" cy="312420"/>
            </a:xfrm>
            <a:custGeom>
              <a:avLst/>
              <a:gdLst/>
              <a:ahLst/>
              <a:cxnLst/>
              <a:rect l="l" t="t" r="r" b="b"/>
              <a:pathLst>
                <a:path w="622935" h="312419">
                  <a:moveTo>
                    <a:pt x="0" y="312420"/>
                  </a:moveTo>
                  <a:lnTo>
                    <a:pt x="622808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097023" y="2950464"/>
              <a:ext cx="195072" cy="1965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261872" y="2642616"/>
              <a:ext cx="934085" cy="312420"/>
            </a:xfrm>
            <a:custGeom>
              <a:avLst/>
              <a:gdLst/>
              <a:ahLst/>
              <a:cxnLst/>
              <a:rect l="l" t="t" r="r" b="b"/>
              <a:pathLst>
                <a:path w="934085" h="312419">
                  <a:moveTo>
                    <a:pt x="0" y="312420"/>
                  </a:moveTo>
                  <a:lnTo>
                    <a:pt x="933577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407920" y="2950464"/>
              <a:ext cx="195071" cy="19659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261872" y="2642616"/>
              <a:ext cx="1245235" cy="312420"/>
            </a:xfrm>
            <a:custGeom>
              <a:avLst/>
              <a:gdLst/>
              <a:ahLst/>
              <a:cxnLst/>
              <a:rect l="l" t="t" r="r" b="b"/>
              <a:pathLst>
                <a:path w="1245235" h="312419">
                  <a:moveTo>
                    <a:pt x="0" y="312420"/>
                  </a:moveTo>
                  <a:lnTo>
                    <a:pt x="1244727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718816" y="2950464"/>
              <a:ext cx="196595" cy="196596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950976" y="2642616"/>
              <a:ext cx="1866900" cy="312420"/>
            </a:xfrm>
            <a:custGeom>
              <a:avLst/>
              <a:gdLst/>
              <a:ahLst/>
              <a:cxnLst/>
              <a:rect l="l" t="t" r="r" b="b"/>
              <a:pathLst>
                <a:path w="1866900" h="312419">
                  <a:moveTo>
                    <a:pt x="310896" y="312420"/>
                  </a:moveTo>
                  <a:lnTo>
                    <a:pt x="1866392" y="0"/>
                  </a:lnTo>
                </a:path>
                <a:path w="1866900" h="312419">
                  <a:moveTo>
                    <a:pt x="622935" y="312420"/>
                  </a:moveTo>
                  <a:lnTo>
                    <a:pt x="0" y="0"/>
                  </a:lnTo>
                </a:path>
                <a:path w="1866900" h="312419">
                  <a:moveTo>
                    <a:pt x="623062" y="312420"/>
                  </a:moveTo>
                  <a:lnTo>
                    <a:pt x="310896" y="0"/>
                  </a:lnTo>
                </a:path>
                <a:path w="1866900" h="312419">
                  <a:moveTo>
                    <a:pt x="621792" y="312420"/>
                  </a:moveTo>
                  <a:lnTo>
                    <a:pt x="621792" y="0"/>
                  </a:lnTo>
                </a:path>
                <a:path w="1866900" h="312419">
                  <a:moveTo>
                    <a:pt x="621792" y="312420"/>
                  </a:moveTo>
                  <a:lnTo>
                    <a:pt x="934085" y="0"/>
                  </a:lnTo>
                </a:path>
                <a:path w="1866900" h="312419">
                  <a:moveTo>
                    <a:pt x="621792" y="312420"/>
                  </a:moveTo>
                  <a:lnTo>
                    <a:pt x="1244854" y="0"/>
                  </a:lnTo>
                </a:path>
                <a:path w="1866900" h="312419">
                  <a:moveTo>
                    <a:pt x="621792" y="312420"/>
                  </a:moveTo>
                  <a:lnTo>
                    <a:pt x="1556004" y="0"/>
                  </a:lnTo>
                </a:path>
                <a:path w="1866900" h="312419">
                  <a:moveTo>
                    <a:pt x="621792" y="312420"/>
                  </a:moveTo>
                  <a:lnTo>
                    <a:pt x="1866773" y="0"/>
                  </a:lnTo>
                </a:path>
                <a:path w="1866900" h="312419">
                  <a:moveTo>
                    <a:pt x="934212" y="312420"/>
                  </a:moveTo>
                  <a:lnTo>
                    <a:pt x="0" y="0"/>
                  </a:lnTo>
                </a:path>
                <a:path w="1866900" h="312419">
                  <a:moveTo>
                    <a:pt x="933704" y="312420"/>
                  </a:moveTo>
                  <a:lnTo>
                    <a:pt x="310896" y="0"/>
                  </a:lnTo>
                </a:path>
                <a:path w="1866900" h="312419">
                  <a:moveTo>
                    <a:pt x="934085" y="312420"/>
                  </a:moveTo>
                  <a:lnTo>
                    <a:pt x="621792" y="0"/>
                  </a:lnTo>
                </a:path>
                <a:path w="1866900" h="312419">
                  <a:moveTo>
                    <a:pt x="934212" y="312420"/>
                  </a:moveTo>
                  <a:lnTo>
                    <a:pt x="934212" y="0"/>
                  </a:lnTo>
                </a:path>
                <a:path w="1866900" h="312419">
                  <a:moveTo>
                    <a:pt x="934212" y="312420"/>
                  </a:moveTo>
                  <a:lnTo>
                    <a:pt x="1244854" y="0"/>
                  </a:lnTo>
                </a:path>
                <a:path w="1866900" h="312419">
                  <a:moveTo>
                    <a:pt x="934212" y="312420"/>
                  </a:moveTo>
                  <a:lnTo>
                    <a:pt x="1556004" y="0"/>
                  </a:lnTo>
                </a:path>
                <a:path w="1866900" h="312419">
                  <a:moveTo>
                    <a:pt x="934212" y="312420"/>
                  </a:moveTo>
                  <a:lnTo>
                    <a:pt x="1866773" y="0"/>
                  </a:lnTo>
                </a:path>
                <a:path w="1866900" h="312419">
                  <a:moveTo>
                    <a:pt x="1244981" y="312420"/>
                  </a:moveTo>
                  <a:lnTo>
                    <a:pt x="0" y="0"/>
                  </a:lnTo>
                </a:path>
                <a:path w="1866900" h="312419">
                  <a:moveTo>
                    <a:pt x="1244473" y="312420"/>
                  </a:moveTo>
                  <a:lnTo>
                    <a:pt x="310896" y="0"/>
                  </a:lnTo>
                </a:path>
                <a:path w="1866900" h="312419">
                  <a:moveTo>
                    <a:pt x="1244854" y="312420"/>
                  </a:moveTo>
                  <a:lnTo>
                    <a:pt x="621792" y="0"/>
                  </a:lnTo>
                </a:path>
                <a:path w="1866900" h="312419">
                  <a:moveTo>
                    <a:pt x="1244854" y="312420"/>
                  </a:moveTo>
                  <a:lnTo>
                    <a:pt x="934212" y="0"/>
                  </a:lnTo>
                </a:path>
                <a:path w="1866900" h="312419">
                  <a:moveTo>
                    <a:pt x="1245108" y="312420"/>
                  </a:moveTo>
                  <a:lnTo>
                    <a:pt x="1245108" y="0"/>
                  </a:lnTo>
                </a:path>
                <a:path w="1866900" h="312419">
                  <a:moveTo>
                    <a:pt x="1245108" y="312420"/>
                  </a:moveTo>
                  <a:lnTo>
                    <a:pt x="1555496" y="0"/>
                  </a:lnTo>
                </a:path>
                <a:path w="1866900" h="312419">
                  <a:moveTo>
                    <a:pt x="1245108" y="312420"/>
                  </a:moveTo>
                  <a:lnTo>
                    <a:pt x="1866900" y="0"/>
                  </a:lnTo>
                </a:path>
                <a:path w="1866900" h="312419">
                  <a:moveTo>
                    <a:pt x="1555496" y="312420"/>
                  </a:moveTo>
                  <a:lnTo>
                    <a:pt x="0" y="0"/>
                  </a:lnTo>
                </a:path>
                <a:path w="1866900" h="312419">
                  <a:moveTo>
                    <a:pt x="1555623" y="312420"/>
                  </a:moveTo>
                  <a:lnTo>
                    <a:pt x="310896" y="0"/>
                  </a:lnTo>
                </a:path>
                <a:path w="1866900" h="312419">
                  <a:moveTo>
                    <a:pt x="1556004" y="312420"/>
                  </a:moveTo>
                  <a:lnTo>
                    <a:pt x="621792" y="0"/>
                  </a:lnTo>
                </a:path>
                <a:path w="1866900" h="312419">
                  <a:moveTo>
                    <a:pt x="1556004" y="312420"/>
                  </a:moveTo>
                  <a:lnTo>
                    <a:pt x="934212" y="0"/>
                  </a:lnTo>
                </a:path>
                <a:path w="1866900" h="312419">
                  <a:moveTo>
                    <a:pt x="1555496" y="312420"/>
                  </a:moveTo>
                  <a:lnTo>
                    <a:pt x="1245108" y="0"/>
                  </a:lnTo>
                </a:path>
                <a:path w="1866900" h="312419">
                  <a:moveTo>
                    <a:pt x="1556004" y="312420"/>
                  </a:moveTo>
                  <a:lnTo>
                    <a:pt x="1556004" y="0"/>
                  </a:lnTo>
                </a:path>
                <a:path w="1866900" h="312419">
                  <a:moveTo>
                    <a:pt x="1556004" y="312420"/>
                  </a:moveTo>
                  <a:lnTo>
                    <a:pt x="1866646" y="0"/>
                  </a:lnTo>
                </a:path>
                <a:path w="1866900" h="312419">
                  <a:moveTo>
                    <a:pt x="1866900" y="312420"/>
                  </a:moveTo>
                  <a:lnTo>
                    <a:pt x="0" y="0"/>
                  </a:lnTo>
                </a:path>
                <a:path w="1866900" h="312419">
                  <a:moveTo>
                    <a:pt x="1866392" y="312420"/>
                  </a:moveTo>
                  <a:lnTo>
                    <a:pt x="310896" y="0"/>
                  </a:lnTo>
                </a:path>
                <a:path w="1866900" h="312419">
                  <a:moveTo>
                    <a:pt x="1866773" y="312420"/>
                  </a:moveTo>
                  <a:lnTo>
                    <a:pt x="621792" y="0"/>
                  </a:lnTo>
                </a:path>
                <a:path w="1866900" h="312419">
                  <a:moveTo>
                    <a:pt x="1866773" y="312420"/>
                  </a:moveTo>
                  <a:lnTo>
                    <a:pt x="934212" y="0"/>
                  </a:lnTo>
                </a:path>
                <a:path w="1866900" h="312419">
                  <a:moveTo>
                    <a:pt x="1866900" y="312420"/>
                  </a:moveTo>
                  <a:lnTo>
                    <a:pt x="1245108" y="0"/>
                  </a:lnTo>
                </a:path>
                <a:path w="1866900" h="312419">
                  <a:moveTo>
                    <a:pt x="1866646" y="312420"/>
                  </a:moveTo>
                  <a:lnTo>
                    <a:pt x="1556004" y="0"/>
                  </a:lnTo>
                </a:path>
                <a:path w="1866900" h="312419">
                  <a:moveTo>
                    <a:pt x="1866900" y="312420"/>
                  </a:moveTo>
                  <a:lnTo>
                    <a:pt x="1866900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032760" y="2950464"/>
              <a:ext cx="195072" cy="1965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817876" y="2642616"/>
              <a:ext cx="310515" cy="312420"/>
            </a:xfrm>
            <a:custGeom>
              <a:avLst/>
              <a:gdLst/>
              <a:ahLst/>
              <a:cxnLst/>
              <a:rect l="l" t="t" r="r" b="b"/>
              <a:pathLst>
                <a:path w="310514" h="312419">
                  <a:moveTo>
                    <a:pt x="0" y="312420"/>
                  </a:moveTo>
                  <a:lnTo>
                    <a:pt x="310515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343655" y="2950464"/>
              <a:ext cx="196596" cy="1965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817876" y="2642616"/>
              <a:ext cx="622935" cy="312420"/>
            </a:xfrm>
            <a:custGeom>
              <a:avLst/>
              <a:gdLst/>
              <a:ahLst/>
              <a:cxnLst/>
              <a:rect l="l" t="t" r="r" b="b"/>
              <a:pathLst>
                <a:path w="622935" h="312419">
                  <a:moveTo>
                    <a:pt x="0" y="312420"/>
                  </a:moveTo>
                  <a:lnTo>
                    <a:pt x="622808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654551" y="2950464"/>
              <a:ext cx="196596" cy="196596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817876" y="2642616"/>
              <a:ext cx="934719" cy="312420"/>
            </a:xfrm>
            <a:custGeom>
              <a:avLst/>
              <a:gdLst/>
              <a:ahLst/>
              <a:cxnLst/>
              <a:rect l="l" t="t" r="r" b="b"/>
              <a:pathLst>
                <a:path w="934720" h="312419">
                  <a:moveTo>
                    <a:pt x="0" y="312420"/>
                  </a:moveTo>
                  <a:lnTo>
                    <a:pt x="934212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965448" y="2950464"/>
              <a:ext cx="196596" cy="196596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817876" y="2642616"/>
              <a:ext cx="1245235" cy="312420"/>
            </a:xfrm>
            <a:custGeom>
              <a:avLst/>
              <a:gdLst/>
              <a:ahLst/>
              <a:cxnLst/>
              <a:rect l="l" t="t" r="r" b="b"/>
              <a:pathLst>
                <a:path w="1245235" h="312419">
                  <a:moveTo>
                    <a:pt x="0" y="312420"/>
                  </a:moveTo>
                  <a:lnTo>
                    <a:pt x="1244727" y="0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277868" y="2950464"/>
              <a:ext cx="195072" cy="196596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260347" y="2642616"/>
              <a:ext cx="3424554" cy="812800"/>
            </a:xfrm>
            <a:custGeom>
              <a:avLst/>
              <a:gdLst/>
              <a:ahLst/>
              <a:cxnLst/>
              <a:rect l="l" t="t" r="r" b="b"/>
              <a:pathLst>
                <a:path w="3424554" h="812800">
                  <a:moveTo>
                    <a:pt x="1557528" y="312420"/>
                  </a:moveTo>
                  <a:lnTo>
                    <a:pt x="3113024" y="0"/>
                  </a:lnTo>
                </a:path>
                <a:path w="3424554" h="812800">
                  <a:moveTo>
                    <a:pt x="1557528" y="312420"/>
                  </a:moveTo>
                  <a:lnTo>
                    <a:pt x="3424174" y="0"/>
                  </a:lnTo>
                </a:path>
                <a:path w="3424554" h="812800">
                  <a:moveTo>
                    <a:pt x="1868043" y="312420"/>
                  </a:moveTo>
                  <a:lnTo>
                    <a:pt x="1557528" y="0"/>
                  </a:lnTo>
                </a:path>
                <a:path w="3424554" h="812800">
                  <a:moveTo>
                    <a:pt x="1868424" y="312420"/>
                  </a:moveTo>
                  <a:lnTo>
                    <a:pt x="1868424" y="0"/>
                  </a:lnTo>
                </a:path>
                <a:path w="3424554" h="812800">
                  <a:moveTo>
                    <a:pt x="1868424" y="312420"/>
                  </a:moveTo>
                  <a:lnTo>
                    <a:pt x="2180590" y="0"/>
                  </a:lnTo>
                </a:path>
                <a:path w="3424554" h="812800">
                  <a:moveTo>
                    <a:pt x="1868424" y="312420"/>
                  </a:moveTo>
                  <a:lnTo>
                    <a:pt x="2491359" y="0"/>
                  </a:lnTo>
                </a:path>
                <a:path w="3424554" h="812800">
                  <a:moveTo>
                    <a:pt x="1868424" y="312420"/>
                  </a:moveTo>
                  <a:lnTo>
                    <a:pt x="2802509" y="0"/>
                  </a:lnTo>
                </a:path>
                <a:path w="3424554" h="812800">
                  <a:moveTo>
                    <a:pt x="1868424" y="312420"/>
                  </a:moveTo>
                  <a:lnTo>
                    <a:pt x="3113278" y="0"/>
                  </a:lnTo>
                </a:path>
                <a:path w="3424554" h="812800">
                  <a:moveTo>
                    <a:pt x="1868424" y="312420"/>
                  </a:moveTo>
                  <a:lnTo>
                    <a:pt x="3424428" y="0"/>
                  </a:lnTo>
                </a:path>
                <a:path w="3424554" h="812800">
                  <a:moveTo>
                    <a:pt x="2180336" y="312420"/>
                  </a:moveTo>
                  <a:lnTo>
                    <a:pt x="1557528" y="0"/>
                  </a:lnTo>
                </a:path>
                <a:path w="3424554" h="812800">
                  <a:moveTo>
                    <a:pt x="2180590" y="312420"/>
                  </a:moveTo>
                  <a:lnTo>
                    <a:pt x="1868424" y="0"/>
                  </a:lnTo>
                </a:path>
                <a:path w="3424554" h="812800">
                  <a:moveTo>
                    <a:pt x="2179319" y="312420"/>
                  </a:moveTo>
                  <a:lnTo>
                    <a:pt x="2179319" y="0"/>
                  </a:lnTo>
                </a:path>
                <a:path w="3424554" h="812800">
                  <a:moveTo>
                    <a:pt x="2179319" y="312420"/>
                  </a:moveTo>
                  <a:lnTo>
                    <a:pt x="2491740" y="0"/>
                  </a:lnTo>
                </a:path>
                <a:path w="3424554" h="812800">
                  <a:moveTo>
                    <a:pt x="2179319" y="312420"/>
                  </a:moveTo>
                  <a:lnTo>
                    <a:pt x="2802254" y="0"/>
                  </a:lnTo>
                </a:path>
                <a:path w="3424554" h="812800">
                  <a:moveTo>
                    <a:pt x="2179319" y="312420"/>
                  </a:moveTo>
                  <a:lnTo>
                    <a:pt x="3113024" y="0"/>
                  </a:lnTo>
                </a:path>
                <a:path w="3424554" h="812800">
                  <a:moveTo>
                    <a:pt x="2179319" y="312420"/>
                  </a:moveTo>
                  <a:lnTo>
                    <a:pt x="3424174" y="0"/>
                  </a:lnTo>
                </a:path>
                <a:path w="3424554" h="812800">
                  <a:moveTo>
                    <a:pt x="2491740" y="312420"/>
                  </a:moveTo>
                  <a:lnTo>
                    <a:pt x="1557528" y="0"/>
                  </a:lnTo>
                </a:path>
                <a:path w="3424554" h="812800">
                  <a:moveTo>
                    <a:pt x="2491359" y="312420"/>
                  </a:moveTo>
                  <a:lnTo>
                    <a:pt x="1868424" y="0"/>
                  </a:lnTo>
                </a:path>
                <a:path w="3424554" h="812800">
                  <a:moveTo>
                    <a:pt x="2491740" y="312420"/>
                  </a:moveTo>
                  <a:lnTo>
                    <a:pt x="2179319" y="0"/>
                  </a:lnTo>
                </a:path>
                <a:path w="3424554" h="812800">
                  <a:moveTo>
                    <a:pt x="2491740" y="312420"/>
                  </a:moveTo>
                  <a:lnTo>
                    <a:pt x="2491740" y="0"/>
                  </a:lnTo>
                </a:path>
                <a:path w="3424554" h="812800">
                  <a:moveTo>
                    <a:pt x="2491740" y="312420"/>
                  </a:moveTo>
                  <a:lnTo>
                    <a:pt x="2802128" y="0"/>
                  </a:lnTo>
                </a:path>
                <a:path w="3424554" h="812800">
                  <a:moveTo>
                    <a:pt x="2491740" y="312420"/>
                  </a:moveTo>
                  <a:lnTo>
                    <a:pt x="3113531" y="0"/>
                  </a:lnTo>
                </a:path>
                <a:path w="3424554" h="812800">
                  <a:moveTo>
                    <a:pt x="2491740" y="312420"/>
                  </a:moveTo>
                  <a:lnTo>
                    <a:pt x="3424047" y="0"/>
                  </a:lnTo>
                </a:path>
                <a:path w="3424554" h="812800">
                  <a:moveTo>
                    <a:pt x="2802254" y="312420"/>
                  </a:moveTo>
                  <a:lnTo>
                    <a:pt x="1557528" y="0"/>
                  </a:lnTo>
                </a:path>
                <a:path w="3424554" h="812800">
                  <a:moveTo>
                    <a:pt x="2802509" y="312420"/>
                  </a:moveTo>
                  <a:lnTo>
                    <a:pt x="1868424" y="0"/>
                  </a:lnTo>
                </a:path>
                <a:path w="3424554" h="812800">
                  <a:moveTo>
                    <a:pt x="2802254" y="312420"/>
                  </a:moveTo>
                  <a:lnTo>
                    <a:pt x="2179319" y="0"/>
                  </a:lnTo>
                </a:path>
                <a:path w="3424554" h="812800">
                  <a:moveTo>
                    <a:pt x="2802128" y="312420"/>
                  </a:moveTo>
                  <a:lnTo>
                    <a:pt x="2491740" y="0"/>
                  </a:lnTo>
                </a:path>
                <a:path w="3424554" h="812800">
                  <a:moveTo>
                    <a:pt x="2802636" y="312420"/>
                  </a:moveTo>
                  <a:lnTo>
                    <a:pt x="2802636" y="0"/>
                  </a:lnTo>
                </a:path>
                <a:path w="3424554" h="812800">
                  <a:moveTo>
                    <a:pt x="2802636" y="312420"/>
                  </a:moveTo>
                  <a:lnTo>
                    <a:pt x="3113278" y="0"/>
                  </a:lnTo>
                </a:path>
                <a:path w="3424554" h="812800">
                  <a:moveTo>
                    <a:pt x="2802636" y="312420"/>
                  </a:moveTo>
                  <a:lnTo>
                    <a:pt x="3424428" y="0"/>
                  </a:lnTo>
                </a:path>
                <a:path w="3424554" h="812800">
                  <a:moveTo>
                    <a:pt x="3113024" y="312420"/>
                  </a:moveTo>
                  <a:lnTo>
                    <a:pt x="1557528" y="0"/>
                  </a:lnTo>
                </a:path>
                <a:path w="3424554" h="812800">
                  <a:moveTo>
                    <a:pt x="3113278" y="312420"/>
                  </a:moveTo>
                  <a:lnTo>
                    <a:pt x="1868424" y="0"/>
                  </a:lnTo>
                </a:path>
                <a:path w="3424554" h="812800">
                  <a:moveTo>
                    <a:pt x="3113024" y="312420"/>
                  </a:moveTo>
                  <a:lnTo>
                    <a:pt x="2179319" y="0"/>
                  </a:lnTo>
                </a:path>
                <a:path w="3424554" h="812800">
                  <a:moveTo>
                    <a:pt x="3113531" y="312420"/>
                  </a:moveTo>
                  <a:lnTo>
                    <a:pt x="2491740" y="0"/>
                  </a:lnTo>
                </a:path>
                <a:path w="3424554" h="812800">
                  <a:moveTo>
                    <a:pt x="3113278" y="312420"/>
                  </a:moveTo>
                  <a:lnTo>
                    <a:pt x="2802636" y="0"/>
                  </a:lnTo>
                </a:path>
                <a:path w="3424554" h="812800">
                  <a:moveTo>
                    <a:pt x="3113531" y="312420"/>
                  </a:moveTo>
                  <a:lnTo>
                    <a:pt x="3113531" y="0"/>
                  </a:lnTo>
                </a:path>
                <a:path w="3424554" h="812800">
                  <a:moveTo>
                    <a:pt x="3113531" y="312420"/>
                  </a:moveTo>
                  <a:lnTo>
                    <a:pt x="3423919" y="0"/>
                  </a:lnTo>
                </a:path>
                <a:path w="3424554" h="812800">
                  <a:moveTo>
                    <a:pt x="1246632" y="312420"/>
                  </a:moveTo>
                  <a:lnTo>
                    <a:pt x="1868297" y="0"/>
                  </a:lnTo>
                </a:path>
                <a:path w="3424554" h="812800">
                  <a:moveTo>
                    <a:pt x="1868297" y="312420"/>
                  </a:moveTo>
                  <a:lnTo>
                    <a:pt x="1246632" y="0"/>
                  </a:lnTo>
                </a:path>
                <a:path w="3424554" h="812800">
                  <a:moveTo>
                    <a:pt x="312166" y="812292"/>
                  </a:moveTo>
                  <a:lnTo>
                    <a:pt x="0" y="499872"/>
                  </a:lnTo>
                </a:path>
                <a:path w="3424554" h="812800">
                  <a:moveTo>
                    <a:pt x="312420" y="812292"/>
                  </a:moveTo>
                  <a:lnTo>
                    <a:pt x="312420" y="499872"/>
                  </a:lnTo>
                </a:path>
                <a:path w="3424554" h="812800">
                  <a:moveTo>
                    <a:pt x="312420" y="812292"/>
                  </a:moveTo>
                  <a:lnTo>
                    <a:pt x="622935" y="499872"/>
                  </a:lnTo>
                </a:path>
                <a:path w="3424554" h="812800">
                  <a:moveTo>
                    <a:pt x="312420" y="812292"/>
                  </a:moveTo>
                  <a:lnTo>
                    <a:pt x="933704" y="499872"/>
                  </a:lnTo>
                </a:path>
                <a:path w="3424554" h="812800">
                  <a:moveTo>
                    <a:pt x="312420" y="812292"/>
                  </a:moveTo>
                  <a:lnTo>
                    <a:pt x="1244854" y="499872"/>
                  </a:lnTo>
                </a:path>
                <a:path w="3424554" h="812800">
                  <a:moveTo>
                    <a:pt x="312420" y="812292"/>
                  </a:moveTo>
                  <a:lnTo>
                    <a:pt x="1555623" y="499872"/>
                  </a:lnTo>
                </a:path>
                <a:path w="3424554" h="812800">
                  <a:moveTo>
                    <a:pt x="622808" y="812292"/>
                  </a:moveTo>
                  <a:lnTo>
                    <a:pt x="0" y="499872"/>
                  </a:lnTo>
                </a:path>
                <a:path w="3424554" h="812800">
                  <a:moveTo>
                    <a:pt x="622935" y="812292"/>
                  </a:moveTo>
                  <a:lnTo>
                    <a:pt x="312420" y="499872"/>
                  </a:lnTo>
                </a:path>
                <a:path w="3424554" h="812800">
                  <a:moveTo>
                    <a:pt x="623316" y="812292"/>
                  </a:moveTo>
                  <a:lnTo>
                    <a:pt x="623316" y="499872"/>
                  </a:lnTo>
                </a:path>
                <a:path w="3424554" h="812800">
                  <a:moveTo>
                    <a:pt x="623316" y="812292"/>
                  </a:moveTo>
                  <a:lnTo>
                    <a:pt x="933958" y="499872"/>
                  </a:lnTo>
                </a:path>
                <a:path w="3424554" h="812800">
                  <a:moveTo>
                    <a:pt x="623316" y="812292"/>
                  </a:moveTo>
                  <a:lnTo>
                    <a:pt x="1245108" y="499872"/>
                  </a:lnTo>
                </a:path>
                <a:path w="3424554" h="812800">
                  <a:moveTo>
                    <a:pt x="623316" y="812292"/>
                  </a:moveTo>
                  <a:lnTo>
                    <a:pt x="1555877" y="499872"/>
                  </a:lnTo>
                </a:path>
                <a:path w="3424554" h="812800">
                  <a:moveTo>
                    <a:pt x="933577" y="812292"/>
                  </a:moveTo>
                  <a:lnTo>
                    <a:pt x="0" y="499872"/>
                  </a:lnTo>
                </a:path>
                <a:path w="3424554" h="812800">
                  <a:moveTo>
                    <a:pt x="933704" y="812292"/>
                  </a:moveTo>
                  <a:lnTo>
                    <a:pt x="312420" y="499872"/>
                  </a:lnTo>
                </a:path>
                <a:path w="3424554" h="812800">
                  <a:moveTo>
                    <a:pt x="933958" y="812292"/>
                  </a:moveTo>
                  <a:lnTo>
                    <a:pt x="623316" y="499872"/>
                  </a:lnTo>
                </a:path>
                <a:path w="3424554" h="812800">
                  <a:moveTo>
                    <a:pt x="934212" y="812292"/>
                  </a:moveTo>
                  <a:lnTo>
                    <a:pt x="934212" y="499872"/>
                  </a:lnTo>
                </a:path>
                <a:path w="3424554" h="812800">
                  <a:moveTo>
                    <a:pt x="934212" y="812292"/>
                  </a:moveTo>
                  <a:lnTo>
                    <a:pt x="1244600" y="499872"/>
                  </a:lnTo>
                </a:path>
                <a:path w="3424554" h="812800">
                  <a:moveTo>
                    <a:pt x="934212" y="812292"/>
                  </a:moveTo>
                  <a:lnTo>
                    <a:pt x="1556004" y="499872"/>
                  </a:lnTo>
                </a:path>
                <a:path w="3424554" h="812800">
                  <a:moveTo>
                    <a:pt x="1244727" y="812292"/>
                  </a:moveTo>
                  <a:lnTo>
                    <a:pt x="0" y="499872"/>
                  </a:lnTo>
                </a:path>
                <a:path w="3424554" h="812800">
                  <a:moveTo>
                    <a:pt x="1244854" y="812292"/>
                  </a:moveTo>
                  <a:lnTo>
                    <a:pt x="312420" y="499872"/>
                  </a:lnTo>
                </a:path>
                <a:path w="3424554" h="812800">
                  <a:moveTo>
                    <a:pt x="1245108" y="812292"/>
                  </a:moveTo>
                  <a:lnTo>
                    <a:pt x="623316" y="499872"/>
                  </a:lnTo>
                </a:path>
                <a:path w="3424554" h="812800">
                  <a:moveTo>
                    <a:pt x="1244600" y="812292"/>
                  </a:moveTo>
                  <a:lnTo>
                    <a:pt x="934212" y="499872"/>
                  </a:lnTo>
                </a:path>
                <a:path w="3424554" h="812800">
                  <a:moveTo>
                    <a:pt x="1245108" y="812292"/>
                  </a:moveTo>
                  <a:lnTo>
                    <a:pt x="1245108" y="499872"/>
                  </a:lnTo>
                </a:path>
                <a:path w="3424554" h="812800">
                  <a:moveTo>
                    <a:pt x="1245108" y="812292"/>
                  </a:moveTo>
                  <a:lnTo>
                    <a:pt x="1555750" y="499872"/>
                  </a:lnTo>
                </a:path>
                <a:path w="3424554" h="812800">
                  <a:moveTo>
                    <a:pt x="1555496" y="812292"/>
                  </a:moveTo>
                  <a:lnTo>
                    <a:pt x="0" y="499872"/>
                  </a:lnTo>
                </a:path>
                <a:path w="3424554" h="812800">
                  <a:moveTo>
                    <a:pt x="1555623" y="812292"/>
                  </a:moveTo>
                  <a:lnTo>
                    <a:pt x="312420" y="499872"/>
                  </a:lnTo>
                </a:path>
                <a:path w="3424554" h="812800">
                  <a:moveTo>
                    <a:pt x="1555877" y="812292"/>
                  </a:moveTo>
                  <a:lnTo>
                    <a:pt x="623316" y="499872"/>
                  </a:lnTo>
                </a:path>
                <a:path w="3424554" h="812800">
                  <a:moveTo>
                    <a:pt x="1556004" y="812292"/>
                  </a:moveTo>
                  <a:lnTo>
                    <a:pt x="934212" y="499872"/>
                  </a:lnTo>
                </a:path>
                <a:path w="3424554" h="812800">
                  <a:moveTo>
                    <a:pt x="1555750" y="812292"/>
                  </a:moveTo>
                  <a:lnTo>
                    <a:pt x="1245108" y="499872"/>
                  </a:lnTo>
                </a:path>
                <a:path w="3424554" h="812800">
                  <a:moveTo>
                    <a:pt x="1556004" y="812292"/>
                  </a:moveTo>
                  <a:lnTo>
                    <a:pt x="1556004" y="499872"/>
                  </a:lnTo>
                </a:path>
                <a:path w="3424554" h="812800">
                  <a:moveTo>
                    <a:pt x="1559052" y="812292"/>
                  </a:moveTo>
                  <a:lnTo>
                    <a:pt x="1869566" y="499872"/>
                  </a:lnTo>
                </a:path>
                <a:path w="3424554" h="812800">
                  <a:moveTo>
                    <a:pt x="1559052" y="812292"/>
                  </a:moveTo>
                  <a:lnTo>
                    <a:pt x="2180716" y="499872"/>
                  </a:lnTo>
                </a:path>
                <a:path w="3424554" h="812800">
                  <a:moveTo>
                    <a:pt x="1559052" y="812292"/>
                  </a:moveTo>
                  <a:lnTo>
                    <a:pt x="2493264" y="499872"/>
                  </a:lnTo>
                </a:path>
                <a:path w="3424554" h="812800">
                  <a:moveTo>
                    <a:pt x="1559052" y="812292"/>
                  </a:moveTo>
                  <a:lnTo>
                    <a:pt x="2803779" y="499872"/>
                  </a:lnTo>
                </a:path>
                <a:path w="3424554" h="812800">
                  <a:moveTo>
                    <a:pt x="1559052" y="812292"/>
                  </a:moveTo>
                  <a:lnTo>
                    <a:pt x="3114548" y="499872"/>
                  </a:lnTo>
                </a:path>
                <a:path w="3424554" h="812800">
                  <a:moveTo>
                    <a:pt x="1869566" y="812292"/>
                  </a:moveTo>
                  <a:lnTo>
                    <a:pt x="1559052" y="499872"/>
                  </a:lnTo>
                </a:path>
                <a:path w="3424554" h="812800">
                  <a:moveTo>
                    <a:pt x="1869948" y="812292"/>
                  </a:moveTo>
                  <a:lnTo>
                    <a:pt x="1869948" y="499872"/>
                  </a:lnTo>
                </a:path>
                <a:path w="3424554" h="812800">
                  <a:moveTo>
                    <a:pt x="1869948" y="812292"/>
                  </a:moveTo>
                  <a:lnTo>
                    <a:pt x="2180336" y="499872"/>
                  </a:lnTo>
                </a:path>
                <a:path w="3424554" h="812800">
                  <a:moveTo>
                    <a:pt x="1869948" y="812292"/>
                  </a:moveTo>
                  <a:lnTo>
                    <a:pt x="2492882" y="499872"/>
                  </a:lnTo>
                </a:path>
                <a:path w="3424554" h="812800">
                  <a:moveTo>
                    <a:pt x="1869948" y="812292"/>
                  </a:moveTo>
                  <a:lnTo>
                    <a:pt x="2804032" y="499872"/>
                  </a:lnTo>
                </a:path>
                <a:path w="3424554" h="812800">
                  <a:moveTo>
                    <a:pt x="1869948" y="812292"/>
                  </a:moveTo>
                  <a:lnTo>
                    <a:pt x="3114802" y="499872"/>
                  </a:lnTo>
                </a:path>
                <a:path w="3424554" h="812800">
                  <a:moveTo>
                    <a:pt x="2180716" y="812292"/>
                  </a:moveTo>
                  <a:lnTo>
                    <a:pt x="1559052" y="499872"/>
                  </a:lnTo>
                </a:path>
                <a:path w="3424554" h="812800">
                  <a:moveTo>
                    <a:pt x="2180336" y="812292"/>
                  </a:moveTo>
                  <a:lnTo>
                    <a:pt x="1869948" y="499872"/>
                  </a:lnTo>
                </a:path>
                <a:path w="3424554" h="812800">
                  <a:moveTo>
                    <a:pt x="2180843" y="812292"/>
                  </a:moveTo>
                  <a:lnTo>
                    <a:pt x="2180843" y="499872"/>
                  </a:lnTo>
                </a:path>
                <a:path w="3424554" h="812800">
                  <a:moveTo>
                    <a:pt x="2180843" y="812292"/>
                  </a:moveTo>
                  <a:lnTo>
                    <a:pt x="2493264" y="499872"/>
                  </a:lnTo>
                </a:path>
                <a:path w="3424554" h="812800">
                  <a:moveTo>
                    <a:pt x="2180843" y="812292"/>
                  </a:moveTo>
                  <a:lnTo>
                    <a:pt x="2803779" y="499872"/>
                  </a:lnTo>
                </a:path>
                <a:path w="3424554" h="812800">
                  <a:moveTo>
                    <a:pt x="2180843" y="812292"/>
                  </a:moveTo>
                  <a:lnTo>
                    <a:pt x="3114548" y="499872"/>
                  </a:lnTo>
                </a:path>
                <a:path w="3424554" h="812800">
                  <a:moveTo>
                    <a:pt x="2493264" y="812292"/>
                  </a:moveTo>
                  <a:lnTo>
                    <a:pt x="1559052" y="499872"/>
                  </a:lnTo>
                </a:path>
                <a:path w="3424554" h="812800">
                  <a:moveTo>
                    <a:pt x="2492882" y="812292"/>
                  </a:moveTo>
                  <a:lnTo>
                    <a:pt x="1869948" y="499872"/>
                  </a:lnTo>
                </a:path>
                <a:path w="3424554" h="812800">
                  <a:moveTo>
                    <a:pt x="2493264" y="812292"/>
                  </a:moveTo>
                  <a:lnTo>
                    <a:pt x="2180843" y="499872"/>
                  </a:lnTo>
                </a:path>
                <a:path w="3424554" h="812800">
                  <a:moveTo>
                    <a:pt x="2493264" y="812292"/>
                  </a:moveTo>
                  <a:lnTo>
                    <a:pt x="2493264" y="499872"/>
                  </a:lnTo>
                </a:path>
                <a:path w="3424554" h="812800">
                  <a:moveTo>
                    <a:pt x="2491740" y="812292"/>
                  </a:moveTo>
                  <a:lnTo>
                    <a:pt x="2803905" y="499872"/>
                  </a:lnTo>
                </a:path>
                <a:path w="3424554" h="812800">
                  <a:moveTo>
                    <a:pt x="2491740" y="812292"/>
                  </a:moveTo>
                  <a:lnTo>
                    <a:pt x="3114675" y="499872"/>
                  </a:lnTo>
                </a:path>
                <a:path w="3424554" h="812800">
                  <a:moveTo>
                    <a:pt x="2803779" y="812292"/>
                  </a:moveTo>
                  <a:lnTo>
                    <a:pt x="1559052" y="499872"/>
                  </a:lnTo>
                </a:path>
                <a:path w="3424554" h="812800">
                  <a:moveTo>
                    <a:pt x="2804032" y="812292"/>
                  </a:moveTo>
                  <a:lnTo>
                    <a:pt x="1869948" y="499872"/>
                  </a:lnTo>
                </a:path>
                <a:path w="3424554" h="812800">
                  <a:moveTo>
                    <a:pt x="2803779" y="812292"/>
                  </a:moveTo>
                  <a:lnTo>
                    <a:pt x="2180843" y="499872"/>
                  </a:lnTo>
                </a:path>
                <a:path w="3424554" h="812800">
                  <a:moveTo>
                    <a:pt x="2803905" y="812292"/>
                  </a:moveTo>
                  <a:lnTo>
                    <a:pt x="2491740" y="499872"/>
                  </a:lnTo>
                </a:path>
                <a:path w="3424554" h="812800">
                  <a:moveTo>
                    <a:pt x="2804160" y="812292"/>
                  </a:moveTo>
                  <a:lnTo>
                    <a:pt x="2804160" y="499872"/>
                  </a:lnTo>
                </a:path>
                <a:path w="3424554" h="812800">
                  <a:moveTo>
                    <a:pt x="2804160" y="812292"/>
                  </a:moveTo>
                  <a:lnTo>
                    <a:pt x="3114802" y="499872"/>
                  </a:lnTo>
                </a:path>
              </a:pathLst>
            </a:custGeom>
            <a:ln w="317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313680" y="3137789"/>
              <a:ext cx="125222" cy="140335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927092" y="2561844"/>
              <a:ext cx="470534" cy="654685"/>
            </a:xfrm>
            <a:custGeom>
              <a:avLst/>
              <a:gdLst/>
              <a:ahLst/>
              <a:cxnLst/>
              <a:rect l="l" t="t" r="r" b="b"/>
              <a:pathLst>
                <a:path w="470535" h="654685">
                  <a:moveTo>
                    <a:pt x="10413" y="0"/>
                  </a:moveTo>
                  <a:lnTo>
                    <a:pt x="0" y="7365"/>
                  </a:lnTo>
                  <a:lnTo>
                    <a:pt x="459613" y="653668"/>
                  </a:lnTo>
                  <a:lnTo>
                    <a:pt x="467741" y="654176"/>
                  </a:lnTo>
                  <a:lnTo>
                    <a:pt x="470027" y="646429"/>
                  </a:lnTo>
                  <a:lnTo>
                    <a:pt x="10413" y="0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378195" y="3149727"/>
              <a:ext cx="126491" cy="128015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439594" y="2565400"/>
              <a:ext cx="12700" cy="631190"/>
            </a:xfrm>
            <a:custGeom>
              <a:avLst/>
              <a:gdLst/>
              <a:ahLst/>
              <a:cxnLst/>
              <a:rect l="l" t="t" r="r" b="b"/>
              <a:pathLst>
                <a:path w="12700" h="631189">
                  <a:moveTo>
                    <a:pt x="0" y="631189"/>
                  </a:moveTo>
                  <a:lnTo>
                    <a:pt x="12577" y="631189"/>
                  </a:lnTo>
                  <a:lnTo>
                    <a:pt x="12577" y="0"/>
                  </a:lnTo>
                  <a:lnTo>
                    <a:pt x="0" y="0"/>
                  </a:lnTo>
                  <a:lnTo>
                    <a:pt x="0" y="631189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439156" y="3137662"/>
              <a:ext cx="124841" cy="14046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480685" y="2561844"/>
              <a:ext cx="464184" cy="654050"/>
            </a:xfrm>
            <a:custGeom>
              <a:avLst/>
              <a:gdLst/>
              <a:ahLst/>
              <a:cxnLst/>
              <a:rect l="l" t="t" r="r" b="b"/>
              <a:pathLst>
                <a:path w="464185" h="654050">
                  <a:moveTo>
                    <a:pt x="453643" y="0"/>
                  </a:moveTo>
                  <a:lnTo>
                    <a:pt x="0" y="646048"/>
                  </a:lnTo>
                  <a:lnTo>
                    <a:pt x="2159" y="653922"/>
                  </a:lnTo>
                  <a:lnTo>
                    <a:pt x="10413" y="653414"/>
                  </a:lnTo>
                  <a:lnTo>
                    <a:pt x="463930" y="7365"/>
                  </a:lnTo>
                  <a:lnTo>
                    <a:pt x="453643" y="0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439156" y="3610356"/>
              <a:ext cx="0" cy="250190"/>
            </a:xfrm>
            <a:custGeom>
              <a:avLst/>
              <a:gdLst/>
              <a:ahLst/>
              <a:cxnLst/>
              <a:rect l="l" t="t" r="r" b="b"/>
              <a:pathLst>
                <a:path h="250189">
                  <a:moveTo>
                    <a:pt x="0" y="0"/>
                  </a:moveTo>
                  <a:lnTo>
                    <a:pt x="0" y="249809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274563" y="3278124"/>
              <a:ext cx="327660" cy="332105"/>
            </a:xfrm>
            <a:custGeom>
              <a:avLst/>
              <a:gdLst/>
              <a:ahLst/>
              <a:cxnLst/>
              <a:rect l="l" t="t" r="r" b="b"/>
              <a:pathLst>
                <a:path w="327660" h="332104">
                  <a:moveTo>
                    <a:pt x="0" y="165862"/>
                  </a:moveTo>
                  <a:lnTo>
                    <a:pt x="5841" y="121792"/>
                  </a:lnTo>
                  <a:lnTo>
                    <a:pt x="22351" y="82168"/>
                  </a:lnTo>
                  <a:lnTo>
                    <a:pt x="48006" y="48640"/>
                  </a:lnTo>
                  <a:lnTo>
                    <a:pt x="81152" y="22605"/>
                  </a:lnTo>
                  <a:lnTo>
                    <a:pt x="120269" y="5968"/>
                  </a:lnTo>
                  <a:lnTo>
                    <a:pt x="163830" y="0"/>
                  </a:lnTo>
                  <a:lnTo>
                    <a:pt x="207390" y="5968"/>
                  </a:lnTo>
                  <a:lnTo>
                    <a:pt x="246507" y="22605"/>
                  </a:lnTo>
                  <a:lnTo>
                    <a:pt x="279653" y="48640"/>
                  </a:lnTo>
                  <a:lnTo>
                    <a:pt x="305308" y="82168"/>
                  </a:lnTo>
                  <a:lnTo>
                    <a:pt x="321818" y="121792"/>
                  </a:lnTo>
                  <a:lnTo>
                    <a:pt x="327660" y="165862"/>
                  </a:lnTo>
                  <a:lnTo>
                    <a:pt x="321818" y="209930"/>
                  </a:lnTo>
                  <a:lnTo>
                    <a:pt x="305308" y="249554"/>
                  </a:lnTo>
                  <a:lnTo>
                    <a:pt x="279653" y="283083"/>
                  </a:lnTo>
                  <a:lnTo>
                    <a:pt x="246507" y="309117"/>
                  </a:lnTo>
                  <a:lnTo>
                    <a:pt x="207390" y="325754"/>
                  </a:lnTo>
                  <a:lnTo>
                    <a:pt x="163830" y="331724"/>
                  </a:lnTo>
                  <a:lnTo>
                    <a:pt x="120269" y="325754"/>
                  </a:lnTo>
                  <a:lnTo>
                    <a:pt x="81152" y="309117"/>
                  </a:lnTo>
                  <a:lnTo>
                    <a:pt x="48006" y="283083"/>
                  </a:lnTo>
                  <a:lnTo>
                    <a:pt x="22351" y="249554"/>
                  </a:lnTo>
                  <a:lnTo>
                    <a:pt x="5841" y="209930"/>
                  </a:lnTo>
                  <a:lnTo>
                    <a:pt x="0" y="165862"/>
                  </a:lnTo>
                  <a:close/>
                </a:path>
              </a:pathLst>
            </a:custGeom>
            <a:ln w="914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636263" y="2676144"/>
              <a:ext cx="1656714" cy="1473835"/>
            </a:xfrm>
            <a:custGeom>
              <a:avLst/>
              <a:gdLst/>
              <a:ahLst/>
              <a:cxnLst/>
              <a:rect l="l" t="t" r="r" b="b"/>
              <a:pathLst>
                <a:path w="1656714" h="1473835">
                  <a:moveTo>
                    <a:pt x="0" y="1473707"/>
                  </a:moveTo>
                  <a:lnTo>
                    <a:pt x="47498" y="1449704"/>
                  </a:lnTo>
                  <a:lnTo>
                    <a:pt x="94996" y="1425701"/>
                  </a:lnTo>
                  <a:lnTo>
                    <a:pt x="142494" y="1401952"/>
                  </a:lnTo>
                  <a:lnTo>
                    <a:pt x="189991" y="1378203"/>
                  </a:lnTo>
                  <a:lnTo>
                    <a:pt x="237489" y="1354708"/>
                  </a:lnTo>
                  <a:lnTo>
                    <a:pt x="284988" y="1331340"/>
                  </a:lnTo>
                  <a:lnTo>
                    <a:pt x="332486" y="1307972"/>
                  </a:lnTo>
                  <a:lnTo>
                    <a:pt x="379857" y="1284985"/>
                  </a:lnTo>
                  <a:lnTo>
                    <a:pt x="427227" y="1261998"/>
                  </a:lnTo>
                  <a:lnTo>
                    <a:pt x="474599" y="1239265"/>
                  </a:lnTo>
                  <a:lnTo>
                    <a:pt x="521843" y="1216786"/>
                  </a:lnTo>
                  <a:lnTo>
                    <a:pt x="568960" y="1194434"/>
                  </a:lnTo>
                  <a:lnTo>
                    <a:pt x="616076" y="1172463"/>
                  </a:lnTo>
                  <a:lnTo>
                    <a:pt x="663066" y="1150619"/>
                  </a:lnTo>
                  <a:lnTo>
                    <a:pt x="709930" y="1129029"/>
                  </a:lnTo>
                  <a:lnTo>
                    <a:pt x="756793" y="1107693"/>
                  </a:lnTo>
                  <a:lnTo>
                    <a:pt x="803401" y="1086611"/>
                  </a:lnTo>
                  <a:lnTo>
                    <a:pt x="849884" y="1065783"/>
                  </a:lnTo>
                  <a:lnTo>
                    <a:pt x="896365" y="1045336"/>
                  </a:lnTo>
                  <a:lnTo>
                    <a:pt x="942594" y="1025143"/>
                  </a:lnTo>
                  <a:lnTo>
                    <a:pt x="988695" y="1005204"/>
                  </a:lnTo>
                  <a:lnTo>
                    <a:pt x="1034669" y="985646"/>
                  </a:lnTo>
                  <a:lnTo>
                    <a:pt x="1080515" y="966469"/>
                  </a:lnTo>
                  <a:lnTo>
                    <a:pt x="1126109" y="947673"/>
                  </a:lnTo>
                  <a:lnTo>
                    <a:pt x="1171448" y="929131"/>
                  </a:lnTo>
                  <a:lnTo>
                    <a:pt x="1216660" y="911097"/>
                  </a:lnTo>
                  <a:lnTo>
                    <a:pt x="1261745" y="893317"/>
                  </a:lnTo>
                  <a:lnTo>
                    <a:pt x="1306449" y="875918"/>
                  </a:lnTo>
                  <a:lnTo>
                    <a:pt x="1351026" y="859027"/>
                  </a:lnTo>
                  <a:lnTo>
                    <a:pt x="1395349" y="842517"/>
                  </a:lnTo>
                  <a:lnTo>
                    <a:pt x="1439545" y="826388"/>
                  </a:lnTo>
                  <a:lnTo>
                    <a:pt x="1483360" y="810767"/>
                  </a:lnTo>
                  <a:lnTo>
                    <a:pt x="1526921" y="795654"/>
                  </a:lnTo>
                  <a:lnTo>
                    <a:pt x="1570227" y="780922"/>
                  </a:lnTo>
                  <a:lnTo>
                    <a:pt x="1613281" y="766571"/>
                  </a:lnTo>
                  <a:lnTo>
                    <a:pt x="1656080" y="752855"/>
                  </a:lnTo>
                </a:path>
                <a:path w="1656714" h="1473835">
                  <a:moveTo>
                    <a:pt x="519684" y="885189"/>
                  </a:moveTo>
                  <a:lnTo>
                    <a:pt x="568833" y="873886"/>
                  </a:lnTo>
                  <a:lnTo>
                    <a:pt x="618109" y="862838"/>
                  </a:lnTo>
                  <a:lnTo>
                    <a:pt x="667512" y="852169"/>
                  </a:lnTo>
                  <a:lnTo>
                    <a:pt x="716914" y="841755"/>
                  </a:lnTo>
                  <a:lnTo>
                    <a:pt x="766445" y="831722"/>
                  </a:lnTo>
                  <a:lnTo>
                    <a:pt x="816101" y="822070"/>
                  </a:lnTo>
                  <a:lnTo>
                    <a:pt x="865759" y="812926"/>
                  </a:lnTo>
                  <a:lnTo>
                    <a:pt x="915415" y="804163"/>
                  </a:lnTo>
                  <a:lnTo>
                    <a:pt x="965073" y="796035"/>
                  </a:lnTo>
                  <a:lnTo>
                    <a:pt x="1014857" y="788288"/>
                  </a:lnTo>
                  <a:lnTo>
                    <a:pt x="1064514" y="781303"/>
                  </a:lnTo>
                  <a:lnTo>
                    <a:pt x="1114298" y="774700"/>
                  </a:lnTo>
                  <a:lnTo>
                    <a:pt x="1163955" y="768857"/>
                  </a:lnTo>
                  <a:lnTo>
                    <a:pt x="1213612" y="763651"/>
                  </a:lnTo>
                  <a:lnTo>
                    <a:pt x="1263141" y="759205"/>
                  </a:lnTo>
                  <a:lnTo>
                    <a:pt x="1312672" y="755395"/>
                  </a:lnTo>
                  <a:lnTo>
                    <a:pt x="1362202" y="752475"/>
                  </a:lnTo>
                  <a:lnTo>
                    <a:pt x="1411605" y="750188"/>
                  </a:lnTo>
                  <a:lnTo>
                    <a:pt x="1460753" y="748791"/>
                  </a:lnTo>
                  <a:lnTo>
                    <a:pt x="1509902" y="748283"/>
                  </a:lnTo>
                  <a:lnTo>
                    <a:pt x="1558925" y="748664"/>
                  </a:lnTo>
                  <a:lnTo>
                    <a:pt x="1607820" y="749934"/>
                  </a:lnTo>
                  <a:lnTo>
                    <a:pt x="1656588" y="752220"/>
                  </a:lnTo>
                </a:path>
                <a:path w="1656714" h="1473835">
                  <a:moveTo>
                    <a:pt x="1152144" y="0"/>
                  </a:moveTo>
                  <a:lnTo>
                    <a:pt x="1174623" y="35305"/>
                  </a:lnTo>
                  <a:lnTo>
                    <a:pt x="1197610" y="71119"/>
                  </a:lnTo>
                  <a:lnTo>
                    <a:pt x="1220977" y="107568"/>
                  </a:lnTo>
                  <a:lnTo>
                    <a:pt x="1244981" y="144525"/>
                  </a:lnTo>
                  <a:lnTo>
                    <a:pt x="1269491" y="182244"/>
                  </a:lnTo>
                  <a:lnTo>
                    <a:pt x="1294638" y="220725"/>
                  </a:lnTo>
                  <a:lnTo>
                    <a:pt x="1320419" y="259968"/>
                  </a:lnTo>
                  <a:lnTo>
                    <a:pt x="1346835" y="299973"/>
                  </a:lnTo>
                  <a:lnTo>
                    <a:pt x="1374013" y="340740"/>
                  </a:lnTo>
                  <a:lnTo>
                    <a:pt x="1401952" y="382523"/>
                  </a:lnTo>
                  <a:lnTo>
                    <a:pt x="1430527" y="425068"/>
                  </a:lnTo>
                  <a:lnTo>
                    <a:pt x="1460119" y="468756"/>
                  </a:lnTo>
                  <a:lnTo>
                    <a:pt x="1490472" y="513333"/>
                  </a:lnTo>
                  <a:lnTo>
                    <a:pt x="1521714" y="558926"/>
                  </a:lnTo>
                  <a:lnTo>
                    <a:pt x="1553972" y="605535"/>
                  </a:lnTo>
                  <a:lnTo>
                    <a:pt x="1587119" y="653414"/>
                  </a:lnTo>
                  <a:lnTo>
                    <a:pt x="1621282" y="702309"/>
                  </a:lnTo>
                  <a:lnTo>
                    <a:pt x="1656461" y="752475"/>
                  </a:lnTo>
                </a:path>
                <a:path w="1656714" h="1473835">
                  <a:moveTo>
                    <a:pt x="719327" y="432815"/>
                  </a:moveTo>
                  <a:lnTo>
                    <a:pt x="763397" y="441959"/>
                  </a:lnTo>
                  <a:lnTo>
                    <a:pt x="807593" y="451611"/>
                  </a:lnTo>
                  <a:lnTo>
                    <a:pt x="852170" y="461771"/>
                  </a:lnTo>
                  <a:lnTo>
                    <a:pt x="897127" y="472439"/>
                  </a:lnTo>
                  <a:lnTo>
                    <a:pt x="942213" y="483615"/>
                  </a:lnTo>
                  <a:lnTo>
                    <a:pt x="987678" y="495553"/>
                  </a:lnTo>
                  <a:lnTo>
                    <a:pt x="1033399" y="508126"/>
                  </a:lnTo>
                  <a:lnTo>
                    <a:pt x="1079500" y="521334"/>
                  </a:lnTo>
                  <a:lnTo>
                    <a:pt x="1125855" y="535431"/>
                  </a:lnTo>
                  <a:lnTo>
                    <a:pt x="1172464" y="550290"/>
                  </a:lnTo>
                  <a:lnTo>
                    <a:pt x="1219453" y="565911"/>
                  </a:lnTo>
                  <a:lnTo>
                    <a:pt x="1266698" y="582548"/>
                  </a:lnTo>
                  <a:lnTo>
                    <a:pt x="1314196" y="600075"/>
                  </a:lnTo>
                  <a:lnTo>
                    <a:pt x="1362075" y="618616"/>
                  </a:lnTo>
                  <a:lnTo>
                    <a:pt x="1410335" y="638175"/>
                  </a:lnTo>
                  <a:lnTo>
                    <a:pt x="1458849" y="658748"/>
                  </a:lnTo>
                  <a:lnTo>
                    <a:pt x="1507616" y="680465"/>
                  </a:lnTo>
                  <a:lnTo>
                    <a:pt x="1556765" y="703452"/>
                  </a:lnTo>
                  <a:lnTo>
                    <a:pt x="1606296" y="727455"/>
                  </a:lnTo>
                  <a:lnTo>
                    <a:pt x="1656080" y="752855"/>
                  </a:lnTo>
                </a:path>
              </a:pathLst>
            </a:custGeom>
            <a:ln w="9144">
              <a:solidFill>
                <a:srgbClr val="D644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596127" y="1985264"/>
              <a:ext cx="744855" cy="1462405"/>
            </a:xfrm>
            <a:custGeom>
              <a:avLst/>
              <a:gdLst/>
              <a:ahLst/>
              <a:cxnLst/>
              <a:rect l="l" t="t" r="r" b="b"/>
              <a:pathLst>
                <a:path w="744854" h="1462404">
                  <a:moveTo>
                    <a:pt x="741045" y="0"/>
                  </a:moveTo>
                  <a:lnTo>
                    <a:pt x="733171" y="1650"/>
                  </a:lnTo>
                  <a:lnTo>
                    <a:pt x="0" y="1456309"/>
                  </a:lnTo>
                  <a:lnTo>
                    <a:pt x="11430" y="1462024"/>
                  </a:lnTo>
                  <a:lnTo>
                    <a:pt x="744474" y="7365"/>
                  </a:lnTo>
                  <a:lnTo>
                    <a:pt x="74104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257670" y="1917192"/>
              <a:ext cx="113791" cy="141986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163437" y="3487420"/>
              <a:ext cx="136651" cy="124205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600700" y="3438143"/>
              <a:ext cx="625475" cy="126364"/>
            </a:xfrm>
            <a:custGeom>
              <a:avLst/>
              <a:gdLst/>
              <a:ahLst/>
              <a:cxnLst/>
              <a:rect l="l" t="t" r="r" b="b"/>
              <a:pathLst>
                <a:path w="625475" h="126364">
                  <a:moveTo>
                    <a:pt x="625475" y="114312"/>
                  </a:moveTo>
                  <a:lnTo>
                    <a:pt x="620522" y="113411"/>
                  </a:lnTo>
                  <a:lnTo>
                    <a:pt x="2286" y="0"/>
                  </a:lnTo>
                  <a:lnTo>
                    <a:pt x="0" y="12319"/>
                  </a:lnTo>
                  <a:lnTo>
                    <a:pt x="618236" y="125857"/>
                  </a:lnTo>
                  <a:lnTo>
                    <a:pt x="624332" y="120523"/>
                  </a:lnTo>
                  <a:lnTo>
                    <a:pt x="625475" y="114312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194806" y="5159248"/>
              <a:ext cx="118999" cy="141223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596128" y="3441191"/>
              <a:ext cx="681990" cy="1788160"/>
            </a:xfrm>
            <a:custGeom>
              <a:avLst/>
              <a:gdLst/>
              <a:ahLst/>
              <a:cxnLst/>
              <a:rect l="l" t="t" r="r" b="b"/>
              <a:pathLst>
                <a:path w="681989" h="1788160">
                  <a:moveTo>
                    <a:pt x="681990" y="1785620"/>
                  </a:moveTo>
                  <a:lnTo>
                    <a:pt x="680212" y="1780921"/>
                  </a:lnTo>
                  <a:lnTo>
                    <a:pt x="11938" y="0"/>
                  </a:lnTo>
                  <a:lnTo>
                    <a:pt x="0" y="4572"/>
                  </a:lnTo>
                  <a:lnTo>
                    <a:pt x="668274" y="1785366"/>
                  </a:lnTo>
                  <a:lnTo>
                    <a:pt x="675894" y="1787918"/>
                  </a:lnTo>
                  <a:lnTo>
                    <a:pt x="676148" y="1787779"/>
                  </a:lnTo>
                  <a:lnTo>
                    <a:pt x="681990" y="178562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/>
          <p:nvPr/>
        </p:nvSpPr>
        <p:spPr>
          <a:xfrm>
            <a:off x="6521195" y="922019"/>
            <a:ext cx="2415540" cy="164287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611111" y="4608576"/>
            <a:ext cx="2363724" cy="1667256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443471" y="2747772"/>
            <a:ext cx="2479548" cy="1688591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8176006" y="1800860"/>
            <a:ext cx="6381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D64437"/>
                </a:solidFill>
                <a:latin typeface="Arial"/>
                <a:cs typeface="Arial"/>
              </a:rPr>
              <a:t>sig</a:t>
            </a:r>
            <a:r>
              <a:rPr sz="1400" spc="-20" dirty="0">
                <a:solidFill>
                  <a:srgbClr val="D64437"/>
                </a:solidFill>
                <a:latin typeface="Arial"/>
                <a:cs typeface="Arial"/>
              </a:rPr>
              <a:t>m</a:t>
            </a:r>
            <a:r>
              <a:rPr sz="1400" spc="-5" dirty="0">
                <a:solidFill>
                  <a:srgbClr val="D64437"/>
                </a:solidFill>
                <a:latin typeface="Arial"/>
                <a:cs typeface="Arial"/>
              </a:rPr>
              <a:t>oid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8442706" y="3817061"/>
            <a:ext cx="374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D64437"/>
                </a:solidFill>
                <a:latin typeface="Arial"/>
                <a:cs typeface="Arial"/>
              </a:rPr>
              <a:t>tanh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8492997" y="5762650"/>
            <a:ext cx="3232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D64437"/>
                </a:solidFill>
                <a:latin typeface="Arial"/>
                <a:cs typeface="Arial"/>
              </a:rPr>
              <a:t>relu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84149" y="2445511"/>
            <a:ext cx="363855" cy="1259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C00000"/>
                </a:solidFill>
                <a:latin typeface="Arial"/>
                <a:cs typeface="Arial"/>
              </a:rPr>
              <a:t>200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C00000"/>
                </a:solidFill>
                <a:latin typeface="Arial"/>
                <a:cs typeface="Arial"/>
              </a:rPr>
              <a:t>100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</a:pPr>
            <a:r>
              <a:rPr sz="1600" spc="-5" dirty="0">
                <a:solidFill>
                  <a:srgbClr val="C00000"/>
                </a:solidFill>
                <a:latin typeface="Arial"/>
                <a:cs typeface="Arial"/>
              </a:rPr>
              <a:t>60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496925" y="3909186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C00000"/>
                </a:solidFill>
                <a:latin typeface="Arial"/>
                <a:cs typeface="Arial"/>
              </a:rPr>
              <a:t>30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496925" y="4397121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C00000"/>
                </a:solidFill>
                <a:latin typeface="Arial"/>
                <a:cs typeface="Arial"/>
              </a:rPr>
              <a:t>10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4372102" y="4551426"/>
            <a:ext cx="7359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D64437"/>
                </a:solidFill>
                <a:latin typeface="Arial"/>
                <a:cs typeface="Arial"/>
              </a:rPr>
              <a:t>softmax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475992" y="4767834"/>
            <a:ext cx="1101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5910" algn="l"/>
                <a:tab pos="579120" algn="l"/>
              </a:tabLst>
            </a:pP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0	1	2 ...</a:t>
            </a:r>
            <a:r>
              <a:rPr sz="1600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9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3276600" y="4581144"/>
            <a:ext cx="1002665" cy="109855"/>
          </a:xfrm>
          <a:custGeom>
            <a:avLst/>
            <a:gdLst/>
            <a:ahLst/>
            <a:cxnLst/>
            <a:rect l="l" t="t" r="r" b="b"/>
            <a:pathLst>
              <a:path w="1002664" h="109854">
                <a:moveTo>
                  <a:pt x="0" y="0"/>
                </a:moveTo>
                <a:lnTo>
                  <a:pt x="51942" y="634"/>
                </a:lnTo>
                <a:lnTo>
                  <a:pt x="103886" y="1650"/>
                </a:lnTo>
                <a:lnTo>
                  <a:pt x="155701" y="2920"/>
                </a:lnTo>
                <a:lnTo>
                  <a:pt x="207517" y="4571"/>
                </a:lnTo>
                <a:lnTo>
                  <a:pt x="259334" y="6603"/>
                </a:lnTo>
                <a:lnTo>
                  <a:pt x="310896" y="9143"/>
                </a:lnTo>
                <a:lnTo>
                  <a:pt x="362330" y="12191"/>
                </a:lnTo>
                <a:lnTo>
                  <a:pt x="413638" y="15620"/>
                </a:lnTo>
                <a:lnTo>
                  <a:pt x="464692" y="19684"/>
                </a:lnTo>
                <a:lnTo>
                  <a:pt x="515492" y="24383"/>
                </a:lnTo>
                <a:lnTo>
                  <a:pt x="566038" y="29590"/>
                </a:lnTo>
                <a:lnTo>
                  <a:pt x="616203" y="35432"/>
                </a:lnTo>
                <a:lnTo>
                  <a:pt x="665988" y="42036"/>
                </a:lnTo>
                <a:lnTo>
                  <a:pt x="715517" y="49275"/>
                </a:lnTo>
                <a:lnTo>
                  <a:pt x="764539" y="57276"/>
                </a:lnTo>
                <a:lnTo>
                  <a:pt x="813180" y="66039"/>
                </a:lnTo>
                <a:lnTo>
                  <a:pt x="861187" y="75691"/>
                </a:lnTo>
                <a:lnTo>
                  <a:pt x="908812" y="86105"/>
                </a:lnTo>
                <a:lnTo>
                  <a:pt x="955928" y="97535"/>
                </a:lnTo>
                <a:lnTo>
                  <a:pt x="1002411" y="109727"/>
                </a:lnTo>
              </a:path>
            </a:pathLst>
          </a:custGeom>
          <a:ln w="9144">
            <a:solidFill>
              <a:srgbClr val="D644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383794"/>
            <a:ext cx="8229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C000"/>
                </a:solidFill>
              </a:rPr>
              <a:t>Why Fully Connected Layers Are Limited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998" y="1146175"/>
            <a:ext cx="7961630" cy="23185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04495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500" b="1" dirty="0">
                <a:latin typeface="Arial"/>
                <a:cs typeface="Arial"/>
              </a:rPr>
              <a:t>Such a network architecture does not take into account the spatial structure of the images.</a:t>
            </a:r>
            <a:endParaRPr sz="1800" dirty="0">
              <a:latin typeface="Arial"/>
              <a:cs typeface="Arial"/>
            </a:endParaRPr>
          </a:p>
          <a:p>
            <a:pPr marL="355600" marR="404495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endParaRPr sz="1800" dirty="0">
              <a:latin typeface="Arial"/>
              <a:cs typeface="Arial"/>
            </a:endParaRPr>
          </a:p>
          <a:p>
            <a:pPr marL="355600" marR="404495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500" b="1" dirty="0">
                <a:latin typeface="Arial"/>
                <a:cs typeface="Arial"/>
              </a:rPr>
              <a:t>- It treats input pixels that are far apart and close together as equally related.</a:t>
            </a:r>
            <a:endParaRPr sz="1800" dirty="0">
              <a:latin typeface="Arial"/>
              <a:cs typeface="Arial"/>
            </a:endParaRPr>
          </a:p>
          <a:p>
            <a:pPr marL="355600" marR="404495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500" b="1" dirty="0">
                <a:latin typeface="Arial"/>
                <a:cs typeface="Arial"/>
              </a:rPr>
              <a:t>- Spatial structure has to be inferred only from the training data.</a:t>
            </a:r>
            <a:endParaRPr sz="1800" dirty="0">
              <a:latin typeface="Arial"/>
              <a:cs typeface="Arial"/>
            </a:endParaRPr>
          </a:p>
          <a:p>
            <a:pPr marL="355600" marR="404495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endParaRPr sz="1800" dirty="0">
              <a:latin typeface="Arial"/>
              <a:cs typeface="Arial"/>
            </a:endParaRPr>
          </a:p>
          <a:p>
            <a:pPr marL="355600" marR="404495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500" b="1" dirty="0">
                <a:latin typeface="Arial"/>
                <a:cs typeface="Arial"/>
              </a:rPr>
              <a:t>Is there an architecture that directly uses local spatial structure?</a:t>
            </a:r>
            <a:endParaRPr lang="en-US" sz="1500" b="1" dirty="0">
              <a:latin typeface="Arial"/>
              <a:cs typeface="Arial"/>
            </a:endParaRPr>
          </a:p>
          <a:p>
            <a:pPr marL="355600" marR="404495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endParaRPr lang="en-US" sz="1800" dirty="0">
              <a:latin typeface="Arial"/>
              <a:cs typeface="Arial"/>
            </a:endParaRPr>
          </a:p>
          <a:p>
            <a:pPr marL="355600" marR="404495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1500" b="1" dirty="0">
                <a:latin typeface="Arial"/>
                <a:cs typeface="Arial"/>
              </a:rPr>
              <a:t>Convolutional Neural Networks</a:t>
            </a:r>
            <a:endParaRPr lang="en-US"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Words>1554</Words>
  <Application>Microsoft Office PowerPoint</Application>
  <PresentationFormat>On-screen Show (4:3)</PresentationFormat>
  <Paragraphs>367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Symbol</vt:lpstr>
      <vt:lpstr>Times New Roman</vt:lpstr>
      <vt:lpstr>Trebuchet MS</vt:lpstr>
      <vt:lpstr>Wingdings</vt:lpstr>
      <vt:lpstr>Office Theme</vt:lpstr>
      <vt:lpstr>Hello World of Deep Learning:  Recognition of MNIST</vt:lpstr>
      <vt:lpstr>Introducing the MNIST problem</vt:lpstr>
      <vt:lpstr>Example Problem - MNIST</vt:lpstr>
      <vt:lpstr>Steps for MNIST</vt:lpstr>
      <vt:lpstr>The MNIST Data</vt:lpstr>
      <vt:lpstr>One Layer NN for MNIST Recognition</vt:lpstr>
      <vt:lpstr>Result of the Flatten Operation</vt:lpstr>
      <vt:lpstr>One-hot Vector</vt:lpstr>
      <vt:lpstr>Softmax Regressions</vt:lpstr>
      <vt:lpstr>2 steps in softmax regression - Step 1</vt:lpstr>
      <vt:lpstr>Matrix Representation of softmax layer</vt:lpstr>
      <vt:lpstr>PowerPoint Presentation</vt:lpstr>
      <vt:lpstr>PowerPoint Presentation</vt:lpstr>
      <vt:lpstr>Softmax on one image</vt:lpstr>
      <vt:lpstr>The Cross-Entropy Cost Function</vt:lpstr>
      <vt:lpstr>Short Summary</vt:lpstr>
      <vt:lpstr>Implementation in PyTorch</vt:lpstr>
      <vt:lpstr>Few Words about PyTorch</vt:lpstr>
      <vt:lpstr>Introducing PyTorch</vt:lpstr>
      <vt:lpstr>Typical Code Structure</vt:lpstr>
      <vt:lpstr>Software Environment</vt:lpstr>
      <vt:lpstr>Review The PyTorch Predictions</vt:lpstr>
      <vt:lpstr>Adding More Layers?</vt:lpstr>
      <vt:lpstr>Why Fully Connected Layers Are Limited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HPC User Environment 2</dc:title>
  <dc:creator>Feng Chen</dc:creator>
  <cp:lastModifiedBy>Qingguang Guan</cp:lastModifiedBy>
  <cp:revision>1</cp:revision>
  <cp:lastPrinted>2023-10-06T19:50:49Z</cp:lastPrinted>
  <dcterms:created xsi:type="dcterms:W3CDTF">2023-10-06T18:03:52Z</dcterms:created>
  <dcterms:modified xsi:type="dcterms:W3CDTF">2026-06-01T16:35:44Z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2018-08-28T00:00:00Z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2023-10-06T00:00:00Z</vt:filetime>
  </property>
</Properties>
</file>